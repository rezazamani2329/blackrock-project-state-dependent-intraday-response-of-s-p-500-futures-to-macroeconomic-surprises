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3262"/>
                </a:solidFill>
                <a:latin typeface="Arial"/>
              </a:defRPr>
            </a:pPr>
            <a:r>
              <a:rPr sz="1300" b="0" i="0" u="none" strike="noStrike">
                <a:solidFill>
                  <a:srgbClr val="003262"/>
                </a:solidFill>
                <a:latin typeface="Arial"/>
              </a:rPr>
              <a:t>5-min reaction per 1-SD hot headline CPI (bps)</a:t>
            </a:r>
          </a:p>
        </c:rich>
      </c:tx>
      <c:layout/>
      <c:overlay val="0"/>
    </c:title>
    <c:autoTitleDeleted val="0"/>
    <c:plotArea>
      <c:layout/>
      <c:barChart>
        <c:barDir val="col"/>
        <c:grouping val="clustered"/>
        <c:varyColors val="0"/>
        <c:ser>
          <c:idx val="0"/>
          <c:order val="0"/>
          <c:tx>
            <c:strRef>
              <c:f>Sheet1!$B$1</c:f>
              <c:strCache>
                <c:ptCount val="1"/>
                <c:pt idx="0">
                  <c:v>CPI</c:v>
                </c:pt>
              </c:strCache>
            </c:strRef>
          </c:tx>
          <c:spPr>
            <a:solidFill>
              <a:srgbClr val="003262"/>
            </a:solidFill>
            <a:effectLst/>
          </c:spPr>
          <c:invertIfNegative val="0"/>
          <c:dLbls>
            <c:numFmt formatCode="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Sheet1!$A$2:$A$5</c:f>
              <c:strCache>
                <c:ptCount val="4"/>
                <c:pt idx="0">
                  <c:v>ES</c:v>
                </c:pt>
                <c:pt idx="1">
                  <c:v>NQ</c:v>
                </c:pt>
                <c:pt idx="2">
                  <c:v>YM</c:v>
                </c:pt>
                <c:pt idx="3">
                  <c:v>ZN</c:v>
                </c:pt>
              </c:strCache>
            </c:strRef>
          </c:cat>
          <c:val>
            <c:numRef>
              <c:f>Sheet1!$B$2:$B$5</c:f>
              <c:numCache>
                <c:formatCode>General</c:formatCode>
                <c:ptCount val="4"/>
                <c:pt idx="0">
                  <c:v>-20.8</c:v>
                </c:pt>
                <c:pt idx="1">
                  <c:v>-27.7</c:v>
                </c:pt>
                <c:pt idx="2">
                  <c:v>-19.2</c:v>
                </c:pt>
                <c:pt idx="3">
                  <c:v>-9.9</c:v>
                </c:pt>
              </c:numCache>
            </c:numRef>
          </c:val>
        </c:ser>
        <c:dLbls>
          <c:numFmt formatCode="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5-min reaction (includes the jump)</c:v>
                </c:pt>
              </c:strCache>
            </c:strRef>
          </c:tx>
          <c:spPr>
            <a:solidFill>
              <a:srgbClr val="9CB3CF"/>
            </a:solidFill>
            <a:effectLst/>
          </c:spPr>
          <c:invertIfNegative val="0"/>
          <c:dLbls>
            <c:numFmt formatCode="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Sheet1!$A$2:$A$5</c:f>
              <c:strCache>
                <c:ptCount val="4"/>
                <c:pt idx="0">
                  <c:v>ES</c:v>
                </c:pt>
                <c:pt idx="1">
                  <c:v>NQ</c:v>
                </c:pt>
                <c:pt idx="2">
                  <c:v>YM</c:v>
                </c:pt>
                <c:pt idx="3">
                  <c:v>ZN</c:v>
                </c:pt>
              </c:strCache>
            </c:strRef>
          </c:cat>
          <c:val>
            <c:numRef>
              <c:f>Sheet1!$B$2:$B$5</c:f>
              <c:numCache>
                <c:formatCode>General</c:formatCode>
                <c:ptCount val="4"/>
                <c:pt idx="0">
                  <c:v>26.7</c:v>
                </c:pt>
                <c:pt idx="1">
                  <c:v>36.9</c:v>
                </c:pt>
                <c:pt idx="2">
                  <c:v>22.2</c:v>
                </c:pt>
                <c:pt idx="3">
                  <c:v>14.2</c:v>
                </c:pt>
              </c:numCache>
            </c:numRef>
          </c:val>
        </c:ser>
        <c:ser>
          <c:idx val="1"/>
          <c:order val="1"/>
          <c:tx>
            <c:strRef>
              <c:f>Sheet1!$C$1</c:f>
              <c:strCache>
                <c:ptCount val="1"/>
                <c:pt idx="0">
                  <c:v>30-min drift after T+1 (tradeable)</c:v>
                </c:pt>
              </c:strCache>
            </c:strRef>
          </c:tx>
          <c:spPr>
            <a:solidFill>
              <a:srgbClr val="FDB515"/>
            </a:solidFill>
            <a:effectLst/>
          </c:spPr>
          <c:invertIfNegative val="0"/>
          <c:dLbls>
            <c:numFmt formatCode="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Sheet1!$A$2:$A$5</c:f>
              <c:strCache>
                <c:ptCount val="4"/>
                <c:pt idx="0">
                  <c:v>ES</c:v>
                </c:pt>
                <c:pt idx="1">
                  <c:v>NQ</c:v>
                </c:pt>
                <c:pt idx="2">
                  <c:v>YM</c:v>
                </c:pt>
                <c:pt idx="3">
                  <c:v>ZN</c:v>
                </c:pt>
              </c:strCache>
            </c:strRef>
          </c:cat>
          <c:val>
            <c:numRef>
              <c:f>Sheet1!$C$2:$C$5</c:f>
              <c:numCache>
                <c:formatCode>General</c:formatCode>
                <c:ptCount val="4"/>
                <c:pt idx="0">
                  <c:v>5.9</c:v>
                </c:pt>
                <c:pt idx="1">
                  <c:v>8.5</c:v>
                </c:pt>
                <c:pt idx="2">
                  <c:v>4.4</c:v>
                </c:pt>
                <c:pt idx="3">
                  <c:v>0.8</c:v>
                </c:pt>
              </c:numCache>
            </c:numRef>
          </c:val>
        </c:ser>
        <c:dLbls>
          <c:numFmt formatCode="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ES</c:v>
                </c:pt>
              </c:strCache>
            </c:strRef>
          </c:tx>
          <c:spPr>
            <a:solidFill>
              <a:srgbClr val="1F4E79"/>
            </a:solidFill>
            <a:effectLst/>
          </c:spPr>
          <c:invertIfNegative val="0"/>
          <c:dLbls>
            <c:numFmt formatCode="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Sheet1!$A$2:$A$4</c:f>
              <c:strCache>
                <c:ptCount val="3"/>
                <c:pt idx="0">
                  <c:v>Low vol</c:v>
                </c:pt>
                <c:pt idx="1">
                  <c:v>Mid vol</c:v>
                </c:pt>
                <c:pt idx="2">
                  <c:v>High vol</c:v>
                </c:pt>
              </c:strCache>
            </c:strRef>
          </c:cat>
          <c:val>
            <c:numRef>
              <c:f>Sheet1!$B$2:$B$4</c:f>
              <c:numCache>
                <c:formatCode>General</c:formatCode>
                <c:ptCount val="3"/>
                <c:pt idx="0">
                  <c:v>10.6</c:v>
                </c:pt>
                <c:pt idx="1">
                  <c:v>67.6</c:v>
                </c:pt>
                <c:pt idx="2">
                  <c:v>50.2</c:v>
                </c:pt>
              </c:numCache>
            </c:numRef>
          </c:val>
        </c:ser>
        <c:ser>
          <c:idx val="1"/>
          <c:order val="1"/>
          <c:tx>
            <c:strRef>
              <c:f>Sheet1!$C$1</c:f>
              <c:strCache>
                <c:ptCount val="1"/>
                <c:pt idx="0">
                  <c:v>NQ</c:v>
                </c:pt>
              </c:strCache>
            </c:strRef>
          </c:tx>
          <c:spPr>
            <a:solidFill>
              <a:srgbClr val="7A3E9D"/>
            </a:solidFill>
            <a:effectLst/>
          </c:spPr>
          <c:invertIfNegative val="0"/>
          <c:dLbls>
            <c:numFmt formatCode="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Sheet1!$A$2:$A$4</c:f>
              <c:strCache>
                <c:ptCount val="3"/>
                <c:pt idx="0">
                  <c:v>Low vol</c:v>
                </c:pt>
                <c:pt idx="1">
                  <c:v>Mid vol</c:v>
                </c:pt>
                <c:pt idx="2">
                  <c:v>High vol</c:v>
                </c:pt>
              </c:strCache>
            </c:strRef>
          </c:cat>
          <c:val>
            <c:numRef>
              <c:f>Sheet1!$C$2:$C$4</c:f>
              <c:numCache>
                <c:formatCode>General</c:formatCode>
                <c:ptCount val="3"/>
                <c:pt idx="0">
                  <c:v>18.0</c:v>
                </c:pt>
                <c:pt idx="1">
                  <c:v>70.0</c:v>
                </c:pt>
                <c:pt idx="2">
                  <c:v>58.0</c:v>
                </c:pt>
              </c:numCache>
            </c:numRef>
          </c:val>
        </c:ser>
        <c:ser>
          <c:idx val="2"/>
          <c:order val="2"/>
          <c:tx>
            <c:strRef>
              <c:f>Sheet1!$D$1</c:f>
              <c:strCache>
                <c:ptCount val="1"/>
                <c:pt idx="0">
                  <c:v>YM</c:v>
                </c:pt>
              </c:strCache>
            </c:strRef>
          </c:tx>
          <c:spPr>
            <a:solidFill>
              <a:srgbClr val="B5651D"/>
            </a:solidFill>
            <a:effectLst/>
          </c:spPr>
          <c:invertIfNegative val="0"/>
          <c:dLbls>
            <c:numFmt formatCode="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Sheet1!$A$2:$A$4</c:f>
              <c:strCache>
                <c:ptCount val="3"/>
                <c:pt idx="0">
                  <c:v>Low vol</c:v>
                </c:pt>
                <c:pt idx="1">
                  <c:v>Mid vol</c:v>
                </c:pt>
                <c:pt idx="2">
                  <c:v>High vol</c:v>
                </c:pt>
              </c:strCache>
            </c:strRef>
          </c:cat>
          <c:val>
            <c:numRef>
              <c:f>Sheet1!$D$2:$D$4</c:f>
              <c:numCache>
                <c:formatCode>General</c:formatCode>
                <c:ptCount val="3"/>
                <c:pt idx="0">
                  <c:v>7.6</c:v>
                </c:pt>
                <c:pt idx="1">
                  <c:v>42.8</c:v>
                </c:pt>
                <c:pt idx="2">
                  <c:v>51.8</c:v>
                </c:pt>
              </c:numCache>
            </c:numRef>
          </c:val>
        </c:ser>
        <c:ser>
          <c:idx val="3"/>
          <c:order val="3"/>
          <c:tx>
            <c:strRef>
              <c:f>Sheet1!$E$1</c:f>
              <c:strCache>
                <c:ptCount val="1"/>
                <c:pt idx="0">
                  <c:v>ZN</c:v>
                </c:pt>
              </c:strCache>
            </c:strRef>
          </c:tx>
          <c:spPr>
            <a:solidFill>
              <a:srgbClr val="2E7D32"/>
            </a:solidFill>
            <a:effectLst/>
          </c:spPr>
          <c:invertIfNegative val="0"/>
          <c:dLbls>
            <c:numFmt formatCode="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Sheet1!$A$2:$A$4</c:f>
              <c:strCache>
                <c:ptCount val="3"/>
                <c:pt idx="0">
                  <c:v>Low vol</c:v>
                </c:pt>
                <c:pt idx="1">
                  <c:v>Mid vol</c:v>
                </c:pt>
                <c:pt idx="2">
                  <c:v>High vol</c:v>
                </c:pt>
              </c:strCache>
            </c:strRef>
          </c:cat>
          <c:val>
            <c:numRef>
              <c:f>Sheet1!$E$2:$E$4</c:f>
              <c:numCache>
                <c:formatCode>General</c:formatCode>
                <c:ptCount val="3"/>
                <c:pt idx="0">
                  <c:v>15.0</c:v>
                </c:pt>
                <c:pt idx="1">
                  <c:v>12.0</c:v>
                </c:pt>
                <c:pt idx="2">
                  <c:v>19.0</c:v>
                </c:pt>
              </c:numCache>
            </c:numRef>
          </c:val>
        </c:ser>
        <c:dLbls>
          <c:numFmt formatCode="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ES</c:v>
                </c:pt>
              </c:strCache>
            </c:strRef>
          </c:tx>
          <c:spPr>
            <a:solidFill>
              <a:srgbClr val="1F4E79"/>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Sheet1!$A$2:$A$6</c:f>
              <c:strCache>
                <c:ptCount val="5"/>
                <c:pt idx="0">
                  <c:v>Naive sign</c:v>
                </c:pt>
                <c:pt idx="1">
                  <c:v>Surprise only</c:v>
                </c:pt>
                <c:pt idx="2">
                  <c:v>Surprise + State</c:v>
                </c:pt>
                <c:pt idx="3">
                  <c:v>State filter</c:v>
                </c:pt>
                <c:pt idx="4">
                  <c:v>Adaptive state</c:v>
                </c:pt>
              </c:strCache>
            </c:strRef>
          </c:cat>
          <c:val>
            <c:numRef>
              <c:f>Sheet1!$B$2:$B$6</c:f>
              <c:numCache>
                <c:formatCode>General</c:formatCode>
                <c:ptCount val="5"/>
                <c:pt idx="0">
                  <c:v>1.03</c:v>
                </c:pt>
                <c:pt idx="1">
                  <c:v>0.99</c:v>
                </c:pt>
                <c:pt idx="2">
                  <c:v>0.77</c:v>
                </c:pt>
                <c:pt idx="3">
                  <c:v>1.07</c:v>
                </c:pt>
                <c:pt idx="4">
                  <c:v>0.95</c:v>
                </c:pt>
              </c:numCache>
            </c:numRef>
          </c:val>
        </c:ser>
        <c:ser>
          <c:idx val="1"/>
          <c:order val="1"/>
          <c:tx>
            <c:strRef>
              <c:f>Sheet1!$C$1</c:f>
              <c:strCache>
                <c:ptCount val="1"/>
                <c:pt idx="0">
                  <c:v>NQ</c:v>
                </c:pt>
              </c:strCache>
            </c:strRef>
          </c:tx>
          <c:spPr>
            <a:solidFill>
              <a:srgbClr val="7A3E9D"/>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Sheet1!$A$2:$A$6</c:f>
              <c:strCache>
                <c:ptCount val="5"/>
                <c:pt idx="0">
                  <c:v>Naive sign</c:v>
                </c:pt>
                <c:pt idx="1">
                  <c:v>Surprise only</c:v>
                </c:pt>
                <c:pt idx="2">
                  <c:v>Surprise + State</c:v>
                </c:pt>
                <c:pt idx="3">
                  <c:v>State filter</c:v>
                </c:pt>
                <c:pt idx="4">
                  <c:v>Adaptive state</c:v>
                </c:pt>
              </c:strCache>
            </c:strRef>
          </c:cat>
          <c:val>
            <c:numRef>
              <c:f>Sheet1!$C$2:$C$6</c:f>
              <c:numCache>
                <c:formatCode>General</c:formatCode>
                <c:ptCount val="5"/>
                <c:pt idx="0">
                  <c:v>1.0</c:v>
                </c:pt>
                <c:pt idx="1">
                  <c:v>0.79</c:v>
                </c:pt>
                <c:pt idx="2">
                  <c:v>0.75</c:v>
                </c:pt>
                <c:pt idx="3">
                  <c:v>0.82</c:v>
                </c:pt>
                <c:pt idx="4">
                  <c:v>0.75</c:v>
                </c:pt>
              </c:numCache>
            </c:numRef>
          </c:val>
        </c:ser>
        <c:ser>
          <c:idx val="2"/>
          <c:order val="2"/>
          <c:tx>
            <c:strRef>
              <c:f>Sheet1!$D$1</c:f>
              <c:strCache>
                <c:ptCount val="1"/>
                <c:pt idx="0">
                  <c:v>YM</c:v>
                </c:pt>
              </c:strCache>
            </c:strRef>
          </c:tx>
          <c:spPr>
            <a:solidFill>
              <a:srgbClr val="B5651D"/>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Sheet1!$A$2:$A$6</c:f>
              <c:strCache>
                <c:ptCount val="5"/>
                <c:pt idx="0">
                  <c:v>Naive sign</c:v>
                </c:pt>
                <c:pt idx="1">
                  <c:v>Surprise only</c:v>
                </c:pt>
                <c:pt idx="2">
                  <c:v>Surprise + State</c:v>
                </c:pt>
                <c:pt idx="3">
                  <c:v>State filter</c:v>
                </c:pt>
                <c:pt idx="4">
                  <c:v>Adaptive state</c:v>
                </c:pt>
              </c:strCache>
            </c:strRef>
          </c:cat>
          <c:val>
            <c:numRef>
              <c:f>Sheet1!$D$2:$D$6</c:f>
              <c:numCache>
                <c:formatCode>General</c:formatCode>
                <c:ptCount val="5"/>
                <c:pt idx="0">
                  <c:v>0.99</c:v>
                </c:pt>
                <c:pt idx="1">
                  <c:v>0.84</c:v>
                </c:pt>
                <c:pt idx="2">
                  <c:v>0.83</c:v>
                </c:pt>
                <c:pt idx="3">
                  <c:v>0.98</c:v>
                </c:pt>
                <c:pt idx="4">
                  <c:v>0.74</c:v>
                </c:pt>
              </c:numCache>
            </c:numRef>
          </c:val>
        </c:ser>
        <c:ser>
          <c:idx val="3"/>
          <c:order val="3"/>
          <c:tx>
            <c:strRef>
              <c:f>Sheet1!$E$1</c:f>
              <c:strCache>
                <c:ptCount val="1"/>
                <c:pt idx="0">
                  <c:v>ZN</c:v>
                </c:pt>
              </c:strCache>
            </c:strRef>
          </c:tx>
          <c:spPr>
            <a:solidFill>
              <a:srgbClr val="2E7D32"/>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Sheet1!$A$2:$A$6</c:f>
              <c:strCache>
                <c:ptCount val="5"/>
                <c:pt idx="0">
                  <c:v>Naive sign</c:v>
                </c:pt>
                <c:pt idx="1">
                  <c:v>Surprise only</c:v>
                </c:pt>
                <c:pt idx="2">
                  <c:v>Surprise + State</c:v>
                </c:pt>
                <c:pt idx="3">
                  <c:v>State filter</c:v>
                </c:pt>
                <c:pt idx="4">
                  <c:v>Adaptive state</c:v>
                </c:pt>
              </c:strCache>
            </c:strRef>
          </c:cat>
          <c:val>
            <c:numRef>
              <c:f>Sheet1!$E$2:$E$6</c:f>
              <c:numCache>
                <c:formatCode>General</c:formatCode>
                <c:ptCount val="5"/>
                <c:pt idx="0">
                  <c:v>-0.05</c:v>
                </c:pt>
                <c:pt idx="1">
                  <c:v>-0.51</c:v>
                </c:pt>
                <c:pt idx="2">
                  <c:v>-0.4</c:v>
                </c:pt>
                <c:pt idx="3">
                  <c:v>-0.37</c:v>
                </c:pt>
                <c:pt idx="4">
                  <c:v>-0.51</c:v>
                </c:pt>
              </c:numCache>
            </c:numRef>
          </c:val>
        </c:ser>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3262"/>
                </a:solidFill>
                <a:latin typeface="Arial"/>
              </a:defRPr>
            </a:pPr>
            <a:r>
              <a:rPr sz="1300" b="0" i="0" u="none" strike="noStrike">
                <a:solidFill>
                  <a:srgbClr val="003262"/>
                </a:solidFill>
                <a:latin typeface="Arial"/>
              </a:rPr>
              <a:t>Net Sharpe of the multi-release book</a:t>
            </a:r>
          </a:p>
        </c:rich>
      </c:tx>
      <c:layout/>
      <c:overlay val="0"/>
    </c:title>
    <c:autoTitleDeleted val="0"/>
    <c:plotArea>
      <c:layout/>
      <c:barChart>
        <c:barDir val="col"/>
        <c:grouping val="clustered"/>
        <c:varyColors val="0"/>
        <c:ser>
          <c:idx val="0"/>
          <c:order val="0"/>
          <c:tx>
            <c:strRef>
              <c:f>Sheet1!$B$1</c:f>
              <c:strCache>
                <c:ptCount val="1"/>
                <c:pt idx="0">
                  <c:v>All · naive</c:v>
                </c:pt>
              </c:strCache>
            </c:strRef>
          </c:tx>
          <c:spPr>
            <a:solidFill>
              <a:srgbClr val="003262"/>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Sheet1!$A$2:$A$5</c:f>
              <c:strCache>
                <c:ptCount val="4"/>
                <c:pt idx="0">
                  <c:v>ES</c:v>
                </c:pt>
                <c:pt idx="1">
                  <c:v>NQ</c:v>
                </c:pt>
                <c:pt idx="2">
                  <c:v>YM</c:v>
                </c:pt>
                <c:pt idx="3">
                  <c:v>ZN</c:v>
                </c:pt>
              </c:strCache>
            </c:strRef>
          </c:cat>
          <c:val>
            <c:numRef>
              <c:f>Sheet1!$B$2:$B$5</c:f>
              <c:numCache>
                <c:formatCode>General</c:formatCode>
                <c:ptCount val="4"/>
                <c:pt idx="0">
                  <c:v>0.65</c:v>
                </c:pt>
                <c:pt idx="1">
                  <c:v>0.71</c:v>
                </c:pt>
                <c:pt idx="2">
                  <c:v>0.68</c:v>
                </c:pt>
                <c:pt idx="3">
                  <c:v>-2.42</c:v>
                </c:pt>
              </c:numCache>
            </c:numRef>
          </c:val>
        </c:ser>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3262"/>
                </a:solidFill>
                <a:latin typeface="Arial"/>
              </a:defRPr>
            </a:pPr>
            <a:r>
              <a:rPr sz="1300" b="0" i="0" u="none" strike="noStrike">
                <a:solidFill>
                  <a:srgbClr val="003262"/>
                </a:solidFill>
                <a:latin typeface="Arial"/>
              </a:rPr>
              <a:t>Net Sharpe, ~10 releases</a:t>
            </a:r>
          </a:p>
        </c:rich>
      </c:tx>
      <c:layout/>
      <c:overlay val="0"/>
    </c:title>
    <c:autoTitleDeleted val="0"/>
    <c:plotArea>
      <c:layout/>
      <c:barChart>
        <c:barDir val="col"/>
        <c:grouping val="clustered"/>
        <c:varyColors val="0"/>
        <c:ser>
          <c:idx val="0"/>
          <c:order val="0"/>
          <c:tx>
            <c:strRef>
              <c:f>Sheet1!$B$1</c:f>
              <c:strCache>
                <c:ptCount val="1"/>
                <c:pt idx="0">
                  <c:v>ES</c:v>
                </c:pt>
              </c:strCache>
            </c:strRef>
          </c:tx>
          <c:spPr>
            <a:solidFill>
              <a:srgbClr val="1F4E79"/>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Sheet1!$A$2:$A$5</c:f>
              <c:strCache>
                <c:ptCount val="4"/>
                <c:pt idx="0">
                  <c:v>Surprise only</c:v>
                </c:pt>
                <c:pt idx="1">
                  <c:v>Surprise + DTW agree</c:v>
                </c:pt>
                <c:pt idx="2">
                  <c:v>Surprise + DTW blend</c:v>
                </c:pt>
                <c:pt idx="3">
                  <c:v>DTW only</c:v>
                </c:pt>
              </c:strCache>
            </c:strRef>
          </c:cat>
          <c:val>
            <c:numRef>
              <c:f>Sheet1!$B$2:$B$5</c:f>
              <c:numCache>
                <c:formatCode>General</c:formatCode>
                <c:ptCount val="4"/>
                <c:pt idx="0">
                  <c:v>0.65</c:v>
                </c:pt>
                <c:pt idx="1">
                  <c:v>0.31</c:v>
                </c:pt>
                <c:pt idx="2">
                  <c:v>0.41</c:v>
                </c:pt>
                <c:pt idx="3">
                  <c:v>-0.39</c:v>
                </c:pt>
              </c:numCache>
            </c:numRef>
          </c:val>
        </c:ser>
        <c:ser>
          <c:idx val="1"/>
          <c:order val="1"/>
          <c:tx>
            <c:strRef>
              <c:f>Sheet1!$C$1</c:f>
              <c:strCache>
                <c:ptCount val="1"/>
                <c:pt idx="0">
                  <c:v>NQ</c:v>
                </c:pt>
              </c:strCache>
            </c:strRef>
          </c:tx>
          <c:spPr>
            <a:solidFill>
              <a:srgbClr val="7A3E9D"/>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Sheet1!$A$2:$A$5</c:f>
              <c:strCache>
                <c:ptCount val="4"/>
                <c:pt idx="0">
                  <c:v>Surprise only</c:v>
                </c:pt>
                <c:pt idx="1">
                  <c:v>Surprise + DTW agree</c:v>
                </c:pt>
                <c:pt idx="2">
                  <c:v>Surprise + DTW blend</c:v>
                </c:pt>
                <c:pt idx="3">
                  <c:v>DTW only</c:v>
                </c:pt>
              </c:strCache>
            </c:strRef>
          </c:cat>
          <c:val>
            <c:numRef>
              <c:f>Sheet1!$C$2:$C$5</c:f>
              <c:numCache>
                <c:formatCode>General</c:formatCode>
                <c:ptCount val="4"/>
                <c:pt idx="0">
                  <c:v>0.71</c:v>
                </c:pt>
                <c:pt idx="1">
                  <c:v>0.62</c:v>
                </c:pt>
                <c:pt idx="2">
                  <c:v>0.67</c:v>
                </c:pt>
                <c:pt idx="3">
                  <c:v>0.08</c:v>
                </c:pt>
              </c:numCache>
            </c:numRef>
          </c:val>
        </c:ser>
        <c:ser>
          <c:idx val="2"/>
          <c:order val="2"/>
          <c:tx>
            <c:strRef>
              <c:f>Sheet1!$D$1</c:f>
              <c:strCache>
                <c:ptCount val="1"/>
                <c:pt idx="0">
                  <c:v>YM</c:v>
                </c:pt>
              </c:strCache>
            </c:strRef>
          </c:tx>
          <c:spPr>
            <a:solidFill>
              <a:srgbClr val="B5651D"/>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Sheet1!$A$2:$A$5</c:f>
              <c:strCache>
                <c:ptCount val="4"/>
                <c:pt idx="0">
                  <c:v>Surprise only</c:v>
                </c:pt>
                <c:pt idx="1">
                  <c:v>Surprise + DTW agree</c:v>
                </c:pt>
                <c:pt idx="2">
                  <c:v>Surprise + DTW blend</c:v>
                </c:pt>
                <c:pt idx="3">
                  <c:v>DTW only</c:v>
                </c:pt>
              </c:strCache>
            </c:strRef>
          </c:cat>
          <c:val>
            <c:numRef>
              <c:f>Sheet1!$D$2:$D$5</c:f>
              <c:numCache>
                <c:formatCode>General</c:formatCode>
                <c:ptCount val="4"/>
                <c:pt idx="0">
                  <c:v>0.68</c:v>
                </c:pt>
                <c:pt idx="1">
                  <c:v>0.94</c:v>
                </c:pt>
                <c:pt idx="2">
                  <c:v>1.06</c:v>
                </c:pt>
                <c:pt idx="3">
                  <c:v>0.47</c:v>
                </c:pt>
              </c:numCache>
            </c:numRef>
          </c:val>
        </c:ser>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Gross</c:v>
                </c:pt>
              </c:strCache>
            </c:strRef>
          </c:tx>
          <c:spPr>
            <a:solidFill>
              <a:srgbClr val="9CB3CF"/>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Sheet1!$A$2:$A$7</c:f>
              <c:strCache>
                <c:ptCount val="6"/>
                <c:pt idx="0">
                  <c:v>Reza · ES all</c:v>
                </c:pt>
                <c:pt idx="1">
                  <c:v>Reza · ES+NQ</c:v>
                </c:pt>
                <c:pt idx="2">
                  <c:v>Reza · ES+NQ+YM</c:v>
                </c:pt>
                <c:pt idx="3">
                  <c:v>Aaryen (executable)</c:v>
                </c:pt>
                <c:pt idx="4">
                  <c:v>Hoshea · DTW</c:v>
                </c:pt>
                <c:pt idx="5">
                  <c:v>Jack · DTW (rebuild)</c:v>
                </c:pt>
              </c:strCache>
            </c:strRef>
          </c:cat>
          <c:val>
            <c:numRef>
              <c:f>Sheet1!$B$2:$B$7</c:f>
              <c:numCache>
                <c:formatCode>General</c:formatCode>
                <c:ptCount val="6"/>
                <c:pt idx="0">
                  <c:v>1.17</c:v>
                </c:pt>
                <c:pt idx="1">
                  <c:v>1.09</c:v>
                </c:pt>
                <c:pt idx="2">
                  <c:v>1.18</c:v>
                </c:pt>
                <c:pt idx="3">
                  <c:v>1.08</c:v>
                </c:pt>
                <c:pt idx="4">
                  <c:v>0.44</c:v>
                </c:pt>
                <c:pt idx="5">
                  <c:v>0.31</c:v>
                </c:pt>
              </c:numCache>
            </c:numRef>
          </c:val>
        </c:ser>
        <c:ser>
          <c:idx val="1"/>
          <c:order val="1"/>
          <c:tx>
            <c:strRef>
              <c:f>Sheet1!$C$1</c:f>
              <c:strCache>
                <c:ptCount val="1"/>
                <c:pt idx="0">
                  <c:v>¼ tick per side</c:v>
                </c:pt>
              </c:strCache>
            </c:strRef>
          </c:tx>
          <c:spPr>
            <a:solidFill>
              <a:srgbClr val="003262"/>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Sheet1!$A$2:$A$7</c:f>
              <c:strCache>
                <c:ptCount val="6"/>
                <c:pt idx="0">
                  <c:v>Reza · ES all</c:v>
                </c:pt>
                <c:pt idx="1">
                  <c:v>Reza · ES+NQ</c:v>
                </c:pt>
                <c:pt idx="2">
                  <c:v>Reza · ES+NQ+YM</c:v>
                </c:pt>
                <c:pt idx="3">
                  <c:v>Aaryen (executable)</c:v>
                </c:pt>
                <c:pt idx="4">
                  <c:v>Hoshea · DTW</c:v>
                </c:pt>
                <c:pt idx="5">
                  <c:v>Jack · DTW (rebuild)</c:v>
                </c:pt>
              </c:strCache>
            </c:strRef>
          </c:cat>
          <c:val>
            <c:numRef>
              <c:f>Sheet1!$C$2:$C$7</c:f>
              <c:numCache>
                <c:formatCode>General</c:formatCode>
                <c:ptCount val="6"/>
                <c:pt idx="0">
                  <c:v>1.06</c:v>
                </c:pt>
                <c:pt idx="1">
                  <c:v>1.01</c:v>
                </c:pt>
                <c:pt idx="2">
                  <c:v>1.1</c:v>
                </c:pt>
                <c:pt idx="3">
                  <c:v>1.03</c:v>
                </c:pt>
                <c:pt idx="4">
                  <c:v>0.24</c:v>
                </c:pt>
                <c:pt idx="5">
                  <c:v>0.1</c:v>
                </c:pt>
              </c:numCache>
            </c:numRef>
          </c:val>
        </c:ser>
        <c:ser>
          <c:idx val="2"/>
          <c:order val="2"/>
          <c:tx>
            <c:strRef>
              <c:f>Sheet1!$D$1</c:f>
              <c:strCache>
                <c:ptCount val="1"/>
                <c:pt idx="0">
                  <c:v>2 ticks + $4.50</c:v>
                </c:pt>
              </c:strCache>
            </c:strRef>
          </c:tx>
          <c:spPr>
            <a:solidFill>
              <a:srgbClr val="FDB515"/>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strRef>
              <c:f>Sheet1!$A$2:$A$7</c:f>
              <c:strCache>
                <c:ptCount val="6"/>
                <c:pt idx="0">
                  <c:v>Reza · ES all</c:v>
                </c:pt>
                <c:pt idx="1">
                  <c:v>Reza · ES+NQ</c:v>
                </c:pt>
                <c:pt idx="2">
                  <c:v>Reza · ES+NQ+YM</c:v>
                </c:pt>
                <c:pt idx="3">
                  <c:v>Aaryen (executable)</c:v>
                </c:pt>
                <c:pt idx="4">
                  <c:v>Hoshea · DTW</c:v>
                </c:pt>
                <c:pt idx="5">
                  <c:v>Jack · DTW (rebuild)</c:v>
                </c:pt>
              </c:strCache>
            </c:strRef>
          </c:cat>
          <c:val>
            <c:numRef>
              <c:f>Sheet1!$D$2:$D$7</c:f>
              <c:numCache>
                <c:formatCode>General</c:formatCode>
                <c:ptCount val="6"/>
                <c:pt idx="0">
                  <c:v>0.65</c:v>
                </c:pt>
                <c:pt idx="1">
                  <c:v>0.72</c:v>
                </c:pt>
                <c:pt idx="2">
                  <c:v>0.78</c:v>
                </c:pt>
                <c:pt idx="3">
                  <c:v>0.84</c:v>
                </c:pt>
                <c:pt idx="4">
                  <c:v>-0.5</c:v>
                </c:pt>
                <c:pt idx="5">
                  <c:v>-0.68</c:v>
                </c:pt>
              </c:numCache>
            </c:numRef>
          </c:val>
        </c:ser>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This project asks whether a trader who reacts after a US macro release can profit from the market's response, net of realistic costs, in three futures markets: ES, NQ and ZN. We compare three model families: the macro surprise alone, the surprise conditioned on the pre-event market state, and the surprise combined with DTW price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has nine parts. After the headline answer and the questions, we set up the markets, signals and method, then go through the seven research questions in the order of the notebooks, and finish with discussion, recommendations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conclusion. The surprise-sign strategy works in equity-index futures: Sharpe about 1 on CPI alone, 0.72 on the ES plus NQ book with about 195 trades a year. The edge is a drift that lasts about 30 minutes after the first minute. Neither the pre-event state nor DTW improves direction out of sample, and ZN is not tradeable because the bond market prices the news in the first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Macro releases are scheduled information shocks. Direction is predictable from theory, but the first reaction is not tradeable. Seven research questions structure the talk; each result slide maps to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is the main market. NQ is a second equity index with more long-duration tech, so it should react more to rates. ZN is a bond price: it moves opposite to yields. Costs differ a lot in basis points: NQ is cheapest at about 0.7 bps, ZN most expensive at about 3 bps. The grey band is the evaluation period, red is the 2022 inflation shock.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figure summarises the project. At the release prices jump in the direction theory predicts. In ES and NQ the price keeps moving for about 30 minutes, especially after hot prints: that continuation, the yellow window, is what we can trade. In ZN the continuation is only 4-5 bps, and ZN costs about 3 bps per round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surprise is actual minus consensus, standardised using only earlier releases. DTW is the method the rest of the team uses: it matches the shape of today's price path to similar historical releases. The state variables are pre-registered with an economic hypothesis each, and converted to causal percentiles.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design choice is the entry: one minute after the release, at the close of the first bar. Everything is estimated walk-forward. Costs are 2 ticks plus commission as the base case. Every notebook reproduces the previous one's trade returns exactly, which guards against coding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from raw Bloomberg releases and minute bars to a team comparison. Notebooks 03 to 06 were repeated on NQ and ZN with identical code, the b-notebooks.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one-SD hot CPI print lowers ES by about 21 bps, NQ by 28 and ZN by 10 within five minutes, and explains 27 to 30 percent of the reaction in all three. NFP moves markets almost as much as CPI but its direction is not explained by the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how much ES moves after each release. CPI and NFP both move the market a lot; PCE much less. Right: how much of that move the surprise explains. CPI stands out at 22 to 30 percent at every horizon; NFP stays below 7 percent. So CPI is the release with both size and predictable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five-minute reaction includes the untradeable jump. Measured from entry, the 30-minute drift is about 9 bps per SD in ES and 8.5 in NQ, several times the cost. In ZN it is 0.8 bps, below the 3 bps cost. This comparison explains most of the trading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sample, the CPI beta in ES is about 11 bps in calm markets and 50-68 in volatile ones; NQ is similar. ZN shows no volatility pattern. Most robust finding: state predicts how much the market moves, 198 of 360 tests survive FDR in ES. The direction effect is mostly on the jump and mostly after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state, each column a horizon. A credible effect is a whole row of the same colour. ES and NQ share the volatility and overnight rows, strongest on the short reactions. ZN is different. The pre-registered selection rule carried only a few pairs into Notebook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CPI alone gives a Sharpe of about 1 in ES and 0.8 to 1 in NQ. The naive sign rule, with no estimation, is as good as the fitted models: the edge is the economic direction of the surprise. No state model beats surprise only. ZN has a small gross edge but costs eat it; the fitted models correctly refuse to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ZN the naive CPI rule has a small positive edge before costs, but it is the same size as the cost. The fitted models predict moves smaller than the cost, so they almost never trade: that is the right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CPI profit came in 2022. Excluding 2022 the naive rule still has a Sharpe of 0.58 in ES and 0.68 in NQ. The state interaction only became detectable in 2022, and the adaptive model kept changing its choice, so state conditioning is not stable enough to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coefficients a trader would have estimated in real time. In both equity markets the state interaction was invisible until 2022, which is why state conditioning does not help out of sample. In ZN there was never a drift to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CPI strategy keeps a positive Sharpe up to 8 ticks in ES and is almost insensitive to cost in NQ. Entering one to five minutes late barely hurts the 30-minute hold, while short holds collapse: this is a slow continuation, not a latency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chart format the DTW team uses. The always-long line in exactly the same windows loses money, while the strategy gains: the value is entirely in calling the direction of the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Trading the surprises of about ten screened releases raises the trade count from about ten to about a hundred a year per market, with a Sharpe of 0.65 in ES and 0.71 in NQ, both far from random. The NQ book is less dependent on 2022 and much more robust to costs. A second window after each release loses money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P&amp;L of the CPI-only and multi-release books in each market. In the equity markets the simple naive book is the steadiest; volatility sizing adds return but much larger drawdowns. In ZN everything loses about the cost on every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CPI is the largest contributor in both equity markets. Beyond CPI the ranking differs between ES and NQ, so the broad book should be read as diversification across many small, noisy edges. In ZN every family loses about the cost on each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DTW's rank information coefficient is essentially zero in every market. Adding it to the surprise lowers the Sharpe in every combination. The CPI-only comparisons favour different combinations in different markets and none is significant, so we treat them as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paths confirm the Sharpe comparison. DTW never adds a persistent edge; in NQ it looked promising for three years and then reversed.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Copying the peer's five-window ladder takes the trade count well above 185, but every extra window loses money in ES and dilutes the edge in NQ. The surprise's information is used up in the first 30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P&amp;L of the ladder books. In ES every book with extra windows falls steadily; in NQ, with its low cost, one ladder book survives but is worse than trading window one alone; in ZN they collapse.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ES and NQ gives about 195 trades a year, a Sharpe of 0.72 and 25 percent total return, above the peer strategy's trade count with a higher Sharpe. Adding ZN turns the portfolio negative: it has no edge and, being low-volatility, receives the largest risk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costs and the window are equal, the surprise-based books are the most robust. The high-turnover DTW strategies are positive only at a quarter tick per side. Aaryen's executable classifier has a similar Sharpe at our cost but far fewer trades and a much smaller total return. Our rebuild of Jack's strategy does not reproduce his slide, so it is an approximation.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runs my surprise books inside Jack's combined folder, on his cleaned data, his test years, his cost levels and his metric definitions, so the rows are directly comparable. At a quarter tick per side, the simple surprise book on the top ten releases has a Sharpe of 1.09 on ES and 0.75 on NQ, against 0.21 and 0.41 for the DTW book, with about a third of the trades. On ZN neither approach survives costs. Adding DTW to the surprise, either as a filter or on its own, does not improve the result in the test years. The CPI plus DTW row looks good but rests on about seven trades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adding DTW does to the results in each market. The orange line is the plain surprise book; it climbs in ES, NQ and the ES plus NQ book, most of it in 2022. The green line is DTW on its own: it worked in the validation years but lost money in the test years in both equity markets, the same sign flip Jack found in his own DTW factor. The red line keeps a surprise trade only when DTW agrees: it trades about half as often and ends well below the plain surprise book. On ZN nothing survives costs. So adding DTW, as a signal or as a filter, does not improve the surprise strategy out of sample. Caveats: much of the gain is from 2022, and the constants were chosen while looking at these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headline book per person, at three cost levels. Only the surprise-based books keep a positive return at realistic costs; the high-turnover DTW books need very low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slide format the DTW team uses, applied to each workstream. The ES plus NQ surprise book reaches 36 percent at the peer's cost with twice the trade count of ES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Hoshea's DTW factor is positive only at very low costs because it trades over 370 times a year. Aaryen's classifier looks exceptional when it enters at the pre-release price; with an executable entry it is a solid but much smaller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Entry timing explains the largest difference in the team's reported numbers. Entering at the price before the release captures the jump, which no real strategy can do. Moving the entry by one minute removes about 80 percent of the classifier's profit. Jack's own rebuild found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explanations fit the evidence. Equities need more interpretation than bonds, liquidity returns over minutes, Treasury futures are the first mover for rate news, and ZN's cost is large relative to its post-release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 three model families and three markets, only the macro surprise in equity-index futures survives. State and DTW both lower out-of-sample performance, more windows add losing trades, and ZN is not tradeable.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recommendations, from the trade rule to governance. The most important caveat is execution: the ES multi-release book loses most of its edge above 4 ticks, so paper trading with real fills comes before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directions, detailed in the report: a fixed CPI definition, realistic execution, live paper trading, more equity markets, short-rate markets, volatility forecasting, richer surprise information and a longer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supervisor, the program coordinators and the teammates.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 Id="rId5"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 Id="rId6"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262"/>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365760"/>
          </a:xfrm>
          <a:prstGeom prst="rect">
            <a:avLst/>
          </a:prstGeom>
          <a:noFill/>
          <a:ln/>
        </p:spPr>
        <p:txBody>
          <a:bodyPr wrap="square" lIns="0" tIns="0" rIns="0" bIns="0" rtlCol="0" anchor="ctr"/>
          <a:lstStyle/>
          <a:p>
            <a:pPr indent="0" marL="0">
              <a:buNone/>
            </a:pPr>
            <a:r>
              <a:rPr lang="en-US" sz="1400" b="1" dirty="0">
                <a:solidFill>
                  <a:srgbClr val="FDB515"/>
                </a:solidFill>
                <a:latin typeface="Calibri" pitchFamily="34" charset="0"/>
                <a:ea typeface="Calibri" pitchFamily="34" charset="-122"/>
                <a:cs typeface="Calibri" pitchFamily="34" charset="-120"/>
              </a:rPr>
              <a:t>BlackRock industry project  ·  UC Berkeley Haas MFE</a:t>
            </a:r>
            <a:endParaRPr lang="en-US" sz="1400" dirty="0"/>
          </a:p>
        </p:txBody>
      </p:sp>
      <p:sp>
        <p:nvSpPr>
          <p:cNvPr id="3" name="Text 1"/>
          <p:cNvSpPr txBox="1"/>
          <p:nvPr/>
        </p:nvSpPr>
        <p:spPr>
          <a:xfrm>
            <a:off x="731520" y="1280160"/>
            <a:ext cx="10698480" cy="17373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Macroeconomic Surprises, DTW Price Patterns and the Intraday Response of ES, NQ, YM and ZN Futures</a:t>
            </a:r>
            <a:endParaRPr lang="en-US" sz="3800" dirty="0"/>
          </a:p>
        </p:txBody>
      </p:sp>
      <p:sp>
        <p:nvSpPr>
          <p:cNvPr id="4" name="Text 2"/>
          <p:cNvSpPr txBox="1"/>
          <p:nvPr/>
        </p:nvSpPr>
        <p:spPr>
          <a:xfrm>
            <a:off x="731520" y="3108960"/>
            <a:ext cx="1069848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E-mini S&amp;P 500 (ES) · E-mini Nasdaq-100 (NQ) · E-mini Dow (YM) · 10-Year Treasury Note (ZN)</a:t>
            </a:r>
            <a:endParaRPr lang="en-US" sz="1800" dirty="0"/>
          </a:p>
        </p:txBody>
      </p:sp>
      <p:sp>
        <p:nvSpPr>
          <p:cNvPr id="5" name="Text 3"/>
          <p:cNvSpPr txBox="1"/>
          <p:nvPr/>
        </p:nvSpPr>
        <p:spPr>
          <a:xfrm>
            <a:off x="731520" y="4206240"/>
            <a:ext cx="10698480" cy="14630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Reza Zamani</a:t>
            </a:r>
            <a:endParaRPr lang="en-US" sz="1500" dirty="0"/>
          </a:p>
          <a:p>
            <a:pPr indent="0" marL="0">
              <a:spcAft>
                <a:spcPts val="400"/>
              </a:spcAft>
              <a:buNone/>
            </a:pPr>
            <a:r>
              <a:rPr lang="en-US" sz="1500" dirty="0">
                <a:solidFill>
                  <a:srgbClr val="CADCFC"/>
                </a:solidFill>
                <a:latin typeface="Calibri" pitchFamily="34" charset="0"/>
                <a:ea typeface="Calibri" pitchFamily="34" charset="-122"/>
                <a:cs typeface="Calibri" pitchFamily="34" charset="-120"/>
              </a:rPr>
              <a:t>Team: Jack Duncan, Hoshea Zeng, Aaryen Mehta, Reza Zamani (UC Berkeley MFE)</a:t>
            </a:r>
            <a:endParaRPr lang="en-US" sz="1500" dirty="0"/>
          </a:p>
          <a:p>
            <a:pPr indent="0" marL="0">
              <a:spcAft>
                <a:spcPts val="400"/>
              </a:spcAft>
              <a:buNone/>
            </a:pPr>
            <a:r>
              <a:rPr lang="en-US" sz="1500" dirty="0">
                <a:solidFill>
                  <a:srgbClr val="CADCFC"/>
                </a:solidFill>
                <a:latin typeface="Calibri" pitchFamily="34" charset="0"/>
                <a:ea typeface="Calibri" pitchFamily="34" charset="-122"/>
                <a:cs typeface="Calibri" pitchFamily="34" charset="-120"/>
              </a:rPr>
              <a:t>Supervisor: Benjamin Steel, BlackRock</a:t>
            </a:r>
            <a:endParaRPr lang="en-US" sz="1500" dirty="0"/>
          </a:p>
          <a:p>
            <a:pPr indent="0" marL="0">
              <a:spcAft>
                <a:spcPts val="400"/>
              </a:spcAft>
              <a:buNone/>
            </a:pPr>
            <a:r>
              <a:rPr lang="en-US" sz="1500" dirty="0">
                <a:solidFill>
                  <a:srgbClr val="CADCFC"/>
                </a:solidFill>
                <a:latin typeface="Calibri" pitchFamily="34" charset="0"/>
                <a:ea typeface="Calibri" pitchFamily="34" charset="-122"/>
                <a:cs typeface="Calibri" pitchFamily="34" charset="-120"/>
              </a:rPr>
              <a:t>MFE program coordinators: Ian Kaufman and Chris Pohalski, Haas School of Business</a:t>
            </a:r>
            <a:endParaRPr lang="en-US" sz="1500" dirty="0"/>
          </a:p>
        </p:txBody>
      </p:sp>
      <p:sp>
        <p:nvSpPr>
          <p:cNvPr id="6" name="Text 4"/>
          <p:cNvSpPr txBox="1"/>
          <p:nvPr/>
        </p:nvSpPr>
        <p:spPr>
          <a:xfrm>
            <a:off x="8961120" y="6126480"/>
            <a:ext cx="2651760" cy="411480"/>
          </a:xfrm>
          <a:prstGeom prst="rect">
            <a:avLst/>
          </a:prstGeom>
          <a:noFill/>
          <a:ln/>
        </p:spPr>
        <p:txBody>
          <a:bodyPr wrap="square" lIns="0" tIns="0" rIns="0" bIns="0" rtlCol="0" anchor="ctr"/>
          <a:lstStyle/>
          <a:p>
            <a:pPr algn="r" indent="0" marL="0">
              <a:buNone/>
            </a:pPr>
            <a:r>
              <a:rPr lang="en-US" sz="1800" dirty="0">
                <a:solidFill>
                  <a:srgbClr val="FDB515"/>
                </a:solidFill>
                <a:latin typeface="Cambria" pitchFamily="34" charset="0"/>
                <a:ea typeface="Cambria" pitchFamily="34" charset="-122"/>
                <a:cs typeface="Cambria" pitchFamily="34" charset="-120"/>
              </a:rPr>
              <a:t>UC Berkeley Haas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Structure of the presentation</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48640" y="1234440"/>
            <a:ext cx="5440680" cy="868680"/>
          </a:xfrm>
          <a:prstGeom prst="roundRect">
            <a:avLst>
              <a:gd name="adj" fmla="val 8421"/>
            </a:avLst>
          </a:prstGeom>
          <a:solidFill>
            <a:srgbClr val="EEF3F8"/>
          </a:solidFill>
          <a:ln w="12700">
            <a:solidFill>
              <a:srgbClr val="EEF3F8"/>
            </a:solidFill>
            <a:prstDash val="solid"/>
          </a:ln>
        </p:spPr>
        <p:txBody>
          <a:bodyPr/>
          <a:p/>
        </p:txBody>
      </p:sp>
      <p:sp>
        <p:nvSpPr>
          <p:cNvPr id="6" name="Shape 4"/>
          <p:cNvSpPr/>
          <p:nvPr/>
        </p:nvSpPr>
        <p:spPr>
          <a:xfrm>
            <a:off x="731520" y="1435608"/>
            <a:ext cx="457200" cy="457200"/>
          </a:xfrm>
          <a:prstGeom prst="ellipse">
            <a:avLst/>
          </a:prstGeom>
          <a:solidFill>
            <a:srgbClr val="FDB515"/>
          </a:solidFill>
          <a:ln w="12700">
            <a:solidFill>
              <a:srgbClr val="FDB515"/>
            </a:solidFill>
            <a:prstDash val="solid"/>
          </a:ln>
        </p:spPr>
        <p:txBody>
          <a:bodyPr/>
          <a:p/>
        </p:txBody>
      </p:sp>
      <p:sp>
        <p:nvSpPr>
          <p:cNvPr id="7" name="Text 5"/>
          <p:cNvSpPr txBox="1"/>
          <p:nvPr/>
        </p:nvSpPr>
        <p:spPr>
          <a:xfrm>
            <a:off x="731520" y="1435608"/>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325880" y="1325880"/>
            <a:ext cx="3749040" cy="365760"/>
          </a:xfrm>
          <a:prstGeom prst="rect">
            <a:avLst/>
          </a:prstGeom>
          <a:noFill/>
          <a:ln/>
        </p:spPr>
        <p:txBody>
          <a:bodyPr wrap="square" lIns="0" tIns="0" rIns="0" bIns="0" rtlCol="0" anchor="ctr"/>
          <a:lstStyle/>
          <a:p>
            <a:pPr indent="0" marL="0">
              <a:buNone/>
            </a:pPr>
            <a:r>
              <a:rPr lang="en-US" sz="1500" b="1" dirty="0">
                <a:solidFill>
                  <a:srgbClr val="003262"/>
                </a:solidFill>
                <a:latin typeface="Calibri" pitchFamily="34" charset="0"/>
                <a:ea typeface="Calibri" pitchFamily="34" charset="-122"/>
                <a:cs typeface="Calibri" pitchFamily="34" charset="-120"/>
              </a:rPr>
              <a:t>The answer and the questions</a:t>
            </a:r>
            <a:endParaRPr lang="en-US" sz="1500" dirty="0"/>
          </a:p>
        </p:txBody>
      </p:sp>
      <p:sp>
        <p:nvSpPr>
          <p:cNvPr id="9" name="Text 7"/>
          <p:cNvSpPr txBox="1"/>
          <p:nvPr/>
        </p:nvSpPr>
        <p:spPr>
          <a:xfrm>
            <a:off x="1325880" y="1691640"/>
            <a:ext cx="374904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Headline results · motivation · 7 research questions</a:t>
            </a:r>
            <a:endParaRPr lang="en-US" sz="1100" dirty="0"/>
          </a:p>
        </p:txBody>
      </p:sp>
      <p:sp>
        <p:nvSpPr>
          <p:cNvPr id="10" name="Text 8"/>
          <p:cNvSpPr txBox="1"/>
          <p:nvPr/>
        </p:nvSpPr>
        <p:spPr>
          <a:xfrm>
            <a:off x="5029200" y="1325880"/>
            <a:ext cx="868680" cy="36576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slides 3–4</a:t>
            </a:r>
            <a:endParaRPr lang="en-US" sz="1100" dirty="0"/>
          </a:p>
        </p:txBody>
      </p:sp>
      <p:sp>
        <p:nvSpPr>
          <p:cNvPr id="11" name="Shape 9"/>
          <p:cNvSpPr/>
          <p:nvPr/>
        </p:nvSpPr>
        <p:spPr>
          <a:xfrm>
            <a:off x="548640" y="2240280"/>
            <a:ext cx="5440680" cy="868680"/>
          </a:xfrm>
          <a:prstGeom prst="roundRect">
            <a:avLst>
              <a:gd name="adj" fmla="val 8421"/>
            </a:avLst>
          </a:prstGeom>
          <a:solidFill>
            <a:srgbClr val="EEF3F8"/>
          </a:solidFill>
          <a:ln w="12700">
            <a:solidFill>
              <a:srgbClr val="EEF3F8"/>
            </a:solidFill>
            <a:prstDash val="solid"/>
          </a:ln>
        </p:spPr>
        <p:txBody>
          <a:bodyPr/>
          <a:p/>
        </p:txBody>
      </p:sp>
      <p:sp>
        <p:nvSpPr>
          <p:cNvPr id="12" name="Shape 10"/>
          <p:cNvSpPr/>
          <p:nvPr/>
        </p:nvSpPr>
        <p:spPr>
          <a:xfrm>
            <a:off x="731520" y="2441448"/>
            <a:ext cx="457200" cy="457200"/>
          </a:xfrm>
          <a:prstGeom prst="ellipse">
            <a:avLst/>
          </a:prstGeom>
          <a:solidFill>
            <a:srgbClr val="FDB515"/>
          </a:solidFill>
          <a:ln w="12700">
            <a:solidFill>
              <a:srgbClr val="FDB515"/>
            </a:solidFill>
            <a:prstDash val="solid"/>
          </a:ln>
        </p:spPr>
        <p:txBody>
          <a:bodyPr/>
          <a:p/>
        </p:txBody>
      </p:sp>
      <p:sp>
        <p:nvSpPr>
          <p:cNvPr id="13" name="Text 11"/>
          <p:cNvSpPr txBox="1"/>
          <p:nvPr/>
        </p:nvSpPr>
        <p:spPr>
          <a:xfrm>
            <a:off x="731520" y="2441448"/>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1325880" y="2331720"/>
            <a:ext cx="3749040" cy="365760"/>
          </a:xfrm>
          <a:prstGeom prst="rect">
            <a:avLst/>
          </a:prstGeom>
          <a:noFill/>
          <a:ln/>
        </p:spPr>
        <p:txBody>
          <a:bodyPr wrap="square" lIns="0" tIns="0" rIns="0" bIns="0" rtlCol="0" anchor="ctr"/>
          <a:lstStyle/>
          <a:p>
            <a:pPr indent="0" marL="0">
              <a:buNone/>
            </a:pPr>
            <a:r>
              <a:rPr lang="en-US" sz="1500" b="1" dirty="0">
                <a:solidFill>
                  <a:srgbClr val="003262"/>
                </a:solidFill>
                <a:latin typeface="Calibri" pitchFamily="34" charset="0"/>
                <a:ea typeface="Calibri" pitchFamily="34" charset="-122"/>
                <a:cs typeface="Calibri" pitchFamily="34" charset="-120"/>
              </a:rPr>
              <a:t>Markets, signals and method</a:t>
            </a:r>
            <a:endParaRPr lang="en-US" sz="1500" dirty="0"/>
          </a:p>
        </p:txBody>
      </p:sp>
      <p:sp>
        <p:nvSpPr>
          <p:cNvPr id="15" name="Text 13"/>
          <p:cNvSpPr txBox="1"/>
          <p:nvPr/>
        </p:nvSpPr>
        <p:spPr>
          <a:xfrm>
            <a:off x="1325880" y="2697480"/>
            <a:ext cx="374904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ES, NQ, YM, ZN · jump vs drift · surprise, DTW, state · walk-forward design</a:t>
            </a:r>
            <a:endParaRPr lang="en-US" sz="1100" dirty="0"/>
          </a:p>
        </p:txBody>
      </p:sp>
      <p:sp>
        <p:nvSpPr>
          <p:cNvPr id="16" name="Text 14"/>
          <p:cNvSpPr txBox="1"/>
          <p:nvPr/>
        </p:nvSpPr>
        <p:spPr>
          <a:xfrm>
            <a:off x="5029200" y="2331720"/>
            <a:ext cx="868680" cy="36576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slides 5–9</a:t>
            </a:r>
            <a:endParaRPr lang="en-US" sz="1100" dirty="0"/>
          </a:p>
        </p:txBody>
      </p:sp>
      <p:sp>
        <p:nvSpPr>
          <p:cNvPr id="17" name="Shape 15"/>
          <p:cNvSpPr/>
          <p:nvPr/>
        </p:nvSpPr>
        <p:spPr>
          <a:xfrm>
            <a:off x="548640" y="3246120"/>
            <a:ext cx="5440680" cy="868680"/>
          </a:xfrm>
          <a:prstGeom prst="roundRect">
            <a:avLst>
              <a:gd name="adj" fmla="val 8421"/>
            </a:avLst>
          </a:prstGeom>
          <a:solidFill>
            <a:srgbClr val="EEF3F8"/>
          </a:solidFill>
          <a:ln w="12700">
            <a:solidFill>
              <a:srgbClr val="EEF3F8"/>
            </a:solidFill>
            <a:prstDash val="solid"/>
          </a:ln>
        </p:spPr>
        <p:txBody>
          <a:bodyPr/>
          <a:p/>
        </p:txBody>
      </p:sp>
      <p:sp>
        <p:nvSpPr>
          <p:cNvPr id="18" name="Shape 16"/>
          <p:cNvSpPr/>
          <p:nvPr/>
        </p:nvSpPr>
        <p:spPr>
          <a:xfrm>
            <a:off x="731520" y="3447288"/>
            <a:ext cx="457200" cy="457200"/>
          </a:xfrm>
          <a:prstGeom prst="ellipse">
            <a:avLst/>
          </a:prstGeom>
          <a:solidFill>
            <a:srgbClr val="FDB515"/>
          </a:solidFill>
          <a:ln w="12700">
            <a:solidFill>
              <a:srgbClr val="FDB515"/>
            </a:solidFill>
            <a:prstDash val="solid"/>
          </a:ln>
        </p:spPr>
        <p:txBody>
          <a:bodyPr/>
          <a:p/>
        </p:txBody>
      </p:sp>
      <p:sp>
        <p:nvSpPr>
          <p:cNvPr id="19" name="Text 17"/>
          <p:cNvSpPr txBox="1"/>
          <p:nvPr/>
        </p:nvSpPr>
        <p:spPr>
          <a:xfrm>
            <a:off x="731520" y="3447288"/>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1325880" y="3337560"/>
            <a:ext cx="3749040" cy="365760"/>
          </a:xfrm>
          <a:prstGeom prst="rect">
            <a:avLst/>
          </a:prstGeom>
          <a:noFill/>
          <a:ln/>
        </p:spPr>
        <p:txBody>
          <a:bodyPr wrap="square" lIns="0" tIns="0" rIns="0" bIns="0" rtlCol="0" anchor="ctr"/>
          <a:lstStyle/>
          <a:p>
            <a:pPr indent="0" marL="0">
              <a:buNone/>
            </a:pPr>
            <a:r>
              <a:rPr lang="en-US" sz="1500" b="1" dirty="0">
                <a:solidFill>
                  <a:srgbClr val="003262"/>
                </a:solidFill>
                <a:latin typeface="Calibri" pitchFamily="34" charset="0"/>
                <a:ea typeface="Calibri" pitchFamily="34" charset="-122"/>
                <a:cs typeface="Calibri" pitchFamily="34" charset="-120"/>
              </a:rPr>
              <a:t>RQ1–RQ2 · What moves, what is tradeable</a:t>
            </a:r>
            <a:endParaRPr lang="en-US" sz="1500" dirty="0"/>
          </a:p>
        </p:txBody>
      </p:sp>
      <p:sp>
        <p:nvSpPr>
          <p:cNvPr id="21" name="Text 19"/>
          <p:cNvSpPr txBox="1"/>
          <p:nvPr/>
        </p:nvSpPr>
        <p:spPr>
          <a:xfrm>
            <a:off x="1325880" y="3703320"/>
            <a:ext cx="374904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Notebooks 02, 02b: CPI dominates; the drift after the first minute</a:t>
            </a:r>
            <a:endParaRPr lang="en-US" sz="1100" dirty="0"/>
          </a:p>
        </p:txBody>
      </p:sp>
      <p:sp>
        <p:nvSpPr>
          <p:cNvPr id="22" name="Text 20"/>
          <p:cNvSpPr txBox="1"/>
          <p:nvPr/>
        </p:nvSpPr>
        <p:spPr>
          <a:xfrm>
            <a:off x="5029200" y="3337560"/>
            <a:ext cx="868680" cy="36576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slides 10–12</a:t>
            </a:r>
            <a:endParaRPr lang="en-US" sz="1100" dirty="0"/>
          </a:p>
        </p:txBody>
      </p:sp>
      <p:sp>
        <p:nvSpPr>
          <p:cNvPr id="23" name="Shape 21"/>
          <p:cNvSpPr/>
          <p:nvPr/>
        </p:nvSpPr>
        <p:spPr>
          <a:xfrm>
            <a:off x="548640" y="4251960"/>
            <a:ext cx="5440680" cy="868680"/>
          </a:xfrm>
          <a:prstGeom prst="roundRect">
            <a:avLst>
              <a:gd name="adj" fmla="val 8421"/>
            </a:avLst>
          </a:prstGeom>
          <a:solidFill>
            <a:srgbClr val="EEF3F8"/>
          </a:solidFill>
          <a:ln w="12700">
            <a:solidFill>
              <a:srgbClr val="EEF3F8"/>
            </a:solidFill>
            <a:prstDash val="solid"/>
          </a:ln>
        </p:spPr>
        <p:txBody>
          <a:bodyPr/>
          <a:p/>
        </p:txBody>
      </p:sp>
      <p:sp>
        <p:nvSpPr>
          <p:cNvPr id="24" name="Shape 22"/>
          <p:cNvSpPr/>
          <p:nvPr/>
        </p:nvSpPr>
        <p:spPr>
          <a:xfrm>
            <a:off x="731520" y="4453128"/>
            <a:ext cx="457200" cy="457200"/>
          </a:xfrm>
          <a:prstGeom prst="ellipse">
            <a:avLst/>
          </a:prstGeom>
          <a:solidFill>
            <a:srgbClr val="FDB515"/>
          </a:solidFill>
          <a:ln w="12700">
            <a:solidFill>
              <a:srgbClr val="FDB515"/>
            </a:solidFill>
            <a:prstDash val="solid"/>
          </a:ln>
        </p:spPr>
        <p:txBody>
          <a:bodyPr/>
          <a:p/>
        </p:txBody>
      </p:sp>
      <p:sp>
        <p:nvSpPr>
          <p:cNvPr id="25" name="Text 23"/>
          <p:cNvSpPr txBox="1"/>
          <p:nvPr/>
        </p:nvSpPr>
        <p:spPr>
          <a:xfrm>
            <a:off x="731520" y="4453128"/>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4</a:t>
            </a:r>
            <a:endParaRPr lang="en-US" sz="1400" dirty="0"/>
          </a:p>
        </p:txBody>
      </p:sp>
      <p:sp>
        <p:nvSpPr>
          <p:cNvPr id="26" name="Text 24"/>
          <p:cNvSpPr txBox="1"/>
          <p:nvPr/>
        </p:nvSpPr>
        <p:spPr>
          <a:xfrm>
            <a:off x="1325880" y="4343400"/>
            <a:ext cx="3749040" cy="365760"/>
          </a:xfrm>
          <a:prstGeom prst="rect">
            <a:avLst/>
          </a:prstGeom>
          <a:noFill/>
          <a:ln/>
        </p:spPr>
        <p:txBody>
          <a:bodyPr wrap="square" lIns="0" tIns="0" rIns="0" bIns="0" rtlCol="0" anchor="ctr"/>
          <a:lstStyle/>
          <a:p>
            <a:pPr indent="0" marL="0">
              <a:buNone/>
            </a:pPr>
            <a:r>
              <a:rPr lang="en-US" sz="1500" b="1" dirty="0">
                <a:solidFill>
                  <a:srgbClr val="003262"/>
                </a:solidFill>
                <a:latin typeface="Calibri" pitchFamily="34" charset="0"/>
                <a:ea typeface="Calibri" pitchFamily="34" charset="-122"/>
                <a:cs typeface="Calibri" pitchFamily="34" charset="-120"/>
              </a:rPr>
              <a:t>RQ3 · Pre-event market state</a:t>
            </a:r>
            <a:endParaRPr lang="en-US" sz="1500" dirty="0"/>
          </a:p>
        </p:txBody>
      </p:sp>
      <p:sp>
        <p:nvSpPr>
          <p:cNvPr id="27" name="Text 25"/>
          <p:cNvSpPr txBox="1"/>
          <p:nvPr/>
        </p:nvSpPr>
        <p:spPr>
          <a:xfrm>
            <a:off x="1325880" y="4709160"/>
            <a:ext cx="374904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Notebooks 03, 03b: volatility and the CPI response</a:t>
            </a:r>
            <a:endParaRPr lang="en-US" sz="1100" dirty="0"/>
          </a:p>
        </p:txBody>
      </p:sp>
      <p:sp>
        <p:nvSpPr>
          <p:cNvPr id="28" name="Text 26"/>
          <p:cNvSpPr txBox="1"/>
          <p:nvPr/>
        </p:nvSpPr>
        <p:spPr>
          <a:xfrm>
            <a:off x="5029200" y="4343400"/>
            <a:ext cx="868680" cy="36576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slides 13–14</a:t>
            </a:r>
            <a:endParaRPr lang="en-US" sz="1100" dirty="0"/>
          </a:p>
        </p:txBody>
      </p:sp>
      <p:sp>
        <p:nvSpPr>
          <p:cNvPr id="29" name="Shape 27"/>
          <p:cNvSpPr/>
          <p:nvPr/>
        </p:nvSpPr>
        <p:spPr>
          <a:xfrm>
            <a:off x="548640" y="5257800"/>
            <a:ext cx="5440680" cy="868680"/>
          </a:xfrm>
          <a:prstGeom prst="roundRect">
            <a:avLst>
              <a:gd name="adj" fmla="val 8421"/>
            </a:avLst>
          </a:prstGeom>
          <a:solidFill>
            <a:srgbClr val="EEF3F8"/>
          </a:solidFill>
          <a:ln w="12700">
            <a:solidFill>
              <a:srgbClr val="EEF3F8"/>
            </a:solidFill>
            <a:prstDash val="solid"/>
          </a:ln>
        </p:spPr>
        <p:txBody>
          <a:bodyPr/>
          <a:p/>
        </p:txBody>
      </p:sp>
      <p:sp>
        <p:nvSpPr>
          <p:cNvPr id="30" name="Shape 28"/>
          <p:cNvSpPr/>
          <p:nvPr/>
        </p:nvSpPr>
        <p:spPr>
          <a:xfrm>
            <a:off x="731520" y="5458968"/>
            <a:ext cx="457200" cy="457200"/>
          </a:xfrm>
          <a:prstGeom prst="ellipse">
            <a:avLst/>
          </a:prstGeom>
          <a:solidFill>
            <a:srgbClr val="FDB515"/>
          </a:solidFill>
          <a:ln w="12700">
            <a:solidFill>
              <a:srgbClr val="FDB515"/>
            </a:solidFill>
            <a:prstDash val="solid"/>
          </a:ln>
        </p:spPr>
        <p:txBody>
          <a:bodyPr/>
          <a:p/>
        </p:txBody>
      </p:sp>
      <p:sp>
        <p:nvSpPr>
          <p:cNvPr id="31" name="Text 29"/>
          <p:cNvSpPr txBox="1"/>
          <p:nvPr/>
        </p:nvSpPr>
        <p:spPr>
          <a:xfrm>
            <a:off x="731520" y="5458968"/>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5</a:t>
            </a:r>
            <a:endParaRPr lang="en-US" sz="1400" dirty="0"/>
          </a:p>
        </p:txBody>
      </p:sp>
      <p:sp>
        <p:nvSpPr>
          <p:cNvPr id="32" name="Text 30"/>
          <p:cNvSpPr txBox="1"/>
          <p:nvPr/>
        </p:nvSpPr>
        <p:spPr>
          <a:xfrm>
            <a:off x="1325880" y="5349240"/>
            <a:ext cx="3749040" cy="365760"/>
          </a:xfrm>
          <a:prstGeom prst="rect">
            <a:avLst/>
          </a:prstGeom>
          <a:noFill/>
          <a:ln/>
        </p:spPr>
        <p:txBody>
          <a:bodyPr wrap="square" lIns="0" tIns="0" rIns="0" bIns="0" rtlCol="0" anchor="ctr"/>
          <a:lstStyle/>
          <a:p>
            <a:pPr indent="0" marL="0">
              <a:buNone/>
            </a:pPr>
            <a:r>
              <a:rPr lang="en-US" sz="1500" b="1" dirty="0">
                <a:solidFill>
                  <a:srgbClr val="003262"/>
                </a:solidFill>
                <a:latin typeface="Calibri" pitchFamily="34" charset="0"/>
                <a:ea typeface="Calibri" pitchFamily="34" charset="-122"/>
                <a:cs typeface="Calibri" pitchFamily="34" charset="-120"/>
              </a:rPr>
              <a:t>RQ4 · CPI walk-forward strategy</a:t>
            </a:r>
            <a:endParaRPr lang="en-US" sz="1500" dirty="0"/>
          </a:p>
        </p:txBody>
      </p:sp>
      <p:sp>
        <p:nvSpPr>
          <p:cNvPr id="33" name="Text 31"/>
          <p:cNvSpPr txBox="1"/>
          <p:nvPr/>
        </p:nvSpPr>
        <p:spPr>
          <a:xfrm>
            <a:off x="1325880" y="5715000"/>
            <a:ext cx="374904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Notebooks 04, 04b: performance, regime, real-time detection, robustness</a:t>
            </a:r>
            <a:endParaRPr lang="en-US" sz="1100" dirty="0"/>
          </a:p>
        </p:txBody>
      </p:sp>
      <p:sp>
        <p:nvSpPr>
          <p:cNvPr id="34" name="Text 32"/>
          <p:cNvSpPr txBox="1"/>
          <p:nvPr/>
        </p:nvSpPr>
        <p:spPr>
          <a:xfrm>
            <a:off x="5029200" y="5349240"/>
            <a:ext cx="868680" cy="36576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slides 15–20</a:t>
            </a:r>
            <a:endParaRPr lang="en-US" sz="1100" dirty="0"/>
          </a:p>
        </p:txBody>
      </p:sp>
      <p:sp>
        <p:nvSpPr>
          <p:cNvPr id="35" name="Shape 33"/>
          <p:cNvSpPr/>
          <p:nvPr/>
        </p:nvSpPr>
        <p:spPr>
          <a:xfrm>
            <a:off x="6172200" y="1234440"/>
            <a:ext cx="5440680" cy="868680"/>
          </a:xfrm>
          <a:prstGeom prst="roundRect">
            <a:avLst>
              <a:gd name="adj" fmla="val 8421"/>
            </a:avLst>
          </a:prstGeom>
          <a:solidFill>
            <a:srgbClr val="EEF3F8"/>
          </a:solidFill>
          <a:ln w="12700">
            <a:solidFill>
              <a:srgbClr val="EEF3F8"/>
            </a:solidFill>
            <a:prstDash val="solid"/>
          </a:ln>
        </p:spPr>
        <p:txBody>
          <a:bodyPr/>
          <a:p/>
        </p:txBody>
      </p:sp>
      <p:sp>
        <p:nvSpPr>
          <p:cNvPr id="36" name="Shape 34"/>
          <p:cNvSpPr/>
          <p:nvPr/>
        </p:nvSpPr>
        <p:spPr>
          <a:xfrm>
            <a:off x="6355080" y="1435608"/>
            <a:ext cx="457200" cy="457200"/>
          </a:xfrm>
          <a:prstGeom prst="ellipse">
            <a:avLst/>
          </a:prstGeom>
          <a:solidFill>
            <a:srgbClr val="FDB515"/>
          </a:solidFill>
          <a:ln w="12700">
            <a:solidFill>
              <a:srgbClr val="FDB515"/>
            </a:solidFill>
            <a:prstDash val="solid"/>
          </a:ln>
        </p:spPr>
        <p:txBody>
          <a:bodyPr/>
          <a:p/>
        </p:txBody>
      </p:sp>
      <p:sp>
        <p:nvSpPr>
          <p:cNvPr id="37" name="Text 35"/>
          <p:cNvSpPr txBox="1"/>
          <p:nvPr/>
        </p:nvSpPr>
        <p:spPr>
          <a:xfrm>
            <a:off x="6355080" y="1435608"/>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6</a:t>
            </a:r>
            <a:endParaRPr lang="en-US" sz="1400" dirty="0"/>
          </a:p>
        </p:txBody>
      </p:sp>
      <p:sp>
        <p:nvSpPr>
          <p:cNvPr id="38" name="Text 36"/>
          <p:cNvSpPr txBox="1"/>
          <p:nvPr/>
        </p:nvSpPr>
        <p:spPr>
          <a:xfrm>
            <a:off x="6949440" y="1325880"/>
            <a:ext cx="3749040" cy="365760"/>
          </a:xfrm>
          <a:prstGeom prst="rect">
            <a:avLst/>
          </a:prstGeom>
          <a:noFill/>
          <a:ln/>
        </p:spPr>
        <p:txBody>
          <a:bodyPr wrap="square" lIns="0" tIns="0" rIns="0" bIns="0" rtlCol="0" anchor="ctr"/>
          <a:lstStyle/>
          <a:p>
            <a:pPr indent="0" marL="0">
              <a:buNone/>
            </a:pPr>
            <a:r>
              <a:rPr lang="en-US" sz="1500" b="1" dirty="0">
                <a:solidFill>
                  <a:srgbClr val="003262"/>
                </a:solidFill>
                <a:latin typeface="Calibri" pitchFamily="34" charset="0"/>
                <a:ea typeface="Calibri" pitchFamily="34" charset="-122"/>
                <a:cs typeface="Calibri" pitchFamily="34" charset="-120"/>
              </a:rPr>
              <a:t>RQ5 · Scaling to ~10 releases</a:t>
            </a:r>
            <a:endParaRPr lang="en-US" sz="1500" dirty="0"/>
          </a:p>
        </p:txBody>
      </p:sp>
      <p:sp>
        <p:nvSpPr>
          <p:cNvPr id="39" name="Text 37"/>
          <p:cNvSpPr txBox="1"/>
          <p:nvPr/>
        </p:nvSpPr>
        <p:spPr>
          <a:xfrm>
            <a:off x="6949440" y="1691640"/>
            <a:ext cx="374904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Notebooks 05, 05b: ~100 trades a year per market</a:t>
            </a:r>
            <a:endParaRPr lang="en-US" sz="1100" dirty="0"/>
          </a:p>
        </p:txBody>
      </p:sp>
      <p:sp>
        <p:nvSpPr>
          <p:cNvPr id="40" name="Text 38"/>
          <p:cNvSpPr txBox="1"/>
          <p:nvPr/>
        </p:nvSpPr>
        <p:spPr>
          <a:xfrm>
            <a:off x="10652760" y="1325880"/>
            <a:ext cx="868680" cy="36576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slides 21–23</a:t>
            </a:r>
            <a:endParaRPr lang="en-US" sz="1100" dirty="0"/>
          </a:p>
        </p:txBody>
      </p:sp>
      <p:sp>
        <p:nvSpPr>
          <p:cNvPr id="41" name="Shape 39"/>
          <p:cNvSpPr/>
          <p:nvPr/>
        </p:nvSpPr>
        <p:spPr>
          <a:xfrm>
            <a:off x="6172200" y="2240280"/>
            <a:ext cx="5440680" cy="868680"/>
          </a:xfrm>
          <a:prstGeom prst="roundRect">
            <a:avLst>
              <a:gd name="adj" fmla="val 8421"/>
            </a:avLst>
          </a:prstGeom>
          <a:solidFill>
            <a:srgbClr val="EEF3F8"/>
          </a:solidFill>
          <a:ln w="12700">
            <a:solidFill>
              <a:srgbClr val="EEF3F8"/>
            </a:solidFill>
            <a:prstDash val="solid"/>
          </a:ln>
        </p:spPr>
        <p:txBody>
          <a:bodyPr/>
          <a:p/>
        </p:txBody>
      </p:sp>
      <p:sp>
        <p:nvSpPr>
          <p:cNvPr id="42" name="Shape 40"/>
          <p:cNvSpPr/>
          <p:nvPr/>
        </p:nvSpPr>
        <p:spPr>
          <a:xfrm>
            <a:off x="6355080" y="2441448"/>
            <a:ext cx="457200" cy="457200"/>
          </a:xfrm>
          <a:prstGeom prst="ellipse">
            <a:avLst/>
          </a:prstGeom>
          <a:solidFill>
            <a:srgbClr val="FDB515"/>
          </a:solidFill>
          <a:ln w="12700">
            <a:solidFill>
              <a:srgbClr val="FDB515"/>
            </a:solidFill>
            <a:prstDash val="solid"/>
          </a:ln>
        </p:spPr>
        <p:txBody>
          <a:bodyPr/>
          <a:p/>
        </p:txBody>
      </p:sp>
      <p:sp>
        <p:nvSpPr>
          <p:cNvPr id="43" name="Text 41"/>
          <p:cNvSpPr txBox="1"/>
          <p:nvPr/>
        </p:nvSpPr>
        <p:spPr>
          <a:xfrm>
            <a:off x="6355080" y="2441448"/>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7</a:t>
            </a:r>
            <a:endParaRPr lang="en-US" sz="1400" dirty="0"/>
          </a:p>
        </p:txBody>
      </p:sp>
      <p:sp>
        <p:nvSpPr>
          <p:cNvPr id="44" name="Text 42"/>
          <p:cNvSpPr txBox="1"/>
          <p:nvPr/>
        </p:nvSpPr>
        <p:spPr>
          <a:xfrm>
            <a:off x="6949440" y="2331720"/>
            <a:ext cx="3749040" cy="365760"/>
          </a:xfrm>
          <a:prstGeom prst="rect">
            <a:avLst/>
          </a:prstGeom>
          <a:noFill/>
          <a:ln/>
        </p:spPr>
        <p:txBody>
          <a:bodyPr wrap="square" lIns="0" tIns="0" rIns="0" bIns="0" rtlCol="0" anchor="ctr"/>
          <a:lstStyle/>
          <a:p>
            <a:pPr indent="0" marL="0">
              <a:buNone/>
            </a:pPr>
            <a:r>
              <a:rPr lang="en-US" sz="1500" b="1" dirty="0">
                <a:solidFill>
                  <a:srgbClr val="003262"/>
                </a:solidFill>
                <a:latin typeface="Calibri" pitchFamily="34" charset="0"/>
                <a:ea typeface="Calibri" pitchFamily="34" charset="-122"/>
                <a:cs typeface="Calibri" pitchFamily="34" charset="-120"/>
              </a:rPr>
              <a:t>RQ6 · DTW and the five-window ladder</a:t>
            </a:r>
            <a:endParaRPr lang="en-US" sz="1500" dirty="0"/>
          </a:p>
        </p:txBody>
      </p:sp>
      <p:sp>
        <p:nvSpPr>
          <p:cNvPr id="45" name="Text 43"/>
          <p:cNvSpPr txBox="1"/>
          <p:nvPr/>
        </p:nvSpPr>
        <p:spPr>
          <a:xfrm>
            <a:off x="6949440" y="2697480"/>
            <a:ext cx="374904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Notebooks 06, 06b: surprise + pattern</a:t>
            </a:r>
            <a:endParaRPr lang="en-US" sz="1100" dirty="0"/>
          </a:p>
        </p:txBody>
      </p:sp>
      <p:sp>
        <p:nvSpPr>
          <p:cNvPr id="46" name="Text 44"/>
          <p:cNvSpPr txBox="1"/>
          <p:nvPr/>
        </p:nvSpPr>
        <p:spPr>
          <a:xfrm>
            <a:off x="10652760" y="2331720"/>
            <a:ext cx="868680" cy="36576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slides 24–27</a:t>
            </a:r>
            <a:endParaRPr lang="en-US" sz="1100" dirty="0"/>
          </a:p>
        </p:txBody>
      </p:sp>
      <p:sp>
        <p:nvSpPr>
          <p:cNvPr id="47" name="Shape 45"/>
          <p:cNvSpPr/>
          <p:nvPr/>
        </p:nvSpPr>
        <p:spPr>
          <a:xfrm>
            <a:off x="6172200" y="3246120"/>
            <a:ext cx="5440680" cy="868680"/>
          </a:xfrm>
          <a:prstGeom prst="roundRect">
            <a:avLst>
              <a:gd name="adj" fmla="val 8421"/>
            </a:avLst>
          </a:prstGeom>
          <a:solidFill>
            <a:srgbClr val="EEF3F8"/>
          </a:solidFill>
          <a:ln w="12700">
            <a:solidFill>
              <a:srgbClr val="EEF3F8"/>
            </a:solidFill>
            <a:prstDash val="solid"/>
          </a:ln>
        </p:spPr>
        <p:txBody>
          <a:bodyPr/>
          <a:p/>
        </p:txBody>
      </p:sp>
      <p:sp>
        <p:nvSpPr>
          <p:cNvPr id="48" name="Shape 46"/>
          <p:cNvSpPr/>
          <p:nvPr/>
        </p:nvSpPr>
        <p:spPr>
          <a:xfrm>
            <a:off x="6355080" y="3447288"/>
            <a:ext cx="457200" cy="457200"/>
          </a:xfrm>
          <a:prstGeom prst="ellipse">
            <a:avLst/>
          </a:prstGeom>
          <a:solidFill>
            <a:srgbClr val="FDB515"/>
          </a:solidFill>
          <a:ln w="12700">
            <a:solidFill>
              <a:srgbClr val="FDB515"/>
            </a:solidFill>
            <a:prstDash val="solid"/>
          </a:ln>
        </p:spPr>
        <p:txBody>
          <a:bodyPr/>
          <a:p/>
        </p:txBody>
      </p:sp>
      <p:sp>
        <p:nvSpPr>
          <p:cNvPr id="49" name="Text 47"/>
          <p:cNvSpPr txBox="1"/>
          <p:nvPr/>
        </p:nvSpPr>
        <p:spPr>
          <a:xfrm>
            <a:off x="6355080" y="3447288"/>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8</a:t>
            </a:r>
            <a:endParaRPr lang="en-US" sz="1400" dirty="0"/>
          </a:p>
        </p:txBody>
      </p:sp>
      <p:sp>
        <p:nvSpPr>
          <p:cNvPr id="50" name="Text 48"/>
          <p:cNvSpPr txBox="1"/>
          <p:nvPr/>
        </p:nvSpPr>
        <p:spPr>
          <a:xfrm>
            <a:off x="6949440" y="3337560"/>
            <a:ext cx="3749040" cy="365760"/>
          </a:xfrm>
          <a:prstGeom prst="rect">
            <a:avLst/>
          </a:prstGeom>
          <a:noFill/>
          <a:ln/>
        </p:spPr>
        <p:txBody>
          <a:bodyPr wrap="square" lIns="0" tIns="0" rIns="0" bIns="0" rtlCol="0" anchor="ctr"/>
          <a:lstStyle/>
          <a:p>
            <a:pPr indent="0" marL="0">
              <a:buNone/>
            </a:pPr>
            <a:r>
              <a:rPr lang="en-US" sz="1500" b="1" dirty="0">
                <a:solidFill>
                  <a:srgbClr val="003262"/>
                </a:solidFill>
                <a:latin typeface="Calibri" pitchFamily="34" charset="0"/>
                <a:ea typeface="Calibri" pitchFamily="34" charset="-122"/>
                <a:cs typeface="Calibri" pitchFamily="34" charset="-120"/>
              </a:rPr>
              <a:t>RQ7 · Portfolio and team comparison</a:t>
            </a:r>
            <a:endParaRPr lang="en-US" sz="1500" dirty="0"/>
          </a:p>
        </p:txBody>
      </p:sp>
      <p:sp>
        <p:nvSpPr>
          <p:cNvPr id="51" name="Text 49"/>
          <p:cNvSpPr txBox="1"/>
          <p:nvPr/>
        </p:nvSpPr>
        <p:spPr>
          <a:xfrm>
            <a:off x="6949440" y="3703320"/>
            <a:ext cx="374904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Notebooks 07, 07b, 08, 08b: ES + NQ + YM; team books at equal costs</a:t>
            </a:r>
            <a:endParaRPr lang="en-US" sz="1100" dirty="0"/>
          </a:p>
        </p:txBody>
      </p:sp>
      <p:sp>
        <p:nvSpPr>
          <p:cNvPr id="52" name="Text 50"/>
          <p:cNvSpPr txBox="1"/>
          <p:nvPr/>
        </p:nvSpPr>
        <p:spPr>
          <a:xfrm>
            <a:off x="10652760" y="3337560"/>
            <a:ext cx="868680" cy="36576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slides 28–35</a:t>
            </a:r>
            <a:endParaRPr lang="en-US" sz="1100" dirty="0"/>
          </a:p>
        </p:txBody>
      </p:sp>
      <p:sp>
        <p:nvSpPr>
          <p:cNvPr id="53" name="Shape 51"/>
          <p:cNvSpPr/>
          <p:nvPr/>
        </p:nvSpPr>
        <p:spPr>
          <a:xfrm>
            <a:off x="6172200" y="4251960"/>
            <a:ext cx="5440680" cy="868680"/>
          </a:xfrm>
          <a:prstGeom prst="roundRect">
            <a:avLst>
              <a:gd name="adj" fmla="val 8421"/>
            </a:avLst>
          </a:prstGeom>
          <a:solidFill>
            <a:srgbClr val="EEF3F8"/>
          </a:solidFill>
          <a:ln w="12700">
            <a:solidFill>
              <a:srgbClr val="EEF3F8"/>
            </a:solidFill>
            <a:prstDash val="solid"/>
          </a:ln>
        </p:spPr>
        <p:txBody>
          <a:bodyPr/>
          <a:p/>
        </p:txBody>
      </p:sp>
      <p:sp>
        <p:nvSpPr>
          <p:cNvPr id="54" name="Shape 52"/>
          <p:cNvSpPr/>
          <p:nvPr/>
        </p:nvSpPr>
        <p:spPr>
          <a:xfrm>
            <a:off x="6355080" y="4453128"/>
            <a:ext cx="457200" cy="457200"/>
          </a:xfrm>
          <a:prstGeom prst="ellipse">
            <a:avLst/>
          </a:prstGeom>
          <a:solidFill>
            <a:srgbClr val="FDB515"/>
          </a:solidFill>
          <a:ln w="12700">
            <a:solidFill>
              <a:srgbClr val="FDB515"/>
            </a:solidFill>
            <a:prstDash val="solid"/>
          </a:ln>
        </p:spPr>
        <p:txBody>
          <a:bodyPr/>
          <a:p/>
        </p:txBody>
      </p:sp>
      <p:sp>
        <p:nvSpPr>
          <p:cNvPr id="55" name="Text 53"/>
          <p:cNvSpPr txBox="1"/>
          <p:nvPr/>
        </p:nvSpPr>
        <p:spPr>
          <a:xfrm>
            <a:off x="6355080" y="4453128"/>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9</a:t>
            </a:r>
            <a:endParaRPr lang="en-US" sz="1400" dirty="0"/>
          </a:p>
        </p:txBody>
      </p:sp>
      <p:sp>
        <p:nvSpPr>
          <p:cNvPr id="56" name="Text 54"/>
          <p:cNvSpPr txBox="1"/>
          <p:nvPr/>
        </p:nvSpPr>
        <p:spPr>
          <a:xfrm>
            <a:off x="6949440" y="4343400"/>
            <a:ext cx="3749040" cy="365760"/>
          </a:xfrm>
          <a:prstGeom prst="rect">
            <a:avLst/>
          </a:prstGeom>
          <a:noFill/>
          <a:ln/>
        </p:spPr>
        <p:txBody>
          <a:bodyPr wrap="square" lIns="0" tIns="0" rIns="0" bIns="0" rtlCol="0" anchor="ctr"/>
          <a:lstStyle/>
          <a:p>
            <a:pPr indent="0" marL="0">
              <a:buNone/>
            </a:pPr>
            <a:r>
              <a:rPr lang="en-US" sz="1500" b="1" dirty="0">
                <a:solidFill>
                  <a:srgbClr val="003262"/>
                </a:solidFill>
                <a:latin typeface="Calibri" pitchFamily="34" charset="0"/>
                <a:ea typeface="Calibri" pitchFamily="34" charset="-122"/>
                <a:cs typeface="Calibri" pitchFamily="34" charset="-120"/>
              </a:rPr>
              <a:t>Discussion and conclusions</a:t>
            </a:r>
            <a:endParaRPr lang="en-US" sz="1500" dirty="0"/>
          </a:p>
        </p:txBody>
      </p:sp>
      <p:sp>
        <p:nvSpPr>
          <p:cNvPr id="57" name="Text 55"/>
          <p:cNvSpPr txBox="1"/>
          <p:nvPr/>
        </p:nvSpPr>
        <p:spPr>
          <a:xfrm>
            <a:off x="6949440" y="4709160"/>
            <a:ext cx="374904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Why equities not bonds · final comparison · recommendations · future work</a:t>
            </a:r>
            <a:endParaRPr lang="en-US" sz="1100" dirty="0"/>
          </a:p>
        </p:txBody>
      </p:sp>
      <p:sp>
        <p:nvSpPr>
          <p:cNvPr id="58" name="Text 56"/>
          <p:cNvSpPr txBox="1"/>
          <p:nvPr/>
        </p:nvSpPr>
        <p:spPr>
          <a:xfrm>
            <a:off x="10652760" y="4343400"/>
            <a:ext cx="868680" cy="36576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slides 36–39</a:t>
            </a:r>
            <a:endParaRPr lang="en-US" sz="1100" dirty="0"/>
          </a:p>
        </p:txBody>
      </p:sp>
      <p:sp>
        <p:nvSpPr>
          <p:cNvPr id="59" name="Shape 57"/>
          <p:cNvSpPr/>
          <p:nvPr/>
        </p:nvSpPr>
        <p:spPr>
          <a:xfrm>
            <a:off x="6172200" y="5257800"/>
            <a:ext cx="5440680" cy="868680"/>
          </a:xfrm>
          <a:prstGeom prst="roundRect">
            <a:avLst>
              <a:gd name="adj" fmla="val 8421"/>
            </a:avLst>
          </a:prstGeom>
          <a:solidFill>
            <a:srgbClr val="003262"/>
          </a:solidFill>
          <a:ln w="12700">
            <a:solidFill>
              <a:srgbClr val="003262"/>
            </a:solidFill>
            <a:prstDash val="solid"/>
          </a:ln>
        </p:spPr>
        <p:txBody>
          <a:bodyPr/>
          <a:p/>
        </p:txBody>
      </p:sp>
      <p:sp>
        <p:nvSpPr>
          <p:cNvPr id="60" name="Text 58"/>
          <p:cNvSpPr txBox="1"/>
          <p:nvPr/>
        </p:nvSpPr>
        <p:spPr>
          <a:xfrm>
            <a:off x="6355080" y="5257800"/>
            <a:ext cx="5120640" cy="868680"/>
          </a:xfrm>
          <a:prstGeom prst="rect">
            <a:avLst/>
          </a:prstGeom>
          <a:noFill/>
          <a:ln/>
        </p:spPr>
        <p:txBody>
          <a:bodyPr wrap="square" lIns="0" tIns="0" rIns="0" bIns="0" rtlCol="0" anchor="ctr"/>
          <a:lstStyle/>
          <a:p>
            <a:pPr indent="0" marL="0">
              <a:buNone/>
            </a:pPr>
            <a:r>
              <a:rPr lang="en-US" sz="1500" b="1" dirty="0">
                <a:solidFill>
                  <a:srgbClr val="FDB515"/>
                </a:solidFill>
                <a:latin typeface="Calibri" pitchFamily="34" charset="0"/>
                <a:ea typeface="Calibri" pitchFamily="34" charset="-122"/>
                <a:cs typeface="Calibri" pitchFamily="34" charset="-120"/>
              </a:rPr>
              <a:t>Slide 40 · Acknowledgements and questions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The answer in one slide</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Walk-forward 2019–2026, entry one minute after the release, net of 2 ticks + $4.50 per round trip</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6" name="Text 4"/>
          <p:cNvSpPr txBox="1"/>
          <p:nvPr/>
        </p:nvSpPr>
        <p:spPr>
          <a:xfrm>
            <a:off x="548640" y="1645920"/>
            <a:ext cx="2651760" cy="777240"/>
          </a:xfrm>
          <a:prstGeom prst="rect">
            <a:avLst/>
          </a:prstGeom>
          <a:noFill/>
          <a:ln/>
        </p:spPr>
        <p:txBody>
          <a:bodyPr wrap="square" lIns="0" tIns="0" rIns="0" bIns="0" rtlCol="0" anchor="ctr"/>
          <a:lstStyle/>
          <a:p>
            <a:pPr algn="l" indent="0" marL="0">
              <a:buNone/>
            </a:pPr>
            <a:r>
              <a:rPr lang="en-US" sz="4000" b="1" dirty="0">
                <a:solidFill>
                  <a:srgbClr val="003262"/>
                </a:solidFill>
                <a:latin typeface="Cambria" pitchFamily="34" charset="0"/>
                <a:ea typeface="Cambria" pitchFamily="34" charset="-122"/>
                <a:cs typeface="Cambria" pitchFamily="34" charset="-120"/>
              </a:rPr>
              <a:t>≈1.0</a:t>
            </a:r>
            <a:endParaRPr lang="en-US" sz="4000" dirty="0"/>
          </a:p>
        </p:txBody>
      </p:sp>
      <p:sp>
        <p:nvSpPr>
          <p:cNvPr id="7" name="Text 5"/>
          <p:cNvSpPr txBox="1"/>
          <p:nvPr/>
        </p:nvSpPr>
        <p:spPr>
          <a:xfrm>
            <a:off x="548640" y="2423160"/>
            <a:ext cx="265176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Net Sharpe of the CPI surprise strategy on ES (0.8–1.0 on NQ and YM)</a:t>
            </a:r>
            <a:endParaRPr lang="en-US" sz="1200" dirty="0"/>
          </a:p>
        </p:txBody>
      </p:sp>
      <p:sp>
        <p:nvSpPr>
          <p:cNvPr id="8" name="Text 6"/>
          <p:cNvSpPr txBox="1"/>
          <p:nvPr/>
        </p:nvSpPr>
        <p:spPr>
          <a:xfrm>
            <a:off x="3383280" y="1645920"/>
            <a:ext cx="2651760" cy="777240"/>
          </a:xfrm>
          <a:prstGeom prst="rect">
            <a:avLst/>
          </a:prstGeom>
          <a:noFill/>
          <a:ln/>
        </p:spPr>
        <p:txBody>
          <a:bodyPr wrap="square" lIns="0" tIns="0" rIns="0" bIns="0" rtlCol="0" anchor="ctr"/>
          <a:lstStyle/>
          <a:p>
            <a:pPr algn="l" indent="0" marL="0">
              <a:buNone/>
            </a:pPr>
            <a:r>
              <a:rPr lang="en-US" sz="4000" b="1" dirty="0">
                <a:solidFill>
                  <a:srgbClr val="003262"/>
                </a:solidFill>
                <a:latin typeface="Cambria" pitchFamily="34" charset="0"/>
                <a:ea typeface="Cambria" pitchFamily="34" charset="-122"/>
                <a:cs typeface="Cambria" pitchFamily="34" charset="-120"/>
              </a:rPr>
              <a:t>0.78</a:t>
            </a:r>
            <a:endParaRPr lang="en-US" sz="4000" dirty="0"/>
          </a:p>
        </p:txBody>
      </p:sp>
      <p:sp>
        <p:nvSpPr>
          <p:cNvPr id="9" name="Text 7"/>
          <p:cNvSpPr txBox="1"/>
          <p:nvPr/>
        </p:nvSpPr>
        <p:spPr>
          <a:xfrm>
            <a:off x="3383280" y="2423160"/>
            <a:ext cx="265176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Net Sharpe of the ES + NQ + YM multi-release book, ~290 trades a year</a:t>
            </a:r>
            <a:endParaRPr lang="en-US" sz="1200" dirty="0"/>
          </a:p>
        </p:txBody>
      </p:sp>
      <p:sp>
        <p:nvSpPr>
          <p:cNvPr id="10" name="Text 8"/>
          <p:cNvSpPr txBox="1"/>
          <p:nvPr/>
        </p:nvSpPr>
        <p:spPr>
          <a:xfrm>
            <a:off x="6217920" y="1645920"/>
            <a:ext cx="2651760" cy="777240"/>
          </a:xfrm>
          <a:prstGeom prst="rect">
            <a:avLst/>
          </a:prstGeom>
          <a:noFill/>
          <a:ln/>
        </p:spPr>
        <p:txBody>
          <a:bodyPr wrap="square" lIns="0" tIns="0" rIns="0" bIns="0" rtlCol="0" anchor="ctr"/>
          <a:lstStyle/>
          <a:p>
            <a:pPr algn="l" indent="0" marL="0">
              <a:buNone/>
            </a:pPr>
            <a:r>
              <a:rPr lang="en-US" sz="4000" b="1" dirty="0">
                <a:solidFill>
                  <a:srgbClr val="003262"/>
                </a:solidFill>
                <a:latin typeface="Cambria" pitchFamily="34" charset="0"/>
                <a:ea typeface="Cambria" pitchFamily="34" charset="-122"/>
                <a:cs typeface="Cambria" pitchFamily="34" charset="-120"/>
              </a:rPr>
              <a:t>30 min</a:t>
            </a:r>
            <a:endParaRPr lang="en-US" sz="4000" dirty="0"/>
          </a:p>
        </p:txBody>
      </p:sp>
      <p:sp>
        <p:nvSpPr>
          <p:cNvPr id="11" name="Text 9"/>
          <p:cNvSpPr txBox="1"/>
          <p:nvPr/>
        </p:nvSpPr>
        <p:spPr>
          <a:xfrm>
            <a:off x="6217920" y="2423160"/>
            <a:ext cx="265176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How long the tradeable drift lasts after the first minute</a:t>
            </a:r>
            <a:endParaRPr lang="en-US" sz="1200" dirty="0"/>
          </a:p>
        </p:txBody>
      </p:sp>
      <p:sp>
        <p:nvSpPr>
          <p:cNvPr id="12" name="Text 10"/>
          <p:cNvSpPr txBox="1"/>
          <p:nvPr/>
        </p:nvSpPr>
        <p:spPr>
          <a:xfrm>
            <a:off x="9052560" y="1645920"/>
            <a:ext cx="2651760" cy="777240"/>
          </a:xfrm>
          <a:prstGeom prst="rect">
            <a:avLst/>
          </a:prstGeom>
          <a:noFill/>
          <a:ln/>
        </p:spPr>
        <p:txBody>
          <a:bodyPr wrap="square" lIns="0" tIns="0" rIns="0" bIns="0" rtlCol="0" anchor="ctr"/>
          <a:lstStyle/>
          <a:p>
            <a:pPr algn="l" indent="0" marL="0">
              <a:buNone/>
            </a:pPr>
            <a:r>
              <a:rPr lang="en-US" sz="4000" b="1" dirty="0">
                <a:solidFill>
                  <a:srgbClr val="B3261E"/>
                </a:solidFill>
                <a:latin typeface="Cambria" pitchFamily="34" charset="0"/>
                <a:ea typeface="Cambria" pitchFamily="34" charset="-122"/>
                <a:cs typeface="Cambria" pitchFamily="34" charset="-120"/>
              </a:rPr>
              <a:t>0 / 0</a:t>
            </a:r>
            <a:endParaRPr lang="en-US" sz="4000" dirty="0"/>
          </a:p>
        </p:txBody>
      </p:sp>
      <p:sp>
        <p:nvSpPr>
          <p:cNvPr id="13" name="Text 11"/>
          <p:cNvSpPr txBox="1"/>
          <p:nvPr/>
        </p:nvSpPr>
        <p:spPr>
          <a:xfrm>
            <a:off x="9052560" y="2423160"/>
            <a:ext cx="265176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Out-of-sample gain from pre-event state / from DTW patterns</a:t>
            </a:r>
            <a:endParaRPr lang="en-US" sz="1200" dirty="0"/>
          </a:p>
        </p:txBody>
      </p:sp>
      <p:sp>
        <p:nvSpPr>
          <p:cNvPr id="14" name="Shape 12"/>
          <p:cNvSpPr/>
          <p:nvPr/>
        </p:nvSpPr>
        <p:spPr>
          <a:xfrm>
            <a:off x="548640" y="3657600"/>
            <a:ext cx="3566160" cy="2468880"/>
          </a:xfrm>
          <a:prstGeom prst="roundRect">
            <a:avLst>
              <a:gd name="adj" fmla="val 2963"/>
            </a:avLst>
          </a:prstGeom>
          <a:solidFill>
            <a:srgbClr val="EEF3F8"/>
          </a:solidFill>
          <a:ln w="12700">
            <a:solidFill>
              <a:srgbClr val="EEF3F8"/>
            </a:solidFill>
            <a:prstDash val="solid"/>
          </a:ln>
        </p:spPr>
        <p:txBody>
          <a:bodyPr/>
          <a:p/>
        </p:txBody>
      </p:sp>
      <p:sp>
        <p:nvSpPr>
          <p:cNvPr id="15" name="Text 13"/>
          <p:cNvSpPr txBox="1"/>
          <p:nvPr/>
        </p:nvSpPr>
        <p:spPr>
          <a:xfrm>
            <a:off x="713232" y="3767328"/>
            <a:ext cx="3236976" cy="2249424"/>
          </a:xfrm>
          <a:prstGeom prst="rect">
            <a:avLst/>
          </a:prstGeom>
          <a:noFill/>
          <a:ln/>
        </p:spPr>
        <p:txBody>
          <a:bodyPr wrap="square" lIns="0" tIns="0" rIns="0" bIns="0" rtlCol="0" anchor="t"/>
          <a:lstStyle/>
          <a:p>
            <a:pPr indent="0" marL="0">
              <a:spcAft>
                <a:spcPts val="600"/>
              </a:spcAft>
              <a:buNone/>
            </a:pPr>
            <a:r>
              <a:rPr lang="en-US" sz="1600" b="1" dirty="0">
                <a:solidFill>
                  <a:srgbClr val="2E7D32"/>
                </a:solidFill>
                <a:latin typeface="Calibri" pitchFamily="34" charset="0"/>
                <a:ea typeface="Calibri" pitchFamily="34" charset="-122"/>
                <a:cs typeface="Calibri" pitchFamily="34" charset="-120"/>
              </a:rPr>
              <a:t>Works</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Macro surprise in equity-index futures (ES, NQ, YM)</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CPI is the core release</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~100 trades a year per market with ~10 releases</a:t>
            </a:r>
            <a:endParaRPr lang="en-US" sz="1600" dirty="0"/>
          </a:p>
        </p:txBody>
      </p:sp>
      <p:sp>
        <p:nvSpPr>
          <p:cNvPr id="16" name="Shape 14"/>
          <p:cNvSpPr/>
          <p:nvPr/>
        </p:nvSpPr>
        <p:spPr>
          <a:xfrm>
            <a:off x="4315968" y="3657600"/>
            <a:ext cx="3566160" cy="2468880"/>
          </a:xfrm>
          <a:prstGeom prst="roundRect">
            <a:avLst>
              <a:gd name="adj" fmla="val 2963"/>
            </a:avLst>
          </a:prstGeom>
          <a:solidFill>
            <a:srgbClr val="EEF3F8"/>
          </a:solidFill>
          <a:ln w="12700">
            <a:solidFill>
              <a:srgbClr val="EEF3F8"/>
            </a:solidFill>
            <a:prstDash val="solid"/>
          </a:ln>
        </p:spPr>
        <p:txBody>
          <a:bodyPr/>
          <a:p/>
        </p:txBody>
      </p:sp>
      <p:sp>
        <p:nvSpPr>
          <p:cNvPr id="17" name="Text 15"/>
          <p:cNvSpPr txBox="1"/>
          <p:nvPr/>
        </p:nvSpPr>
        <p:spPr>
          <a:xfrm>
            <a:off x="4480560" y="3767328"/>
            <a:ext cx="3236976" cy="2249424"/>
          </a:xfrm>
          <a:prstGeom prst="rect">
            <a:avLst/>
          </a:prstGeom>
          <a:noFill/>
          <a:ln/>
        </p:spPr>
        <p:txBody>
          <a:bodyPr wrap="square" lIns="0" tIns="0" rIns="0" bIns="0" rtlCol="0" anchor="t"/>
          <a:lstStyle/>
          <a:p>
            <a:pPr indent="0" marL="0">
              <a:spcAft>
                <a:spcPts val="600"/>
              </a:spcAft>
              <a:buNone/>
            </a:pPr>
            <a:r>
              <a:rPr lang="en-US" sz="1600" b="1" dirty="0">
                <a:solidFill>
                  <a:srgbClr val="B3261E"/>
                </a:solidFill>
                <a:latin typeface="Calibri" pitchFamily="34" charset="0"/>
                <a:ea typeface="Calibri" pitchFamily="34" charset="-122"/>
                <a:cs typeface="Calibri" pitchFamily="34" charset="-120"/>
              </a:rPr>
              <a:t>Does not help</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Pre-event state: predicts the size of the move, not its direction</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DTW price patterns: no reliable directional information (YM blend 1.06, not significant)</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More windows per release</a:t>
            </a:r>
            <a:endParaRPr lang="en-US" sz="1600" dirty="0"/>
          </a:p>
        </p:txBody>
      </p:sp>
      <p:sp>
        <p:nvSpPr>
          <p:cNvPr id="18" name="Shape 16"/>
          <p:cNvSpPr/>
          <p:nvPr/>
        </p:nvSpPr>
        <p:spPr>
          <a:xfrm>
            <a:off x="8083296" y="3657600"/>
            <a:ext cx="3566160" cy="2468880"/>
          </a:xfrm>
          <a:prstGeom prst="roundRect">
            <a:avLst>
              <a:gd name="adj" fmla="val 2963"/>
            </a:avLst>
          </a:prstGeom>
          <a:solidFill>
            <a:srgbClr val="EEF3F8"/>
          </a:solidFill>
          <a:ln w="12700">
            <a:solidFill>
              <a:srgbClr val="EEF3F8"/>
            </a:solidFill>
            <a:prstDash val="solid"/>
          </a:ln>
        </p:spPr>
        <p:txBody>
          <a:bodyPr/>
          <a:p/>
        </p:txBody>
      </p:sp>
      <p:sp>
        <p:nvSpPr>
          <p:cNvPr id="19" name="Text 17"/>
          <p:cNvSpPr txBox="1"/>
          <p:nvPr/>
        </p:nvSpPr>
        <p:spPr>
          <a:xfrm>
            <a:off x="8247888" y="3767328"/>
            <a:ext cx="3236976" cy="2249424"/>
          </a:xfrm>
          <a:prstGeom prst="rect">
            <a:avLst/>
          </a:prstGeom>
          <a:noFill/>
          <a:ln/>
        </p:spPr>
        <p:txBody>
          <a:bodyPr wrap="square" lIns="0" tIns="0" rIns="0" bIns="0" rtlCol="0" anchor="t"/>
          <a:lstStyle/>
          <a:p>
            <a:pPr indent="0" marL="0">
              <a:spcAft>
                <a:spcPts val="600"/>
              </a:spcAft>
              <a:buNone/>
            </a:pPr>
            <a:r>
              <a:rPr lang="en-US" sz="1600" b="1" dirty="0">
                <a:solidFill>
                  <a:srgbClr val="B3261E"/>
                </a:solidFill>
                <a:latin typeface="Calibri" pitchFamily="34" charset="0"/>
                <a:ea typeface="Calibri" pitchFamily="34" charset="-122"/>
                <a:cs typeface="Calibri" pitchFamily="34" charset="-120"/>
              </a:rPr>
              <a:t>Does not work</a:t>
            </a:r>
            <a:endParaRPr lang="en-US" sz="16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ZN (10-year T-note): priced in the first minute; every strategy loses after costs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Why macro releases, and what we asked</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Scheduled information shocks: known time, published expectation, immediate repricing</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600200"/>
            <a:ext cx="4206240" cy="4526280"/>
          </a:xfrm>
          <a:prstGeom prst="roundRect">
            <a:avLst>
              <a:gd name="adj" fmla="val 1739"/>
            </a:avLst>
          </a:prstGeom>
          <a:solidFill>
            <a:srgbClr val="EEF3F8"/>
          </a:solidFill>
          <a:ln w="12700">
            <a:solidFill>
              <a:srgbClr val="EEF3F8"/>
            </a:solidFill>
            <a:prstDash val="solid"/>
          </a:ln>
        </p:spPr>
        <p:txBody>
          <a:bodyPr/>
          <a:p/>
        </p:txBody>
      </p:sp>
      <p:sp>
        <p:nvSpPr>
          <p:cNvPr id="7" name="Text 5"/>
          <p:cNvSpPr txBox="1"/>
          <p:nvPr/>
        </p:nvSpPr>
        <p:spPr>
          <a:xfrm>
            <a:off x="713232" y="1709928"/>
            <a:ext cx="3877056" cy="430682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The opportunity and the problem</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release time and the consensus are known in advance</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Theory predicts the direction: hot inflation → higher rates → lower equities and bond prices</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But the first move happens in milliseconds: a strategy that decides after seeing the number can only trade what comes after the first minute</a:t>
            </a:r>
            <a:endParaRPr lang="en-US" sz="1600" dirty="0"/>
          </a:p>
        </p:txBody>
      </p:sp>
      <p:sp>
        <p:nvSpPr>
          <p:cNvPr id="8" name="Shape 6"/>
          <p:cNvSpPr/>
          <p:nvPr/>
        </p:nvSpPr>
        <p:spPr>
          <a:xfrm>
            <a:off x="5120640" y="1645920"/>
            <a:ext cx="457200" cy="457200"/>
          </a:xfrm>
          <a:prstGeom prst="ellipse">
            <a:avLst/>
          </a:prstGeom>
          <a:solidFill>
            <a:srgbClr val="FDB515"/>
          </a:solidFill>
          <a:ln w="12700">
            <a:solidFill>
              <a:srgbClr val="FDB515"/>
            </a:solidFill>
            <a:prstDash val="solid"/>
          </a:ln>
        </p:spPr>
        <p:txBody>
          <a:bodyPr/>
          <a:p/>
        </p:txBody>
      </p:sp>
      <p:sp>
        <p:nvSpPr>
          <p:cNvPr id="9" name="Text 7"/>
          <p:cNvSpPr txBox="1"/>
          <p:nvPr/>
        </p:nvSpPr>
        <p:spPr>
          <a:xfrm>
            <a:off x="5120640" y="164592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RQ1</a:t>
            </a:r>
            <a:endParaRPr lang="en-US" sz="1400" dirty="0"/>
          </a:p>
        </p:txBody>
      </p:sp>
      <p:sp>
        <p:nvSpPr>
          <p:cNvPr id="10" name="Text 8"/>
          <p:cNvSpPr txBox="1"/>
          <p:nvPr/>
        </p:nvSpPr>
        <p:spPr>
          <a:xfrm>
            <a:off x="5715000" y="1645920"/>
            <a:ext cx="5943600" cy="4572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Which releases move ES, NQ, YM and ZN, and by how much?</a:t>
            </a:r>
            <a:endParaRPr lang="en-US" sz="1500" dirty="0"/>
          </a:p>
        </p:txBody>
      </p:sp>
      <p:sp>
        <p:nvSpPr>
          <p:cNvPr id="11" name="Shape 9"/>
          <p:cNvSpPr/>
          <p:nvPr/>
        </p:nvSpPr>
        <p:spPr>
          <a:xfrm>
            <a:off x="5120640" y="2286000"/>
            <a:ext cx="457200" cy="457200"/>
          </a:xfrm>
          <a:prstGeom prst="ellipse">
            <a:avLst/>
          </a:prstGeom>
          <a:solidFill>
            <a:srgbClr val="FDB515"/>
          </a:solidFill>
          <a:ln w="12700">
            <a:solidFill>
              <a:srgbClr val="FDB515"/>
            </a:solidFill>
            <a:prstDash val="solid"/>
          </a:ln>
        </p:spPr>
        <p:txBody>
          <a:bodyPr/>
          <a:p/>
        </p:txBody>
      </p:sp>
      <p:sp>
        <p:nvSpPr>
          <p:cNvPr id="12" name="Text 10"/>
          <p:cNvSpPr txBox="1"/>
          <p:nvPr/>
        </p:nvSpPr>
        <p:spPr>
          <a:xfrm>
            <a:off x="5120640" y="228600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RQ2</a:t>
            </a:r>
            <a:endParaRPr lang="en-US" sz="1400" dirty="0"/>
          </a:p>
        </p:txBody>
      </p:sp>
      <p:sp>
        <p:nvSpPr>
          <p:cNvPr id="13" name="Text 11"/>
          <p:cNvSpPr txBox="1"/>
          <p:nvPr/>
        </p:nvSpPr>
        <p:spPr>
          <a:xfrm>
            <a:off x="5715000" y="2286000"/>
            <a:ext cx="5943600" cy="4572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How much of the reaction is tradeable after the first minute?</a:t>
            </a:r>
            <a:endParaRPr lang="en-US" sz="1500" dirty="0"/>
          </a:p>
        </p:txBody>
      </p:sp>
      <p:sp>
        <p:nvSpPr>
          <p:cNvPr id="14" name="Shape 12"/>
          <p:cNvSpPr/>
          <p:nvPr/>
        </p:nvSpPr>
        <p:spPr>
          <a:xfrm>
            <a:off x="5120640" y="2926080"/>
            <a:ext cx="457200" cy="457200"/>
          </a:xfrm>
          <a:prstGeom prst="ellipse">
            <a:avLst/>
          </a:prstGeom>
          <a:solidFill>
            <a:srgbClr val="FDB515"/>
          </a:solidFill>
          <a:ln w="12700">
            <a:solidFill>
              <a:srgbClr val="FDB515"/>
            </a:solidFill>
            <a:prstDash val="solid"/>
          </a:ln>
        </p:spPr>
        <p:txBody>
          <a:bodyPr/>
          <a:p/>
        </p:txBody>
      </p:sp>
      <p:sp>
        <p:nvSpPr>
          <p:cNvPr id="15" name="Text 13"/>
          <p:cNvSpPr txBox="1"/>
          <p:nvPr/>
        </p:nvSpPr>
        <p:spPr>
          <a:xfrm>
            <a:off x="5120640" y="292608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RQ3</a:t>
            </a:r>
            <a:endParaRPr lang="en-US" sz="1400" dirty="0"/>
          </a:p>
        </p:txBody>
      </p:sp>
      <p:sp>
        <p:nvSpPr>
          <p:cNvPr id="16" name="Text 14"/>
          <p:cNvSpPr txBox="1"/>
          <p:nvPr/>
        </p:nvSpPr>
        <p:spPr>
          <a:xfrm>
            <a:off x="5715000" y="2926080"/>
            <a:ext cx="5943600" cy="4572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Does the pre-event state change the reaction?</a:t>
            </a:r>
            <a:endParaRPr lang="en-US" sz="1500" dirty="0"/>
          </a:p>
        </p:txBody>
      </p:sp>
      <p:sp>
        <p:nvSpPr>
          <p:cNvPr id="17" name="Shape 15"/>
          <p:cNvSpPr/>
          <p:nvPr/>
        </p:nvSpPr>
        <p:spPr>
          <a:xfrm>
            <a:off x="5120640" y="3566160"/>
            <a:ext cx="457200" cy="457200"/>
          </a:xfrm>
          <a:prstGeom prst="ellipse">
            <a:avLst/>
          </a:prstGeom>
          <a:solidFill>
            <a:srgbClr val="FDB515"/>
          </a:solidFill>
          <a:ln w="12700">
            <a:solidFill>
              <a:srgbClr val="FDB515"/>
            </a:solidFill>
            <a:prstDash val="solid"/>
          </a:ln>
        </p:spPr>
        <p:txBody>
          <a:bodyPr/>
          <a:p/>
        </p:txBody>
      </p:sp>
      <p:sp>
        <p:nvSpPr>
          <p:cNvPr id="18" name="Text 16"/>
          <p:cNvSpPr txBox="1"/>
          <p:nvPr/>
        </p:nvSpPr>
        <p:spPr>
          <a:xfrm>
            <a:off x="5120640" y="356616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RQ4</a:t>
            </a:r>
            <a:endParaRPr lang="en-US" sz="1400" dirty="0"/>
          </a:p>
        </p:txBody>
      </p:sp>
      <p:sp>
        <p:nvSpPr>
          <p:cNvPr id="19" name="Text 17"/>
          <p:cNvSpPr txBox="1"/>
          <p:nvPr/>
        </p:nvSpPr>
        <p:spPr>
          <a:xfrm>
            <a:off x="5715000" y="3566160"/>
            <a:ext cx="5943600" cy="4572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Can it be traded in real time after costs? Does state help?</a:t>
            </a:r>
            <a:endParaRPr lang="en-US" sz="1500" dirty="0"/>
          </a:p>
        </p:txBody>
      </p:sp>
      <p:sp>
        <p:nvSpPr>
          <p:cNvPr id="20" name="Shape 18"/>
          <p:cNvSpPr/>
          <p:nvPr/>
        </p:nvSpPr>
        <p:spPr>
          <a:xfrm>
            <a:off x="5120640" y="4206240"/>
            <a:ext cx="457200" cy="457200"/>
          </a:xfrm>
          <a:prstGeom prst="ellipse">
            <a:avLst/>
          </a:prstGeom>
          <a:solidFill>
            <a:srgbClr val="FDB515"/>
          </a:solidFill>
          <a:ln w="12700">
            <a:solidFill>
              <a:srgbClr val="FDB515"/>
            </a:solidFill>
            <a:prstDash val="solid"/>
          </a:ln>
        </p:spPr>
        <p:txBody>
          <a:bodyPr/>
          <a:p/>
        </p:txBody>
      </p:sp>
      <p:sp>
        <p:nvSpPr>
          <p:cNvPr id="21" name="Text 19"/>
          <p:cNvSpPr txBox="1"/>
          <p:nvPr/>
        </p:nvSpPr>
        <p:spPr>
          <a:xfrm>
            <a:off x="5120640" y="420624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RQ5</a:t>
            </a:r>
            <a:endParaRPr lang="en-US" sz="1400" dirty="0"/>
          </a:p>
        </p:txBody>
      </p:sp>
      <p:sp>
        <p:nvSpPr>
          <p:cNvPr id="22" name="Text 20"/>
          <p:cNvSpPr txBox="1"/>
          <p:nvPr/>
        </p:nvSpPr>
        <p:spPr>
          <a:xfrm>
            <a:off x="5715000" y="4206240"/>
            <a:ext cx="5943600" cy="4572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How many trades a year across many releases?</a:t>
            </a:r>
            <a:endParaRPr lang="en-US" sz="1500" dirty="0"/>
          </a:p>
        </p:txBody>
      </p:sp>
      <p:sp>
        <p:nvSpPr>
          <p:cNvPr id="23" name="Shape 21"/>
          <p:cNvSpPr/>
          <p:nvPr/>
        </p:nvSpPr>
        <p:spPr>
          <a:xfrm>
            <a:off x="5120640" y="4846320"/>
            <a:ext cx="457200" cy="457200"/>
          </a:xfrm>
          <a:prstGeom prst="ellipse">
            <a:avLst/>
          </a:prstGeom>
          <a:solidFill>
            <a:srgbClr val="FDB515"/>
          </a:solidFill>
          <a:ln w="12700">
            <a:solidFill>
              <a:srgbClr val="FDB515"/>
            </a:solidFill>
            <a:prstDash val="solid"/>
          </a:ln>
        </p:spPr>
        <p:txBody>
          <a:bodyPr/>
          <a:p/>
        </p:txBody>
      </p:sp>
      <p:sp>
        <p:nvSpPr>
          <p:cNvPr id="24" name="Text 22"/>
          <p:cNvSpPr txBox="1"/>
          <p:nvPr/>
        </p:nvSpPr>
        <p:spPr>
          <a:xfrm>
            <a:off x="5120640" y="484632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RQ6</a:t>
            </a:r>
            <a:endParaRPr lang="en-US" sz="1400" dirty="0"/>
          </a:p>
        </p:txBody>
      </p:sp>
      <p:sp>
        <p:nvSpPr>
          <p:cNvPr id="25" name="Text 23"/>
          <p:cNvSpPr txBox="1"/>
          <p:nvPr/>
        </p:nvSpPr>
        <p:spPr>
          <a:xfrm>
            <a:off x="5715000" y="4846320"/>
            <a:ext cx="5943600" cy="4572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Does DTW add information? Do more windows help?</a:t>
            </a:r>
            <a:endParaRPr lang="en-US" sz="1500" dirty="0"/>
          </a:p>
        </p:txBody>
      </p:sp>
      <p:sp>
        <p:nvSpPr>
          <p:cNvPr id="26" name="Shape 24"/>
          <p:cNvSpPr/>
          <p:nvPr/>
        </p:nvSpPr>
        <p:spPr>
          <a:xfrm>
            <a:off x="5120640" y="5486400"/>
            <a:ext cx="457200" cy="457200"/>
          </a:xfrm>
          <a:prstGeom prst="ellipse">
            <a:avLst/>
          </a:prstGeom>
          <a:solidFill>
            <a:srgbClr val="FDB515"/>
          </a:solidFill>
          <a:ln w="12700">
            <a:solidFill>
              <a:srgbClr val="FDB515"/>
            </a:solidFill>
            <a:prstDash val="solid"/>
          </a:ln>
        </p:spPr>
        <p:txBody>
          <a:bodyPr/>
          <a:p/>
        </p:txBody>
      </p:sp>
      <p:sp>
        <p:nvSpPr>
          <p:cNvPr id="27" name="Text 25"/>
          <p:cNvSpPr txBox="1"/>
          <p:nvPr/>
        </p:nvSpPr>
        <p:spPr>
          <a:xfrm>
            <a:off x="5120640" y="548640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RQ7</a:t>
            </a:r>
            <a:endParaRPr lang="en-US" sz="1400" dirty="0"/>
          </a:p>
        </p:txBody>
      </p:sp>
      <p:sp>
        <p:nvSpPr>
          <p:cNvPr id="28" name="Text 26"/>
          <p:cNvSpPr txBox="1"/>
          <p:nvPr/>
        </p:nvSpPr>
        <p:spPr>
          <a:xfrm>
            <a:off x="5715000" y="5486400"/>
            <a:ext cx="5943600" cy="4572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Do markets combine? How does the team compare at equal costs?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Four markets, three ways to react to the same news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pic>
        <p:nvPicPr>
          <p:cNvPr id="9" name="Picture 8" descr="fig01_markets_overview_4m.png"/>
          <p:cNvPicPr>
            <a:picLocks noChangeAspect="1"/>
          </p:cNvPicPr>
          <p:nvPr/>
        </p:nvPicPr>
        <p:blipFill>
          <a:blip r:embed="rId4"/>
          <a:stretch>
            <a:fillRect/>
          </a:stretch>
        </p:blipFill>
        <p:spPr>
          <a:xfrm>
            <a:off x="457200" y="1280160"/>
            <a:ext cx="5643154" cy="493776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269480" y="1280160"/>
          <a:ext cx="4389116" cy="2084832"/>
        </p:xfrm>
        <a:graphic>
          <a:graphicData uri="http://schemas.openxmlformats.org/drawingml/2006/table">
            <a:tbl>
              <a:tblPr/>
              <a:tblGrid>
                <a:gridCol w="1362140"/>
                <a:gridCol w="756744"/>
                <a:gridCol w="756744"/>
                <a:gridCol w="756744"/>
                <a:gridCol w="756744"/>
              </a:tblGrid>
              <a:tr h="347472">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b="1" dirty="0">
                          <a:solidFill>
                            <a:srgbClr val="1F4E79"/>
                          </a:solidFill>
                          <a:latin typeface="Calibri" pitchFamily="34" charset="0"/>
                          <a:ea typeface="Calibri" pitchFamily="34" charset="-122"/>
                          <a:cs typeface="Calibri" pitchFamily="34" charset="-120"/>
                        </a:rPr>
                        <a:t>ES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b="1" dirty="0">
                          <a:solidFill>
                            <a:srgbClr val="7A3E9D"/>
                          </a:solidFill>
                          <a:latin typeface="Calibri" pitchFamily="34" charset="0"/>
                          <a:ea typeface="Calibri" pitchFamily="34" charset="-122"/>
                          <a:cs typeface="Calibri" pitchFamily="34" charset="-120"/>
                        </a:rPr>
                        <a:t>NQ</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b="1" dirty="0">
                          <a:solidFill>
                            <a:srgbClr val="7A3E9D"/>
                          </a:solidFill>
                          <a:latin typeface="Calibri" pitchFamily="34" charset="0"/>
                          <a:ea typeface="Calibri" pitchFamily="34" charset="-122"/>
                          <a:cs typeface="Calibri" pitchFamily="34" charset="-120"/>
                        </a:rPr>
                        <a:t>YM</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ZN</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Underlying</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S&amp;P 500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Nasdaq-100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Dow</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10-yr T-note</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Value of a tick</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$12.50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$15.63</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Cost (2 ticks + $4.50)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≈1.7 bps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≈0.7 bps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≈1.0 bps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≈3.0 bps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Buy &amp; hold 2019–26</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+218%</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+348%</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+141%</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−10.5%</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Hot CPI print</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down</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down more</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down</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down (yields up)</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Shape 3"/>
          <p:cNvSpPr/>
          <p:nvPr/>
        </p:nvSpPr>
        <p:spPr>
          <a:xfrm>
            <a:off x="7269480" y="4069080"/>
            <a:ext cx="4389120" cy="2103120"/>
          </a:xfrm>
          <a:prstGeom prst="roundRect">
            <a:avLst>
              <a:gd name="adj" fmla="val 3478"/>
            </a:avLst>
          </a:prstGeom>
          <a:solidFill>
            <a:srgbClr val="EEF3F8"/>
          </a:solidFill>
          <a:ln w="12700">
            <a:solidFill>
              <a:srgbClr val="EEF3F8"/>
            </a:solidFill>
            <a:prstDash val="solid"/>
          </a:ln>
        </p:spPr>
        <p:txBody>
          <a:bodyPr/>
          <a:p/>
        </p:txBody>
      </p:sp>
      <p:sp>
        <p:nvSpPr>
          <p:cNvPr id="8" name="Text 4"/>
          <p:cNvSpPr txBox="1"/>
          <p:nvPr/>
        </p:nvSpPr>
        <p:spPr>
          <a:xfrm>
            <a:off x="7434072" y="4178808"/>
            <a:ext cx="4059936" cy="188366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Why these four</a:t>
            </a:r>
            <a:endParaRPr lang="en-US" sz="1600" dirty="0"/>
          </a:p>
          <a:p>
            <a:pPr marL="177800" indent="-1778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Is the effect a property of one contract, of equity indices, or of rate-sensitive markets?</a:t>
            </a:r>
            <a:endParaRPr lang="en-US" sz="1600" dirty="0"/>
          </a:p>
          <a:p>
            <a:pPr marL="177800" indent="-1778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NQ: long-duration tech → more rate-sensitive</a:t>
            </a:r>
            <a:endParaRPr lang="en-US" sz="1600" dirty="0"/>
          </a:p>
          <a:p>
            <a:pPr marL="177800" indent="-1778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YM: the same index family with more industrials and banks, added later as an out-of-sample check</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A release produces a jump, then a drift</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Average path around 74 CPI releases with |surprise| &gt; 0.5 SD, 2016–2026</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pic>
        <p:nvPicPr>
          <p:cNvPr id="13" name="Picture 12" descr="fig02_cpi_event_paths_4m.png"/>
          <p:cNvPicPr>
            <a:picLocks noChangeAspect="1"/>
          </p:cNvPicPr>
          <p:nvPr/>
        </p:nvPicPr>
        <p:blipFill>
          <a:blip r:embed="rId4"/>
          <a:stretch>
            <a:fillRect/>
          </a:stretch>
        </p:blipFill>
        <p:spPr>
          <a:xfrm>
            <a:off x="457200" y="1467612"/>
            <a:ext cx="11247120" cy="2722986"/>
          </a:xfrm>
          <a:prstGeom prst="rect">
            <a:avLst/>
          </a:prstGeom>
        </p:spPr>
      </p:pic>
      <p:sp>
        <p:nvSpPr>
          <p:cNvPr id="7" name="Text 4"/>
          <p:cNvSpPr txBox="1"/>
          <p:nvPr/>
        </p:nvSpPr>
        <p:spPr>
          <a:xfrm>
            <a:off x="548640" y="4892040"/>
            <a:ext cx="2697480" cy="777240"/>
          </a:xfrm>
          <a:prstGeom prst="rect">
            <a:avLst/>
          </a:prstGeom>
          <a:noFill/>
          <a:ln/>
        </p:spPr>
        <p:txBody>
          <a:bodyPr wrap="square" lIns="0" tIns="0" rIns="0" bIns="0" rtlCol="0" anchor="ctr"/>
          <a:lstStyle/>
          <a:p>
            <a:pPr algn="l" indent="0" marL="0">
              <a:buNone/>
            </a:pPr>
            <a:r>
              <a:rPr lang="en-US" sz="3000" b="1" dirty="0">
                <a:solidFill>
                  <a:srgbClr val="1F4E79"/>
                </a:solidFill>
                <a:latin typeface="Cambria" pitchFamily="34" charset="0"/>
                <a:ea typeface="Cambria" pitchFamily="34" charset="-122"/>
                <a:cs typeface="Cambria" pitchFamily="34" charset="-120"/>
              </a:rPr>
              <a:t>−37 → −55 bps</a:t>
            </a:r>
            <a:endParaRPr lang="en-US" sz="4000" dirty="0"/>
          </a:p>
        </p:txBody>
      </p:sp>
      <p:sp>
        <p:nvSpPr>
          <p:cNvPr id="8" name="Text 5"/>
          <p:cNvSpPr txBox="1"/>
          <p:nvPr/>
        </p:nvSpPr>
        <p:spPr>
          <a:xfrm>
            <a:off x="548640" y="5669280"/>
            <a:ext cx="269748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ES after a hot CPI print: first-minute jump, then T+30</a:t>
            </a:r>
            <a:endParaRPr lang="en-US" sz="1200" dirty="0"/>
          </a:p>
        </p:txBody>
      </p:sp>
      <p:sp>
        <p:nvSpPr>
          <p:cNvPr id="9" name="Text 6"/>
          <p:cNvSpPr txBox="1"/>
          <p:nvPr/>
        </p:nvSpPr>
        <p:spPr>
          <a:xfrm>
            <a:off x="3337560" y="4892040"/>
            <a:ext cx="2697480" cy="777240"/>
          </a:xfrm>
          <a:prstGeom prst="rect">
            <a:avLst/>
          </a:prstGeom>
          <a:noFill/>
          <a:ln/>
        </p:spPr>
        <p:txBody>
          <a:bodyPr wrap="square" lIns="0" tIns="0" rIns="0" bIns="0" rtlCol="0" anchor="ctr"/>
          <a:lstStyle/>
          <a:p>
            <a:pPr algn="l" indent="0" marL="0">
              <a:buNone/>
            </a:pPr>
            <a:r>
              <a:rPr lang="en-US" sz="3000" b="1" dirty="0">
                <a:solidFill>
                  <a:srgbClr val="7A3E9D"/>
                </a:solidFill>
                <a:latin typeface="Cambria" pitchFamily="34" charset="0"/>
                <a:ea typeface="Cambria" pitchFamily="34" charset="-122"/>
                <a:cs typeface="Cambria" pitchFamily="34" charset="-120"/>
              </a:rPr>
              <a:t>−55 → −77 bps</a:t>
            </a:r>
            <a:endParaRPr lang="en-US" sz="4000" dirty="0"/>
          </a:p>
        </p:txBody>
      </p:sp>
      <p:sp>
        <p:nvSpPr>
          <p:cNvPr id="10" name="Text 7"/>
          <p:cNvSpPr txBox="1"/>
          <p:nvPr/>
        </p:nvSpPr>
        <p:spPr>
          <a:xfrm>
            <a:off x="3337560" y="5669280"/>
            <a:ext cx="269748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NQ: larger jump and larger drift</a:t>
            </a:r>
            <a:endParaRPr lang="en-US" sz="1200" dirty="0"/>
          </a:p>
        </p:txBody>
      </p:sp>
      <p:sp>
        <p:nvSpPr>
          <p:cNvPr id="11" name="Text 8"/>
          <p:cNvSpPr txBox="1"/>
          <p:nvPr/>
        </p:nvSpPr>
        <p:spPr>
          <a:xfrm>
            <a:off x="6126480" y="4892040"/>
            <a:ext cx="2697480" cy="777240"/>
          </a:xfrm>
          <a:prstGeom prst="rect">
            <a:avLst/>
          </a:prstGeom>
          <a:noFill/>
          <a:ln/>
        </p:spPr>
        <p:txBody>
          <a:bodyPr wrap="square" lIns="0" tIns="0" rIns="0" bIns="0" rtlCol="0" anchor="ctr"/>
          <a:lstStyle/>
          <a:p>
            <a:pPr algn="l" indent="0" marL="0">
              <a:buNone/>
            </a:pPr>
            <a:r>
              <a:rPr lang="en-US" sz="3000" b="1" dirty="0">
                <a:solidFill>
                  <a:srgbClr val="B5651D"/>
                </a:solidFill>
                <a:latin typeface="Cambria" pitchFamily="34" charset="0"/>
                <a:ea typeface="Cambria" pitchFamily="34" charset="-122"/>
                <a:cs typeface="Cambria" pitchFamily="34" charset="-120"/>
              </a:rPr>
              <a:t>−31 → −48 bps</a:t>
            </a:r>
            <a:endParaRPr lang="en-US" sz="4000" dirty="0"/>
          </a:p>
        </p:txBody>
      </p:sp>
      <p:sp>
        <p:nvSpPr>
          <p:cNvPr id="12" name="Text 9"/>
          <p:cNvSpPr txBox="1"/>
          <p:nvPr/>
        </p:nvSpPr>
        <p:spPr>
          <a:xfrm>
            <a:off x="6126480" y="5669280"/>
            <a:ext cx="269748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YM: a slightly smaller ES</a:t>
            </a:r>
            <a:endParaRPr lang="en-US" sz="1200" dirty="0"/>
          </a:p>
        </p:txBody>
      </p:sp>
      <p:sp>
        <p:nvSpPr>
          <p:cNvPr id="11" name="Text 8"/>
          <p:cNvSpPr txBox="1"/>
          <p:nvPr/>
        </p:nvSpPr>
        <p:spPr>
          <a:xfrm>
            <a:off x="8915400" y="4892040"/>
            <a:ext cx="2697480" cy="777240"/>
          </a:xfrm>
          <a:prstGeom prst="rect">
            <a:avLst/>
          </a:prstGeom>
          <a:noFill/>
          <a:ln/>
        </p:spPr>
        <p:txBody>
          <a:bodyPr wrap="square" lIns="0" tIns="0" rIns="0" bIns="0" rtlCol="0" anchor="ctr"/>
          <a:lstStyle/>
          <a:p>
            <a:pPr algn="l" indent="0" marL="0">
              <a:buNone/>
            </a:pPr>
            <a:r>
              <a:rPr lang="en-US" sz="3000" b="1" dirty="0">
                <a:solidFill>
                  <a:srgbClr val="2E7D32"/>
                </a:solidFill>
                <a:latin typeface="Cambria" pitchFamily="34" charset="0"/>
                <a:ea typeface="Cambria" pitchFamily="34" charset="-122"/>
                <a:cs typeface="Cambria" pitchFamily="34" charset="-120"/>
              </a:rPr>
              <a:t>−19 → −24 bps</a:t>
            </a:r>
            <a:endParaRPr lang="en-US" sz="4000" dirty="0"/>
          </a:p>
        </p:txBody>
      </p:sp>
      <p:sp>
        <p:nvSpPr>
          <p:cNvPr id="12" name="Text 9"/>
          <p:cNvSpPr txBox="1"/>
          <p:nvPr/>
        </p:nvSpPr>
        <p:spPr>
          <a:xfrm>
            <a:off x="8915400" y="5669280"/>
            <a:ext cx="269748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ZN: almost nothing left after the first minute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Two signal families, plus the market state</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548640" y="1280160"/>
            <a:ext cx="3657600" cy="4846320"/>
          </a:xfrm>
          <a:prstGeom prst="roundRect">
            <a:avLst>
              <a:gd name="adj" fmla="val 2000"/>
            </a:avLst>
          </a:prstGeom>
          <a:solidFill>
            <a:srgbClr val="EEF3F8"/>
          </a:solidFill>
          <a:ln w="12700">
            <a:solidFill>
              <a:srgbClr val="EEF3F8"/>
            </a:solidFill>
            <a:prstDash val="solid"/>
          </a:ln>
        </p:spPr>
        <p:txBody>
          <a:bodyPr/>
          <a:p/>
        </p:txBody>
      </p:sp>
      <p:sp>
        <p:nvSpPr>
          <p:cNvPr id="6" name="Text 4"/>
          <p:cNvSpPr txBox="1"/>
          <p:nvPr/>
        </p:nvSpPr>
        <p:spPr>
          <a:xfrm>
            <a:off x="713232" y="1389888"/>
            <a:ext cx="3328416" cy="462686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1 · Macro surprise</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Surprise = actual − Bloomberg consensus</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Standardised causally by the SD of previous surprises (≥ 24), capped at ±5σ</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Line signs from the historical jump; lines released together form a family</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x &gt; 0 always means good news for that market (NFP sign reversed for ZN)</a:t>
            </a:r>
            <a:endParaRPr lang="en-US" sz="1600" dirty="0"/>
          </a:p>
        </p:txBody>
      </p:sp>
      <p:sp>
        <p:nvSpPr>
          <p:cNvPr id="7" name="Shape 5"/>
          <p:cNvSpPr/>
          <p:nvPr/>
        </p:nvSpPr>
        <p:spPr>
          <a:xfrm>
            <a:off x="4270248" y="1280160"/>
            <a:ext cx="3657600" cy="4846320"/>
          </a:xfrm>
          <a:prstGeom prst="roundRect">
            <a:avLst>
              <a:gd name="adj" fmla="val 2000"/>
            </a:avLst>
          </a:prstGeom>
          <a:solidFill>
            <a:srgbClr val="EEF3F8"/>
          </a:solidFill>
          <a:ln w="12700">
            <a:solidFill>
              <a:srgbClr val="EEF3F8"/>
            </a:solidFill>
            <a:prstDash val="solid"/>
          </a:ln>
        </p:spPr>
        <p:txBody>
          <a:bodyPr/>
          <a:p/>
        </p:txBody>
      </p:sp>
      <p:sp>
        <p:nvSpPr>
          <p:cNvPr id="8" name="Text 6"/>
          <p:cNvSpPr txBox="1"/>
          <p:nvPr/>
        </p:nvSpPr>
        <p:spPr>
          <a:xfrm>
            <a:off x="4434840" y="1389888"/>
            <a:ext cx="3328416" cy="462686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2 · DTW price pattern (team spec)</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Query: z-scored 31-minute path ending at entry</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Library: earlier releases at the same clock time, 3-year lookback, ≤ 600</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k = 15 nearest, band 5, weights 1/distance × 2-year half-life</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Trade the neighbours' average next-30-min return if outside the middle 40%</a:t>
            </a:r>
            <a:endParaRPr lang="en-US" sz="1600" dirty="0"/>
          </a:p>
        </p:txBody>
      </p:sp>
      <p:sp>
        <p:nvSpPr>
          <p:cNvPr id="9" name="Shape 7"/>
          <p:cNvSpPr/>
          <p:nvPr/>
        </p:nvSpPr>
        <p:spPr>
          <a:xfrm>
            <a:off x="7991856" y="1280160"/>
            <a:ext cx="3657600" cy="4846320"/>
          </a:xfrm>
          <a:prstGeom prst="roundRect">
            <a:avLst>
              <a:gd name="adj" fmla="val 2000"/>
            </a:avLst>
          </a:prstGeom>
          <a:solidFill>
            <a:srgbClr val="EEF3F8"/>
          </a:solidFill>
          <a:ln w="12700">
            <a:solidFill>
              <a:srgbClr val="EEF3F8"/>
            </a:solidFill>
            <a:prstDash val="solid"/>
          </a:ln>
        </p:spPr>
        <p:txBody>
          <a:bodyPr/>
          <a:p/>
        </p:txBody>
      </p:sp>
      <p:sp>
        <p:nvSpPr>
          <p:cNvPr id="10" name="Text 8"/>
          <p:cNvSpPr txBox="1"/>
          <p:nvPr/>
        </p:nvSpPr>
        <p:spPr>
          <a:xfrm>
            <a:off x="8156448" y="1389888"/>
            <a:ext cx="3328416" cy="462686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3 · Pre-event state</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Six pre-registered states: 20-day vol, 1-day vol, 20-day momentum, 60-day drawdown, overnight move, previous surprise</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Causal percentiles against a trailing one-year window</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Used to scale or filter the surprise trade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Method: executable, walk-forward, cost-aware</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pic>
        <p:nvPicPr>
          <p:cNvPr id="5" name="Image 0" descr="/home/claude/pdf/figures/diagram_timing.png">    </p:cNvPr>
          <p:cNvPicPr>
            <a:picLocks noChangeAspect="1"/>
          </p:cNvPicPr>
          <p:nvPr/>
        </p:nvPicPr>
        <p:blipFill>
          <a:blip r:embed="rId1"/>
          <a:stretch>
            <a:fillRect/>
          </a:stretch>
        </p:blipFill>
        <p:spPr>
          <a:xfrm>
            <a:off x="2212145" y="1188720"/>
            <a:ext cx="7737231" cy="2011680"/>
          </a:xfrm>
          <a:prstGeom prst="rect">
            <a:avLst/>
          </a:prstGeom>
        </p:spPr>
      </p:pic>
      <p:sp>
        <p:nvSpPr>
          <p:cNvPr id="6" name="Shape 3"/>
          <p:cNvSpPr/>
          <p:nvPr/>
        </p:nvSpPr>
        <p:spPr>
          <a:xfrm>
            <a:off x="548640" y="3429000"/>
            <a:ext cx="5440680" cy="1234440"/>
          </a:xfrm>
          <a:prstGeom prst="roundRect">
            <a:avLst>
              <a:gd name="adj" fmla="val 5926"/>
            </a:avLst>
          </a:prstGeom>
          <a:solidFill>
            <a:srgbClr val="EEF3F8"/>
          </a:solidFill>
          <a:ln w="12700">
            <a:solidFill>
              <a:srgbClr val="EEF3F8"/>
            </a:solidFill>
            <a:prstDash val="solid"/>
          </a:ln>
        </p:spPr>
      </p:sp>
      <p:sp>
        <p:nvSpPr>
          <p:cNvPr id="7" name="Text 4"/>
          <p:cNvSpPr txBox="1"/>
          <p:nvPr/>
        </p:nvSpPr>
        <p:spPr>
          <a:xfrm>
            <a:off x="713232" y="3538728"/>
            <a:ext cx="5111496" cy="101498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Entry</a:t>
            </a:r>
            <a:endParaRPr lang="en-US" sz="16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Close of the first post-release bar (≈ T+1 min); exit at T+30. The jump is never traded</a:t>
            </a:r>
            <a:endParaRPr lang="en-US" sz="1600" dirty="0"/>
          </a:p>
        </p:txBody>
      </p:sp>
      <p:sp>
        <p:nvSpPr>
          <p:cNvPr id="8" name="Shape 5"/>
          <p:cNvSpPr/>
          <p:nvPr/>
        </p:nvSpPr>
        <p:spPr>
          <a:xfrm>
            <a:off x="6172200" y="3429000"/>
            <a:ext cx="5440680" cy="1234440"/>
          </a:xfrm>
          <a:prstGeom prst="roundRect">
            <a:avLst>
              <a:gd name="adj" fmla="val 5926"/>
            </a:avLst>
          </a:prstGeom>
          <a:solidFill>
            <a:srgbClr val="EEF3F8"/>
          </a:solidFill>
          <a:ln w="12700">
            <a:solidFill>
              <a:srgbClr val="EEF3F8"/>
            </a:solidFill>
            <a:prstDash val="solid"/>
          </a:ln>
        </p:spPr>
      </p:sp>
      <p:sp>
        <p:nvSpPr>
          <p:cNvPr id="9" name="Text 6"/>
          <p:cNvSpPr txBox="1"/>
          <p:nvPr/>
        </p:nvSpPr>
        <p:spPr>
          <a:xfrm>
            <a:off x="6336792" y="3538728"/>
            <a:ext cx="5111496" cy="101498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Walk-forward</a:t>
            </a:r>
            <a:endParaRPr lang="en-US" sz="16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Every sign, screen, model and gate uses only earlier releases; evaluation 2019–2026</a:t>
            </a:r>
            <a:endParaRPr lang="en-US" sz="1600" dirty="0"/>
          </a:p>
        </p:txBody>
      </p:sp>
      <p:sp>
        <p:nvSpPr>
          <p:cNvPr id="10" name="Shape 7"/>
          <p:cNvSpPr/>
          <p:nvPr/>
        </p:nvSpPr>
        <p:spPr>
          <a:xfrm>
            <a:off x="548640" y="4846320"/>
            <a:ext cx="5440680" cy="1234440"/>
          </a:xfrm>
          <a:prstGeom prst="roundRect">
            <a:avLst>
              <a:gd name="adj" fmla="val 5926"/>
            </a:avLst>
          </a:prstGeom>
          <a:solidFill>
            <a:srgbClr val="EEF3F8"/>
          </a:solidFill>
          <a:ln w="12700">
            <a:solidFill>
              <a:srgbClr val="EEF3F8"/>
            </a:solidFill>
            <a:prstDash val="solid"/>
          </a:ln>
        </p:spPr>
      </p:sp>
      <p:sp>
        <p:nvSpPr>
          <p:cNvPr id="11" name="Text 8"/>
          <p:cNvSpPr txBox="1"/>
          <p:nvPr/>
        </p:nvSpPr>
        <p:spPr>
          <a:xfrm>
            <a:off x="713232" y="4956048"/>
            <a:ext cx="5111496" cy="101498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Costs</a:t>
            </a:r>
            <a:endParaRPr lang="en-US" sz="16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2 ticks + $4.50 per round trip; sensitivity 0–8 ticks and the team's ¼ tick per side</a:t>
            </a:r>
            <a:endParaRPr lang="en-US" sz="1600" dirty="0"/>
          </a:p>
        </p:txBody>
      </p:sp>
      <p:sp>
        <p:nvSpPr>
          <p:cNvPr id="12" name="Shape 9"/>
          <p:cNvSpPr/>
          <p:nvPr/>
        </p:nvSpPr>
        <p:spPr>
          <a:xfrm>
            <a:off x="6172200" y="4846320"/>
            <a:ext cx="5440680" cy="1234440"/>
          </a:xfrm>
          <a:prstGeom prst="roundRect">
            <a:avLst>
              <a:gd name="adj" fmla="val 5926"/>
            </a:avLst>
          </a:prstGeom>
          <a:solidFill>
            <a:srgbClr val="EEF3F8"/>
          </a:solidFill>
          <a:ln w="12700">
            <a:solidFill>
              <a:srgbClr val="EEF3F8"/>
            </a:solidFill>
            <a:prstDash val="solid"/>
          </a:ln>
        </p:spPr>
      </p:sp>
      <p:sp>
        <p:nvSpPr>
          <p:cNvPr id="13" name="Text 10"/>
          <p:cNvSpPr txBox="1"/>
          <p:nvPr/>
        </p:nvSpPr>
        <p:spPr>
          <a:xfrm>
            <a:off x="6336792" y="4956048"/>
            <a:ext cx="5111496" cy="101498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Statistics</a:t>
            </a:r>
            <a:endParaRPr lang="en-US" sz="16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HC3 errors, BH-FDR, permutation and random-sign tests, block-bootstrap Sharpe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Research pipeline: 8 notebooks, repeated for NQ, YM and ZN</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pic>
        <p:nvPicPr>
          <p:cNvPr id="5" name="Image 0" descr="/home/claude/pdf/figures/diagram_pipeline.png">    </p:cNvPr>
          <p:cNvPicPr>
            <a:picLocks noChangeAspect="1"/>
          </p:cNvPicPr>
          <p:nvPr/>
        </p:nvPicPr>
        <p:blipFill>
          <a:blip r:embed="rId1"/>
          <a:stretch>
            <a:fillRect/>
          </a:stretch>
        </p:blipFill>
        <p:spPr>
          <a:xfrm>
            <a:off x="1951212" y="1188720"/>
            <a:ext cx="8259097" cy="5120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RQ1 · CPI is the release that moves all four markets</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Notebooks 02 and 02b: 363 CPI, NFP and PCE releases, 2016–2026</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graphicFrame>
        <p:nvGraphicFramePr>
          <p:cNvPr id="6" name="Chart 0" descr=""/>
          <p:cNvGraphicFramePr/>
          <p:nvPr/>
        </p:nvGraphicFramePr>
        <p:xfrm>
          <a:off x="548640" y="1554480"/>
          <a:ext cx="576072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75120" y="1645920"/>
          <a:ext cx="4937760" cy="2084832"/>
        </p:xfrm>
        <a:graphic>
          <a:graphicData uri="http://schemas.openxmlformats.org/drawingml/2006/table">
            <a:tbl>
              <a:tblPr/>
              <a:tblGrid>
                <a:gridCol w="2194560"/>
                <a:gridCol w="914400"/>
                <a:gridCol w="914400"/>
                <a:gridCol w="914400"/>
              </a:tblGrid>
              <a:tr h="347472">
                <a:tc>
                  <a:txBody>
                    <a:bodyPr/>
                    <a:lstStyle/>
                    <a:p>
                      <a:pPr indent="0" marL="0">
                        <a:buNone/>
                      </a:pP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CPI</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NFP</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PCE</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47472">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Mean |30-min move|, ES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38.5 bps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29.6 bps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14.7 bps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47472">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R², 5 min, ES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0.27</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0.03</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47472">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R², 5 min, NQ</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0.30</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0.01</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47472">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R², 5 min, YM</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0.27</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0.07</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0.09</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47472">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R², 5 min, ZN</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0.30</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0.03</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0.04</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8" name="Shape 4"/>
          <p:cNvSpPr/>
          <p:nvPr/>
        </p:nvSpPr>
        <p:spPr>
          <a:xfrm>
            <a:off x="6675120" y="4023360"/>
            <a:ext cx="4937760" cy="2011680"/>
          </a:xfrm>
          <a:prstGeom prst="roundRect">
            <a:avLst>
              <a:gd name="adj" fmla="val 3404"/>
            </a:avLst>
          </a:prstGeom>
          <a:solidFill>
            <a:srgbClr val="EEF3F8"/>
          </a:solidFill>
          <a:ln w="12700">
            <a:solidFill>
              <a:srgbClr val="EEF3F8"/>
            </a:solidFill>
            <a:prstDash val="solid"/>
          </a:ln>
        </p:spPr>
        <p:txBody>
          <a:bodyPr/>
          <a:p/>
        </p:txBody>
      </p:sp>
      <p:sp>
        <p:nvSpPr>
          <p:cNvPr id="9" name="Text 5"/>
          <p:cNvSpPr txBox="1"/>
          <p:nvPr/>
        </p:nvSpPr>
        <p:spPr>
          <a:xfrm>
            <a:off x="6839712" y="4133088"/>
            <a:ext cx="4608576" cy="179222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Takeaway</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CPI: large move and a predictable direction in every market</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NFP moves markets as much, but its surprise explains only 1–3%: jobs, unemployment and wages often disagree</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NQ reacts ~35% more than ES (rate-sensitive tech); YM ~92% of 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RQ1 · How much ES moves, and how much the surprise explains</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Notebook 02, ES: 122 CPI, 122 NFP and 121 PCE releases, 2016–2026</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pic>
        <p:nvPicPr>
          <p:cNvPr id="6" name="Image 0" descr="/home/claude/pdf/figures/macro_market_impact.png">    </p:cNvPr>
          <p:cNvPicPr>
            <a:picLocks noChangeAspect="1"/>
          </p:cNvPicPr>
          <p:nvPr/>
        </p:nvPicPr>
        <p:blipFill>
          <a:blip r:embed="rId1"/>
          <a:stretch>
            <a:fillRect/>
          </a:stretch>
        </p:blipFill>
        <p:spPr>
          <a:xfrm>
            <a:off x="457200" y="1494575"/>
            <a:ext cx="5577840" cy="3320210"/>
          </a:xfrm>
          <a:prstGeom prst="rect">
            <a:avLst/>
          </a:prstGeom>
        </p:spPr>
      </p:pic>
      <p:pic>
        <p:nvPicPr>
          <p:cNvPr id="7" name="Image 1" descr="/home/claude/pdf/figures/macro_r2_comparison.png">    </p:cNvPr>
          <p:cNvPicPr>
            <a:picLocks noChangeAspect="1"/>
          </p:cNvPicPr>
          <p:nvPr/>
        </p:nvPicPr>
        <p:blipFill>
          <a:blip r:embed="rId2"/>
          <a:stretch>
            <a:fillRect/>
          </a:stretch>
        </p:blipFill>
        <p:spPr>
          <a:xfrm>
            <a:off x="6172200" y="1495413"/>
            <a:ext cx="5577840" cy="3318533"/>
          </a:xfrm>
          <a:prstGeom prst="rect">
            <a:avLst/>
          </a:prstGeom>
        </p:spPr>
      </p:pic>
      <p:sp>
        <p:nvSpPr>
          <p:cNvPr id="8" name="Text 4"/>
          <p:cNvSpPr txBox="1"/>
          <p:nvPr/>
        </p:nvSpPr>
        <p:spPr>
          <a:xfrm>
            <a:off x="548640" y="4892040"/>
            <a:ext cx="548640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Figure 3 · Mean absolute ES reaction by release and horizon (bps)</a:t>
            </a:r>
            <a:endParaRPr lang="en-US" sz="1000" dirty="0"/>
          </a:p>
        </p:txBody>
      </p:sp>
      <p:sp>
        <p:nvSpPr>
          <p:cNvPr id="9" name="Text 5"/>
          <p:cNvSpPr txBox="1"/>
          <p:nvPr/>
        </p:nvSpPr>
        <p:spPr>
          <a:xfrm>
            <a:off x="6263640" y="4892040"/>
            <a:ext cx="548640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Figure 4 · Share of the ES reaction explained by the surprise (R²)</a:t>
            </a:r>
            <a:endParaRPr lang="en-US" sz="1000" dirty="0"/>
          </a:p>
        </p:txBody>
      </p:sp>
      <p:sp>
        <p:nvSpPr>
          <p:cNvPr id="10" name="Shape 6"/>
          <p:cNvSpPr/>
          <p:nvPr/>
        </p:nvSpPr>
        <p:spPr>
          <a:xfrm>
            <a:off x="548640" y="5303520"/>
            <a:ext cx="11064240" cy="868680"/>
          </a:xfrm>
          <a:prstGeom prst="roundRect">
            <a:avLst>
              <a:gd name="adj" fmla="val 8421"/>
            </a:avLst>
          </a:prstGeom>
          <a:solidFill>
            <a:srgbClr val="EEF3F8"/>
          </a:solidFill>
          <a:ln w="12700">
            <a:solidFill>
              <a:srgbClr val="EEF3F8"/>
            </a:solidFill>
            <a:prstDash val="solid"/>
          </a:ln>
        </p:spPr>
      </p:sp>
      <p:sp>
        <p:nvSpPr>
          <p:cNvPr id="11" name="Text 7"/>
          <p:cNvSpPr txBox="1"/>
          <p:nvPr/>
        </p:nvSpPr>
        <p:spPr>
          <a:xfrm>
            <a:off x="713232" y="5413248"/>
            <a:ext cx="10735056" cy="649224"/>
          </a:xfrm>
          <a:prstGeom prst="rect">
            <a:avLst/>
          </a:prstGeom>
          <a:noFill/>
          <a:ln/>
        </p:spPr>
        <p:txBody>
          <a:bodyPr wrap="square" lIns="0" tIns="0" rIns="0" bIns="0" rtlCol="0" anchor="t"/>
          <a:lstStyle/>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CPI moves ES most (38 bps at 30 min) and its surprise explains 22–30% of the move at every horizon. NFP moves ES almost as much (30 bps) but explains only 3–7%; PCE is informative only in the first minutes.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RQ2 · Most of the reaction is untradeable</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CPI surprise beta (bps per 1 SD): 5-minute reaction from the pre-release price vs 30-minute drift after entry</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graphicFrame>
        <p:nvGraphicFramePr>
          <p:cNvPr id="6" name="Chart 0" descr=""/>
          <p:cNvGraphicFramePr/>
          <p:nvPr/>
        </p:nvGraphicFramePr>
        <p:xfrm>
          <a:off x="548640" y="155448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680960" y="1737360"/>
            <a:ext cx="3931920" cy="777240"/>
          </a:xfrm>
          <a:prstGeom prst="rect">
            <a:avLst/>
          </a:prstGeom>
          <a:noFill/>
          <a:ln/>
        </p:spPr>
        <p:txBody>
          <a:bodyPr wrap="square" lIns="0" tIns="0" rIns="0" bIns="0" rtlCol="0" anchor="ctr"/>
          <a:lstStyle/>
          <a:p>
            <a:pPr algn="l" indent="0" marL="0">
              <a:buNone/>
            </a:pPr>
            <a:r>
              <a:rPr lang="en-US" sz="4000" b="1" dirty="0">
                <a:solidFill>
                  <a:srgbClr val="003262"/>
                </a:solidFill>
                <a:latin typeface="Cambria" pitchFamily="34" charset="0"/>
                <a:ea typeface="Cambria" pitchFamily="34" charset="-122"/>
                <a:cs typeface="Cambria" pitchFamily="34" charset="-120"/>
              </a:rPr>
              <a:t>~⅕–¼</a:t>
            </a:r>
            <a:endParaRPr lang="en-US" sz="4000" dirty="0"/>
          </a:p>
        </p:txBody>
      </p:sp>
      <p:sp>
        <p:nvSpPr>
          <p:cNvPr id="8" name="Text 5"/>
          <p:cNvSpPr txBox="1"/>
          <p:nvPr/>
        </p:nvSpPr>
        <p:spPr>
          <a:xfrm>
            <a:off x="7680960" y="2514600"/>
            <a:ext cx="39319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of the CPI reaction remains as a drift in ES, NQ and YM</a:t>
            </a:r>
            <a:endParaRPr lang="en-US" sz="1200" dirty="0"/>
          </a:p>
        </p:txBody>
      </p:sp>
      <p:sp>
        <p:nvSpPr>
          <p:cNvPr id="9" name="Text 6"/>
          <p:cNvSpPr txBox="1"/>
          <p:nvPr/>
        </p:nvSpPr>
        <p:spPr>
          <a:xfrm>
            <a:off x="7680960" y="3154680"/>
            <a:ext cx="3931920" cy="777240"/>
          </a:xfrm>
          <a:prstGeom prst="rect">
            <a:avLst/>
          </a:prstGeom>
          <a:noFill/>
          <a:ln/>
        </p:spPr>
        <p:txBody>
          <a:bodyPr wrap="square" lIns="0" tIns="0" rIns="0" bIns="0" rtlCol="0" anchor="ctr"/>
          <a:lstStyle/>
          <a:p>
            <a:pPr algn="l" indent="0" marL="0">
              <a:buNone/>
            </a:pPr>
            <a:r>
              <a:rPr lang="en-US" sz="4000" b="1" dirty="0">
                <a:solidFill>
                  <a:srgbClr val="2E7D32"/>
                </a:solidFill>
                <a:latin typeface="Cambria" pitchFamily="34" charset="0"/>
                <a:ea typeface="Cambria" pitchFamily="34" charset="-122"/>
                <a:cs typeface="Cambria" pitchFamily="34" charset="-120"/>
              </a:rPr>
              <a:t>0.8 bps</a:t>
            </a:r>
            <a:endParaRPr lang="en-US" sz="4000" dirty="0"/>
          </a:p>
        </p:txBody>
      </p:sp>
      <p:sp>
        <p:nvSpPr>
          <p:cNvPr id="10" name="Text 7"/>
          <p:cNvSpPr txBox="1"/>
          <p:nvPr/>
        </p:nvSpPr>
        <p:spPr>
          <a:xfrm>
            <a:off x="7680960" y="3931920"/>
            <a:ext cx="39319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ZN drift per 1 SD, below its 3 bps cost</a:t>
            </a:r>
            <a:endParaRPr lang="en-US" sz="1200" dirty="0"/>
          </a:p>
        </p:txBody>
      </p:sp>
      <p:sp>
        <p:nvSpPr>
          <p:cNvPr id="11" name="Shape 8"/>
          <p:cNvSpPr/>
          <p:nvPr/>
        </p:nvSpPr>
        <p:spPr>
          <a:xfrm>
            <a:off x="7680960" y="4572000"/>
            <a:ext cx="3931920" cy="1508760"/>
          </a:xfrm>
          <a:prstGeom prst="roundRect">
            <a:avLst>
              <a:gd name="adj" fmla="val 4848"/>
            </a:avLst>
          </a:prstGeom>
          <a:solidFill>
            <a:srgbClr val="EEF3F8"/>
          </a:solidFill>
          <a:ln w="12700">
            <a:solidFill>
              <a:srgbClr val="EEF3F8"/>
            </a:solidFill>
            <a:prstDash val="solid"/>
          </a:ln>
        </p:spPr>
        <p:txBody>
          <a:bodyPr/>
          <a:p/>
        </p:txBody>
      </p:sp>
      <p:sp>
        <p:nvSpPr>
          <p:cNvPr id="12" name="Text 9"/>
          <p:cNvSpPr txBox="1"/>
          <p:nvPr/>
        </p:nvSpPr>
        <p:spPr>
          <a:xfrm>
            <a:off x="7845552" y="4681728"/>
            <a:ext cx="3602736" cy="1289304"/>
          </a:xfrm>
          <a:prstGeom prst="rect">
            <a:avLst/>
          </a:prstGeom>
          <a:noFill/>
          <a:ln/>
        </p:spPr>
        <p:txBody>
          <a:bodyPr wrap="square" lIns="0" tIns="0" rIns="0" bIns="0" rtlCol="0" anchor="t"/>
          <a:lstStyle/>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Drift vs cost decides the rest of the study: ES 5.9 vs 1.7 bps, NQ 8.5 vs 0.7 bps, YM 4.4 vs 1.0 bps, ZN 0.8 vs 3.0 bps.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RQ3 · In volatile markets CPI hits equities much harder</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Notebook 03: CPI surprise beta on the 5-min reaction by tercile of 20-day volatility (bps per 1 SD)</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graphicFrame>
        <p:nvGraphicFramePr>
          <p:cNvPr id="6" name="Chart 0" descr=""/>
          <p:cNvGraphicFramePr/>
          <p:nvPr/>
        </p:nvGraphicFramePr>
        <p:xfrm>
          <a:off x="548640" y="1554480"/>
          <a:ext cx="658368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406640" y="1645920"/>
          <a:ext cx="4206238" cy="914400"/>
        </p:xfrm>
        <a:graphic>
          <a:graphicData uri="http://schemas.openxmlformats.org/drawingml/2006/table">
            <a:tbl>
              <a:tblPr/>
              <a:tblGrid>
                <a:gridCol w="1201782"/>
                <a:gridCol w="751114"/>
                <a:gridCol w="751114"/>
                <a:gridCol w="751114"/>
                <a:gridCol w="751114"/>
              </a:tblGrid>
              <a:tr h="411480">
                <a:tc>
                  <a:txBody>
                    <a:bodyPr/>
                    <a:lstStyle/>
                    <a:p>
                      <a:pP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1F4E79"/>
                          </a:solidFill>
                          <a:latin typeface="Calibri" pitchFamily="34" charset="0"/>
                          <a:ea typeface="Calibri" pitchFamily="34" charset="-122"/>
                          <a:cs typeface="Calibri" pitchFamily="34" charset="-120"/>
                        </a:rPr>
                        <a:t>ES</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7A3E9D"/>
                          </a:solidFill>
                          <a:latin typeface="Calibri" pitchFamily="34" charset="0"/>
                          <a:ea typeface="Calibri" pitchFamily="34" charset="-122"/>
                          <a:cs typeface="Calibri" pitchFamily="34" charset="-120"/>
                        </a:rPr>
                        <a:t>NQ</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7A3E9D"/>
                          </a:solidFill>
                          <a:latin typeface="Calibri" pitchFamily="34" charset="0"/>
                          <a:ea typeface="Calibri" pitchFamily="34" charset="-122"/>
                          <a:cs typeface="Calibri" pitchFamily="34" charset="-120"/>
                        </a:rPr>
                        <a:t>YM</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ZN</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Best interaction t</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Survive FDR</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Size tests surviving FDR</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198/360</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154/360</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156/360</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0/360</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8" name="Shape 4"/>
          <p:cNvSpPr/>
          <p:nvPr/>
        </p:nvSpPr>
        <p:spPr>
          <a:xfrm>
            <a:off x="7406640" y="3566160"/>
            <a:ext cx="4206240" cy="2560320"/>
          </a:xfrm>
          <a:prstGeom prst="roundRect">
            <a:avLst>
              <a:gd name="adj" fmla="val 2857"/>
            </a:avLst>
          </a:prstGeom>
          <a:solidFill>
            <a:srgbClr val="EEF3F8"/>
          </a:solidFill>
          <a:ln w="12700">
            <a:solidFill>
              <a:srgbClr val="EEF3F8"/>
            </a:solidFill>
            <a:prstDash val="solid"/>
          </a:ln>
        </p:spPr>
      </p:sp>
      <p:sp>
        <p:nvSpPr>
          <p:cNvPr id="9" name="Text 5"/>
          <p:cNvSpPr txBox="1"/>
          <p:nvPr/>
        </p:nvSpPr>
        <p:spPr>
          <a:xfrm>
            <a:off x="7571232" y="3675888"/>
            <a:ext cx="3877056" cy="234086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But</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effect is mostly on the first-minute jump</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Significant only after 2021</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state reliably predicts the size of the move, not its direction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RQ3 · The same pattern in ES, NQ and YM, a different one in ZN</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pic>
        <p:nvPicPr>
          <p:cNvPr id="8" name="Picture 7" descr="s14.png"/>
          <p:cNvPicPr>
            <a:picLocks noChangeAspect="1"/>
          </p:cNvPicPr>
          <p:nvPr/>
        </p:nvPicPr>
        <p:blipFill>
          <a:blip r:embed="rId4"/>
          <a:stretch>
            <a:fillRect/>
          </a:stretch>
        </p:blipFill>
        <p:spPr>
          <a:xfrm>
            <a:off x="457200" y="1222621"/>
            <a:ext cx="11247120" cy="1729286"/>
          </a:xfrm>
          <a:prstGeom prst="rect">
            <a:avLst/>
          </a:prstGeom>
        </p:spPr>
      </p:pic>
      <p:sp>
        <p:nvSpPr>
          <p:cNvPr id="6" name="Shape 3"/>
          <p:cNvSpPr/>
          <p:nvPr/>
        </p:nvSpPr>
        <p:spPr>
          <a:xfrm>
            <a:off x="548640" y="3840480"/>
            <a:ext cx="11064240" cy="2331720"/>
          </a:xfrm>
          <a:prstGeom prst="roundRect">
            <a:avLst>
              <a:gd name="adj" fmla="val 3137"/>
            </a:avLst>
          </a:prstGeom>
          <a:solidFill>
            <a:srgbClr val="EEF3F8"/>
          </a:solidFill>
          <a:ln w="12700">
            <a:solidFill>
              <a:srgbClr val="EEF3F8"/>
            </a:solidFill>
            <a:prstDash val="solid"/>
          </a:ln>
        </p:spPr>
        <p:txBody>
          <a:bodyPr/>
          <a:p/>
        </p:txBody>
      </p:sp>
      <p:sp>
        <p:nvSpPr>
          <p:cNvPr id="7" name="Text 4"/>
          <p:cNvSpPr txBox="1"/>
          <p:nvPr/>
        </p:nvSpPr>
        <p:spPr>
          <a:xfrm>
            <a:off x="713232" y="3950208"/>
            <a:ext cx="10735056" cy="211226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Reading the t-statistics (CPI × state; rows = states, columns = horizons)</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ES: 20-day volatility row dark red on the reactions (t up to 3.8), much lighter on the drifts</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NQ: the same red rows, slightly weaker (t up to 3.0) — not a fluke of one contract</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Overnight return strengthens the response in all three markets</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ZN: no volatility effect; strong recent trends weaken the post-release drift</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Selected for trading: ES rv_20d × CPI; NQ none; ZN 1-day vol × all releases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RQ4 · CPI surprises are tradeable in ES, NQ and YM, not in ZN</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Notebook 04: CPI walk-forward net Sharpe, 2019–2026, 2 ticks + $4.50</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graphicFrame>
        <p:nvGraphicFramePr>
          <p:cNvPr id="6" name="Chart 0" descr=""/>
          <p:cNvGraphicFramePr/>
          <p:nvPr/>
        </p:nvGraphicFramePr>
        <p:xfrm>
          <a:off x="548640" y="155448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321040" y="1645920"/>
            <a:ext cx="3291840" cy="4480560"/>
          </a:xfrm>
          <a:prstGeom prst="roundRect">
            <a:avLst>
              <a:gd name="adj" fmla="val 2222"/>
            </a:avLst>
          </a:prstGeom>
          <a:solidFill>
            <a:srgbClr val="EEF3F8"/>
          </a:solidFill>
          <a:ln w="12700">
            <a:solidFill>
              <a:srgbClr val="EEF3F8"/>
            </a:solidFill>
            <a:prstDash val="solid"/>
          </a:ln>
        </p:spPr>
        <p:txBody>
          <a:bodyPr/>
          <a:p/>
        </p:txBody>
      </p:sp>
      <p:sp>
        <p:nvSpPr>
          <p:cNvPr id="8" name="Text 5"/>
          <p:cNvSpPr txBox="1"/>
          <p:nvPr/>
        </p:nvSpPr>
        <p:spPr>
          <a:xfrm>
            <a:off x="8485632" y="1755648"/>
            <a:ext cx="2962656" cy="426110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Takeaways</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ES surprise only: 12.8 bps per trade, t = 2.8, CI 0.25–1.72</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naive sign is as good as any fitted model (NQ: significantly better; YM 0.99)</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state model beats surprise only</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ZN: +2.7 bps gross per trade, eaten by the 3 bps cost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RQ4 · ZN: the fitted models correctly refuse to trade</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pic>
        <p:nvPicPr>
          <p:cNvPr id="5" name="Image 0" descr="/home/claude/pdf/figures/nb04b_ZN_cum_pnl_CPI.png">    </p:cNvPr>
          <p:cNvPicPr>
            <a:picLocks noChangeAspect="1"/>
          </p:cNvPicPr>
          <p:nvPr/>
        </p:nvPicPr>
        <p:blipFill>
          <a:blip r:embed="rId1"/>
          <a:stretch>
            <a:fillRect/>
          </a:stretch>
        </p:blipFill>
        <p:spPr>
          <a:xfrm>
            <a:off x="457200" y="1196340"/>
            <a:ext cx="6949440" cy="4053840"/>
          </a:xfrm>
          <a:prstGeom prst="rect">
            <a:avLst/>
          </a:prstGeom>
        </p:spPr>
      </p:pic>
      <p:sp>
        <p:nvSpPr>
          <p:cNvPr id="6" name="Text 3"/>
          <p:cNvSpPr txBox="1"/>
          <p:nvPr/>
        </p:nvSpPr>
        <p:spPr>
          <a:xfrm>
            <a:off x="548640" y="5303520"/>
            <a:ext cx="676656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Figure 16 · ZN: walk-forward cumulative net P&amp;L of the CPI strategies and drawdowns</a:t>
            </a:r>
            <a:endParaRPr lang="en-US" sz="1000" dirty="0"/>
          </a:p>
        </p:txBody>
      </p:sp>
      <p:sp>
        <p:nvSpPr>
          <p:cNvPr id="7" name="Text 4"/>
          <p:cNvSpPr txBox="1"/>
          <p:nvPr/>
        </p:nvSpPr>
        <p:spPr>
          <a:xfrm>
            <a:off x="7772400" y="1280160"/>
            <a:ext cx="3840480" cy="777240"/>
          </a:xfrm>
          <a:prstGeom prst="rect">
            <a:avLst/>
          </a:prstGeom>
          <a:noFill/>
          <a:ln/>
        </p:spPr>
        <p:txBody>
          <a:bodyPr wrap="square" lIns="0" tIns="0" rIns="0" bIns="0" rtlCol="0" anchor="ctr"/>
          <a:lstStyle/>
          <a:p>
            <a:pPr algn="l" indent="0" marL="0">
              <a:buNone/>
            </a:pPr>
            <a:r>
              <a:rPr lang="en-US" sz="4000" b="1" dirty="0">
                <a:solidFill>
                  <a:srgbClr val="2E7D32"/>
                </a:solidFill>
                <a:latin typeface="Cambria" pitchFamily="34" charset="0"/>
                <a:ea typeface="Cambria" pitchFamily="34" charset="-122"/>
                <a:cs typeface="Cambria" pitchFamily="34" charset="-120"/>
              </a:rPr>
              <a:t>+2.7 bps</a:t>
            </a:r>
            <a:endParaRPr lang="en-US" sz="4000" dirty="0"/>
          </a:p>
        </p:txBody>
      </p:sp>
      <p:sp>
        <p:nvSpPr>
          <p:cNvPr id="8" name="Text 5"/>
          <p:cNvSpPr txBox="1"/>
          <p:nvPr/>
        </p:nvSpPr>
        <p:spPr>
          <a:xfrm>
            <a:off x="7772400" y="2057400"/>
            <a:ext cx="384048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Naive CPI gross profit per trade in ZN (gross Sharpe 0.53)</a:t>
            </a:r>
            <a:endParaRPr lang="en-US" sz="1200" dirty="0"/>
          </a:p>
        </p:txBody>
      </p:sp>
      <p:sp>
        <p:nvSpPr>
          <p:cNvPr id="9" name="Text 6"/>
          <p:cNvSpPr txBox="1"/>
          <p:nvPr/>
        </p:nvSpPr>
        <p:spPr>
          <a:xfrm>
            <a:off x="7772400" y="2697480"/>
            <a:ext cx="3840480" cy="777240"/>
          </a:xfrm>
          <a:prstGeom prst="rect">
            <a:avLst/>
          </a:prstGeom>
          <a:noFill/>
          <a:ln/>
        </p:spPr>
        <p:txBody>
          <a:bodyPr wrap="square" lIns="0" tIns="0" rIns="0" bIns="0" rtlCol="0" anchor="ctr"/>
          <a:lstStyle/>
          <a:p>
            <a:pPr algn="l" indent="0" marL="0">
              <a:buNone/>
            </a:pPr>
            <a:r>
              <a:rPr lang="en-US" sz="4000" b="1" dirty="0">
                <a:solidFill>
                  <a:srgbClr val="B3261E"/>
                </a:solidFill>
                <a:latin typeface="Cambria" pitchFamily="34" charset="0"/>
                <a:ea typeface="Cambria" pitchFamily="34" charset="-122"/>
                <a:cs typeface="Cambria" pitchFamily="34" charset="-120"/>
              </a:rPr>
              <a:t>−0.3 bps</a:t>
            </a:r>
            <a:endParaRPr lang="en-US" sz="4000" dirty="0"/>
          </a:p>
        </p:txBody>
      </p:sp>
      <p:sp>
        <p:nvSpPr>
          <p:cNvPr id="10" name="Text 7"/>
          <p:cNvSpPr txBox="1"/>
          <p:nvPr/>
        </p:nvSpPr>
        <p:spPr>
          <a:xfrm>
            <a:off x="7772400" y="3474720"/>
            <a:ext cx="384048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same after the 3 bps round-trip cost (Sharpe −0.05)</a:t>
            </a:r>
            <a:endParaRPr lang="en-US" sz="1200" dirty="0"/>
          </a:p>
        </p:txBody>
      </p:sp>
      <p:sp>
        <p:nvSpPr>
          <p:cNvPr id="11" name="Shape 8"/>
          <p:cNvSpPr/>
          <p:nvPr/>
        </p:nvSpPr>
        <p:spPr>
          <a:xfrm>
            <a:off x="7772400" y="4114800"/>
            <a:ext cx="3840480" cy="2011680"/>
          </a:xfrm>
          <a:prstGeom prst="roundRect">
            <a:avLst>
              <a:gd name="adj" fmla="val 3636"/>
            </a:avLst>
          </a:prstGeom>
          <a:solidFill>
            <a:srgbClr val="EEF3F8"/>
          </a:solidFill>
          <a:ln w="12700">
            <a:solidFill>
              <a:srgbClr val="EEF3F8"/>
            </a:solidFill>
            <a:prstDash val="solid"/>
          </a:ln>
        </p:spPr>
      </p:sp>
      <p:sp>
        <p:nvSpPr>
          <p:cNvPr id="12" name="Text 9"/>
          <p:cNvSpPr txBox="1"/>
          <p:nvPr/>
        </p:nvSpPr>
        <p:spPr>
          <a:xfrm>
            <a:off x="7936992" y="4224528"/>
            <a:ext cx="3511296" cy="179222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Why the lines are flat</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surprise model trades only if the predicted move exceeds the cost</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In ZN that happened 1–5 times in 7.5 years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RQ4 · The edge is concentrated in the 2022 inflation shock</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pic>
        <p:nvPicPr>
          <p:cNvPr id="13" name="Picture 12" descr="s17.png"/>
          <p:cNvPicPr>
            <a:picLocks noChangeAspect="1"/>
          </p:cNvPicPr>
          <p:nvPr/>
        </p:nvPicPr>
        <p:blipFill>
          <a:blip r:embed="rId4"/>
          <a:stretch>
            <a:fillRect/>
          </a:stretch>
        </p:blipFill>
        <p:spPr>
          <a:xfrm>
            <a:off x="457200" y="1319072"/>
            <a:ext cx="11247120" cy="1013170"/>
          </a:xfrm>
          <a:prstGeom prst="rect">
            <a:avLst/>
          </a:prstGeom>
        </p:spPr>
      </p:pic>
      <p:sp>
        <p:nvSpPr>
          <p:cNvPr id="6" name="Text 3"/>
          <p:cNvSpPr txBox="1"/>
          <p:nvPr/>
        </p:nvSpPr>
        <p:spPr>
          <a:xfrm>
            <a:off x="548640" y="2395728"/>
            <a:ext cx="1097280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CPI net P&amp;L by year (% of notional), five strategies: ES, NQ, YM, ZN</a:t>
            </a:r>
            <a:endParaRPr lang="en-US" sz="1000" dirty="0"/>
          </a:p>
        </p:txBody>
      </p:sp>
      <p:sp>
        <p:nvSpPr>
          <p:cNvPr id="7" name="Text 4"/>
          <p:cNvSpPr txBox="1"/>
          <p:nvPr/>
        </p:nvSpPr>
        <p:spPr>
          <a:xfrm>
            <a:off x="548640" y="3474720"/>
            <a:ext cx="3291840" cy="777240"/>
          </a:xfrm>
          <a:prstGeom prst="rect">
            <a:avLst/>
          </a:prstGeom>
          <a:noFill/>
          <a:ln/>
        </p:spPr>
        <p:txBody>
          <a:bodyPr wrap="square" lIns="0" tIns="0" rIns="0" bIns="0" rtlCol="0" anchor="ctr"/>
          <a:lstStyle/>
          <a:p>
            <a:pPr algn="l" indent="0" marL="0">
              <a:buNone/>
            </a:pPr>
            <a:r>
              <a:rPr lang="en-US" sz="2800" b="1" dirty="0">
                <a:solidFill>
                  <a:srgbClr val="003262"/>
                </a:solidFill>
                <a:latin typeface="Cambria" pitchFamily="34" charset="0"/>
                <a:ea typeface="Cambria" pitchFamily="34" charset="-122"/>
                <a:cs typeface="Cambria" pitchFamily="34" charset="-120"/>
              </a:rPr>
              <a:t>79% / 74% / 86%</a:t>
            </a:r>
            <a:endParaRPr lang="en-US" sz="4000" dirty="0"/>
          </a:p>
        </p:txBody>
      </p:sp>
      <p:sp>
        <p:nvSpPr>
          <p:cNvPr id="8" name="Text 5"/>
          <p:cNvSpPr txBox="1"/>
          <p:nvPr/>
        </p:nvSpPr>
        <p:spPr>
          <a:xfrm>
            <a:off x="548640" y="4251960"/>
            <a:ext cx="310896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Share of CPI P&amp;L from 2022 (ES / NQ / YM, surprise only)</a:t>
            </a:r>
            <a:endParaRPr lang="en-US" sz="1200" dirty="0"/>
          </a:p>
        </p:txBody>
      </p:sp>
      <p:sp>
        <p:nvSpPr>
          <p:cNvPr id="9" name="Text 6"/>
          <p:cNvSpPr txBox="1"/>
          <p:nvPr/>
        </p:nvSpPr>
        <p:spPr>
          <a:xfrm>
            <a:off x="548640" y="4846320"/>
            <a:ext cx="3291840" cy="777240"/>
          </a:xfrm>
          <a:prstGeom prst="rect">
            <a:avLst/>
          </a:prstGeom>
          <a:noFill/>
          <a:ln/>
        </p:spPr>
        <p:txBody>
          <a:bodyPr wrap="square" lIns="0" tIns="0" rIns="0" bIns="0" rtlCol="0" anchor="ctr"/>
          <a:lstStyle/>
          <a:p>
            <a:pPr algn="l" indent="0" marL="0">
              <a:buNone/>
            </a:pPr>
            <a:r>
              <a:rPr lang="en-US" sz="2800" b="1" dirty="0">
                <a:solidFill>
                  <a:srgbClr val="003262"/>
                </a:solidFill>
                <a:latin typeface="Cambria" pitchFamily="34" charset="0"/>
                <a:ea typeface="Cambria" pitchFamily="34" charset="-122"/>
                <a:cs typeface="Cambria" pitchFamily="34" charset="-120"/>
              </a:rPr>
              <a:t>0.58 / 0.68 / 0.53</a:t>
            </a:r>
            <a:endParaRPr lang="en-US" sz="4000" dirty="0"/>
          </a:p>
        </p:txBody>
      </p:sp>
      <p:sp>
        <p:nvSpPr>
          <p:cNvPr id="10" name="Text 7"/>
          <p:cNvSpPr txBox="1"/>
          <p:nvPr/>
        </p:nvSpPr>
        <p:spPr>
          <a:xfrm>
            <a:off x="548640" y="5623560"/>
            <a:ext cx="310896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Naive CPI Sharpe excluding 2022 (ES / NQ / YM)</a:t>
            </a:r>
            <a:endParaRPr lang="en-US" sz="1200" dirty="0"/>
          </a:p>
        </p:txBody>
      </p:sp>
      <p:sp>
        <p:nvSpPr>
          <p:cNvPr id="11" name="Shape 8"/>
          <p:cNvSpPr/>
          <p:nvPr/>
        </p:nvSpPr>
        <p:spPr>
          <a:xfrm>
            <a:off x="3931920" y="3474720"/>
            <a:ext cx="7680960" cy="2697480"/>
          </a:xfrm>
          <a:prstGeom prst="roundRect">
            <a:avLst>
              <a:gd name="adj" fmla="val 2712"/>
            </a:avLst>
          </a:prstGeom>
          <a:solidFill>
            <a:srgbClr val="EEF3F8"/>
          </a:solidFill>
          <a:ln w="12700">
            <a:solidFill>
              <a:srgbClr val="EEF3F8"/>
            </a:solidFill>
            <a:prstDash val="solid"/>
          </a:ln>
        </p:spPr>
        <p:txBody>
          <a:bodyPr/>
          <a:p/>
        </p:txBody>
      </p:sp>
      <p:sp>
        <p:nvSpPr>
          <p:cNvPr id="12" name="Text 9"/>
          <p:cNvSpPr txBox="1"/>
          <p:nvPr/>
        </p:nvSpPr>
        <p:spPr>
          <a:xfrm>
            <a:off x="4096512" y="3584448"/>
            <a:ext cx="7351776" cy="247802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Why it matters</a:t>
            </a:r>
            <a:endParaRPr lang="en-US" sz="16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CPI pays when inflation drives policy expectations</a:t>
            </a:r>
            <a:endParaRPr lang="en-US" sz="16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The state effect was invisible in real time until 2022 (t = 0.5 in 2019, 3.3 in 2022)</a:t>
            </a:r>
            <a:endParaRPr lang="en-US" sz="16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The 'best' state changed every few years: none → 20-day vol → overnight move</a:t>
            </a:r>
            <a:endParaRPr lang="en-US" sz="16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Implication: scale exposure with the macro regime, not with a state model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RQ4 · When could a trader have known about the state effect?</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pic>
        <p:nvPicPr>
          <p:cNvPr id="13" name="Picture 12" descr="s18.png"/>
          <p:cNvPicPr>
            <a:picLocks noChangeAspect="1"/>
          </p:cNvPicPr>
          <p:nvPr/>
        </p:nvPicPr>
        <p:blipFill>
          <a:blip r:embed="rId4"/>
          <a:stretch>
            <a:fillRect/>
          </a:stretch>
        </p:blipFill>
        <p:spPr>
          <a:xfrm>
            <a:off x="457200" y="1151068"/>
            <a:ext cx="11247120" cy="1710305"/>
          </a:xfrm>
          <a:prstGeom prst="rect">
            <a:avLst/>
          </a:prstGeom>
        </p:spPr>
      </p:pic>
      <p:sp>
        <p:nvSpPr>
          <p:cNvPr id="6" name="Text 3"/>
          <p:cNvSpPr txBox="1"/>
          <p:nvPr/>
        </p:nvSpPr>
        <p:spPr>
          <a:xfrm>
            <a:off x="548640" y="3520440"/>
            <a:ext cx="1097280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Figure 17 · Walk-forward CPI surprise beta (top) and CPI × 20-day-vol interaction with its t-statistic (bottom): ES, NQ, YM, ZN</a:t>
            </a:r>
            <a:endParaRPr lang="en-US" sz="1000" dirty="0"/>
          </a:p>
        </p:txBody>
      </p:sp>
      <p:sp>
        <p:nvSpPr>
          <p:cNvPr id="7" name="Shape 4"/>
          <p:cNvSpPr/>
          <p:nvPr/>
        </p:nvSpPr>
        <p:spPr>
          <a:xfrm>
            <a:off x="548640" y="3931920"/>
            <a:ext cx="3566160" cy="2240280"/>
          </a:xfrm>
          <a:prstGeom prst="roundRect">
            <a:avLst>
              <a:gd name="adj" fmla="val 3265"/>
            </a:avLst>
          </a:prstGeom>
          <a:solidFill>
            <a:srgbClr val="EEF3F8"/>
          </a:solidFill>
          <a:ln w="12700">
            <a:solidFill>
              <a:srgbClr val="EEF3F8"/>
            </a:solidFill>
            <a:prstDash val="solid"/>
          </a:ln>
        </p:spPr>
        <p:txBody>
          <a:bodyPr/>
          <a:p/>
        </p:txBody>
      </p:sp>
      <p:sp>
        <p:nvSpPr>
          <p:cNvPr id="8" name="Text 5"/>
          <p:cNvSpPr txBox="1"/>
          <p:nvPr/>
        </p:nvSpPr>
        <p:spPr>
          <a:xfrm>
            <a:off x="713232" y="4041648"/>
            <a:ext cx="3236976" cy="2020824"/>
          </a:xfrm>
          <a:prstGeom prst="rect">
            <a:avLst/>
          </a:prstGeom>
          <a:noFill/>
          <a:ln/>
        </p:spPr>
        <p:txBody>
          <a:bodyPr wrap="square" lIns="0" tIns="0" rIns="0" bIns="0" rtlCol="0" anchor="t"/>
          <a:lstStyle/>
          <a:p>
            <a:pPr indent="0" marL="0">
              <a:spcAft>
                <a:spcPts val="600"/>
              </a:spcAft>
              <a:buNone/>
            </a:pPr>
            <a:r>
              <a:rPr lang="en-US" sz="1600" b="1" dirty="0">
                <a:solidFill>
                  <a:srgbClr val="1F4E79"/>
                </a:solidFill>
                <a:latin typeface="Calibri" pitchFamily="34" charset="0"/>
                <a:ea typeface="Calibri" pitchFamily="34" charset="-122"/>
                <a:cs typeface="Calibri" pitchFamily="34" charset="-120"/>
              </a:rPr>
              <a:t>ES</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Beta 4 bps (2019) → ~1 bp (mid-2021) → ~8 bps (2023–24)</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Interaction t crosses 2 only in mid-2022, ~3.5 in 2023–25</a:t>
            </a:r>
            <a:endParaRPr lang="en-US" sz="1600" dirty="0"/>
          </a:p>
        </p:txBody>
      </p:sp>
      <p:sp>
        <p:nvSpPr>
          <p:cNvPr id="9" name="Shape 6"/>
          <p:cNvSpPr/>
          <p:nvPr/>
        </p:nvSpPr>
        <p:spPr>
          <a:xfrm>
            <a:off x="4297680" y="3931920"/>
            <a:ext cx="3566160" cy="2240280"/>
          </a:xfrm>
          <a:prstGeom prst="roundRect">
            <a:avLst>
              <a:gd name="adj" fmla="val 3265"/>
            </a:avLst>
          </a:prstGeom>
          <a:solidFill>
            <a:srgbClr val="EEF3F8"/>
          </a:solidFill>
          <a:ln w="12700">
            <a:solidFill>
              <a:srgbClr val="EEF3F8"/>
            </a:solidFill>
            <a:prstDash val="solid"/>
          </a:ln>
        </p:spPr>
        <p:txBody>
          <a:bodyPr/>
          <a:p/>
        </p:txBody>
      </p:sp>
      <p:sp>
        <p:nvSpPr>
          <p:cNvPr id="10" name="Text 7"/>
          <p:cNvSpPr txBox="1"/>
          <p:nvPr/>
        </p:nvSpPr>
        <p:spPr>
          <a:xfrm>
            <a:off x="4462272" y="4041648"/>
            <a:ext cx="3236976" cy="2020824"/>
          </a:xfrm>
          <a:prstGeom prst="rect">
            <a:avLst/>
          </a:prstGeom>
          <a:noFill/>
          <a:ln/>
        </p:spPr>
        <p:txBody>
          <a:bodyPr wrap="square" lIns="0" tIns="0" rIns="0" bIns="0" rtlCol="0" anchor="t"/>
          <a:lstStyle/>
          <a:p>
            <a:pPr indent="0" marL="0">
              <a:spcAft>
                <a:spcPts val="600"/>
              </a:spcAft>
              <a:buNone/>
            </a:pPr>
            <a:r>
              <a:rPr lang="en-US" sz="1600" b="1" dirty="0">
                <a:solidFill>
                  <a:srgbClr val="7A3E9D"/>
                </a:solidFill>
                <a:latin typeface="Calibri" pitchFamily="34" charset="0"/>
                <a:ea typeface="Calibri" pitchFamily="34" charset="-122"/>
                <a:cs typeface="Calibri" pitchFamily="34" charset="-120"/>
              </a:rPr>
              <a:t>NQ</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Same shape at a higher level: 6 → 3 → 10–11 bps</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Interaction t peaks ~2.8 in 2024–25, falls to 1.5. YM: same shape, t 0.6 (2019) → 4–5 (2022–24) → 2.5</a:t>
            </a:r>
            <a:endParaRPr lang="en-US" sz="1600" dirty="0"/>
          </a:p>
        </p:txBody>
      </p:sp>
      <p:sp>
        <p:nvSpPr>
          <p:cNvPr id="11" name="Shape 8"/>
          <p:cNvSpPr/>
          <p:nvPr/>
        </p:nvSpPr>
        <p:spPr>
          <a:xfrm>
            <a:off x="8046720" y="3931920"/>
            <a:ext cx="3566160" cy="2240280"/>
          </a:xfrm>
          <a:prstGeom prst="roundRect">
            <a:avLst>
              <a:gd name="adj" fmla="val 3265"/>
            </a:avLst>
          </a:prstGeom>
          <a:solidFill>
            <a:srgbClr val="EEF3F8"/>
          </a:solidFill>
          <a:ln w="12700">
            <a:solidFill>
              <a:srgbClr val="EEF3F8"/>
            </a:solidFill>
            <a:prstDash val="solid"/>
          </a:ln>
        </p:spPr>
        <p:txBody>
          <a:bodyPr/>
          <a:p/>
        </p:txBody>
      </p:sp>
      <p:sp>
        <p:nvSpPr>
          <p:cNvPr id="12" name="Text 9"/>
          <p:cNvSpPr txBox="1"/>
          <p:nvPr/>
        </p:nvSpPr>
        <p:spPr>
          <a:xfrm>
            <a:off x="8211312" y="4041648"/>
            <a:ext cx="3236976" cy="2020824"/>
          </a:xfrm>
          <a:prstGeom prst="rect">
            <a:avLst/>
          </a:prstGeom>
          <a:noFill/>
          <a:ln/>
        </p:spPr>
        <p:txBody>
          <a:bodyPr wrap="square" lIns="0" tIns="0" rIns="0" bIns="0" rtlCol="0" anchor="t"/>
          <a:lstStyle/>
          <a:p>
            <a:pPr indent="0" marL="0">
              <a:spcAft>
                <a:spcPts val="600"/>
              </a:spcAft>
              <a:buNone/>
            </a:pPr>
            <a:r>
              <a:rPr lang="en-US" sz="1600" b="1" dirty="0">
                <a:solidFill>
                  <a:srgbClr val="2E7D32"/>
                </a:solidFill>
                <a:latin typeface="Calibri" pitchFamily="34" charset="0"/>
                <a:ea typeface="Calibri" pitchFamily="34" charset="-122"/>
                <a:cs typeface="Calibri" pitchFamily="34" charset="-120"/>
              </a:rPr>
              <a:t>ZN</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Beta between −0.9 and +1.8 bps for the whole period</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Interaction never significant (t between −1.2 and +0.2)</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RQ4 · Robust to costs and delays in equities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pic>
        <p:nvPicPr>
          <p:cNvPr id="11" name="Picture 10" descr="s19.png"/>
          <p:cNvPicPr>
            <a:picLocks noChangeAspect="1"/>
          </p:cNvPicPr>
          <p:nvPr/>
        </p:nvPicPr>
        <p:blipFill>
          <a:blip r:embed="rId5"/>
          <a:stretch>
            <a:fillRect/>
          </a:stretch>
        </p:blipFill>
        <p:spPr>
          <a:xfrm>
            <a:off x="457200" y="1159454"/>
            <a:ext cx="11247120" cy="1490359"/>
          </a:xfrm>
          <a:prstGeom prst="rect">
            <a:avLst/>
          </a:prstGeom>
        </p:spPr>
      </p:pic>
      <p:sp>
        <p:nvSpPr>
          <p:cNvPr id="6" name="Text 3"/>
          <p:cNvSpPr txBox="1"/>
          <p:nvPr/>
        </p:nvSpPr>
        <p:spPr>
          <a:xfrm>
            <a:off x="548640" y="3291840"/>
            <a:ext cx="1097280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CPI net Sharpe vs round-trip slippage (0–8 ticks): ES, NQ, YM, ZN</a:t>
            </a:r>
            <a:endParaRPr lang="en-US" sz="1000" dirty="0"/>
          </a:p>
        </p:txBody>
      </p:sp>
      <p:pic>
        <p:nvPicPr>
          <p:cNvPr id="7" name="Image 1" descr="/home/claude/pdf/figures/nb04_latency_holding_grid.png">    </p:cNvPr>
          <p:cNvPicPr>
            <a:picLocks noChangeAspect="1"/>
          </p:cNvPicPr>
          <p:nvPr/>
        </p:nvPicPr>
        <p:blipFill>
          <a:blip r:embed="rId2"/>
          <a:stretch>
            <a:fillRect/>
          </a:stretch>
        </p:blipFill>
        <p:spPr>
          <a:xfrm>
            <a:off x="548640" y="3856333"/>
            <a:ext cx="5394960" cy="2025694"/>
          </a:xfrm>
          <a:prstGeom prst="rect">
            <a:avLst/>
          </a:prstGeom>
        </p:spPr>
      </p:pic>
      <p:sp>
        <p:nvSpPr>
          <p:cNvPr id="8" name="Text 4"/>
          <p:cNvSpPr txBox="1"/>
          <p:nvPr/>
        </p:nvSpPr>
        <p:spPr>
          <a:xfrm>
            <a:off x="548640" y="6053328"/>
            <a:ext cx="539496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ES: Sharpe by entry delay (rows) and holding period (columns)</a:t>
            </a:r>
            <a:endParaRPr lang="en-US" sz="1000" dirty="0"/>
          </a:p>
        </p:txBody>
      </p:sp>
      <p:sp>
        <p:nvSpPr>
          <p:cNvPr id="9" name="Shape 5"/>
          <p:cNvSpPr/>
          <p:nvPr/>
        </p:nvSpPr>
        <p:spPr>
          <a:xfrm>
            <a:off x="6217920" y="3703320"/>
            <a:ext cx="5394960" cy="2514600"/>
          </a:xfrm>
          <a:prstGeom prst="roundRect">
            <a:avLst>
              <a:gd name="adj" fmla="val 2909"/>
            </a:avLst>
          </a:prstGeom>
          <a:solidFill>
            <a:srgbClr val="EEF3F8"/>
          </a:solidFill>
          <a:ln w="12700">
            <a:solidFill>
              <a:srgbClr val="EEF3F8"/>
            </a:solidFill>
            <a:prstDash val="solid"/>
          </a:ln>
        </p:spPr>
        <p:txBody>
          <a:bodyPr/>
          <a:p/>
        </p:txBody>
      </p:sp>
      <p:sp>
        <p:nvSpPr>
          <p:cNvPr id="10" name="Text 6"/>
          <p:cNvSpPr txBox="1"/>
          <p:nvPr/>
        </p:nvSpPr>
        <p:spPr>
          <a:xfrm>
            <a:off x="6382512" y="3813048"/>
            <a:ext cx="5065776" cy="229514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Robustness</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ES: 1.15 → 0.62 from 0 to 8 ticks</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NQ: almost flat (0.75–1.02); YM: 0.89 → 0.71</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ZN: turns negative at ~2 ticks</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30-min hold survives 1–5 min delays; 5-min holds collapse</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A slow 30-minute continuation, not a speed race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RQ4 · The direction is what earns the money</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pic>
        <p:nvPicPr>
          <p:cNvPr id="12" name="Picture 11" descr="s20.png"/>
          <p:cNvPicPr>
            <a:picLocks noChangeAspect="1"/>
          </p:cNvPicPr>
          <p:nvPr/>
        </p:nvPicPr>
        <p:blipFill>
          <a:blip r:embed="rId4"/>
          <a:stretch>
            <a:fillRect/>
          </a:stretch>
        </p:blipFill>
        <p:spPr>
          <a:xfrm>
            <a:off x="499905" y="1097280"/>
            <a:ext cx="2960354" cy="5303520"/>
          </a:xfrm>
          <a:prstGeom prst="rect">
            <a:avLst/>
          </a:prstGeom>
        </p:spPr>
      </p:pic>
      <p:sp>
        <p:nvSpPr>
          <p:cNvPr id="6" name="Text 3"/>
          <p:cNvSpPr txBox="1"/>
          <p:nvPr/>
        </p:nvSpPr>
        <p:spPr>
          <a:xfrm>
            <a:off x="4754880" y="1280160"/>
            <a:ext cx="3291840" cy="777240"/>
          </a:xfrm>
          <a:prstGeom prst="rect">
            <a:avLst/>
          </a:prstGeom>
          <a:noFill/>
          <a:ln/>
        </p:spPr>
        <p:txBody>
          <a:bodyPr wrap="square" lIns="0" tIns="0" rIns="0" bIns="0" rtlCol="0" anchor="ctr"/>
          <a:lstStyle/>
          <a:p>
            <a:pPr algn="l" indent="0" marL="0">
              <a:buNone/>
            </a:pPr>
            <a:r>
              <a:rPr lang="en-US" sz="2800" b="1" dirty="0">
                <a:solidFill>
                  <a:srgbClr val="1F4E79"/>
                </a:solidFill>
                <a:latin typeface="Cambria" pitchFamily="34" charset="0"/>
                <a:ea typeface="Cambria" pitchFamily="34" charset="-122"/>
                <a:cs typeface="Cambria" pitchFamily="34" charset="-120"/>
              </a:rPr>
              <a:t>+6.6% vs −6.0%</a:t>
            </a:r>
            <a:endParaRPr lang="en-US" sz="2800" dirty="0"/>
          </a:p>
        </p:txBody>
      </p:sp>
      <p:sp>
        <p:nvSpPr>
          <p:cNvPr id="7" name="Text 4"/>
          <p:cNvSpPr txBox="1"/>
          <p:nvPr/>
        </p:nvSpPr>
        <p:spPr>
          <a:xfrm>
            <a:off x="4754880" y="2057400"/>
            <a:ext cx="329184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ES: CPI surprise strategy vs always long in the same 30-minute windows</a:t>
            </a:r>
            <a:endParaRPr lang="en-US" sz="1200" dirty="0"/>
          </a:p>
        </p:txBody>
      </p:sp>
      <p:sp>
        <p:nvSpPr>
          <p:cNvPr id="8" name="Text 5"/>
          <p:cNvSpPr txBox="1"/>
          <p:nvPr/>
        </p:nvSpPr>
        <p:spPr>
          <a:xfrm>
            <a:off x="8229600" y="1280160"/>
            <a:ext cx="3383280" cy="777240"/>
          </a:xfrm>
          <a:prstGeom prst="rect">
            <a:avLst/>
          </a:prstGeom>
          <a:noFill/>
          <a:ln/>
        </p:spPr>
        <p:txBody>
          <a:bodyPr wrap="square" lIns="0" tIns="0" rIns="0" bIns="0" rtlCol="0" anchor="ctr"/>
          <a:lstStyle/>
          <a:p>
            <a:pPr algn="l" indent="0" marL="0">
              <a:buNone/>
            </a:pPr>
            <a:r>
              <a:rPr lang="en-US" sz="2800" b="1" dirty="0">
                <a:solidFill>
                  <a:srgbClr val="7A3E9D"/>
                </a:solidFill>
                <a:latin typeface="Cambria" pitchFamily="34" charset="0"/>
                <a:ea typeface="Cambria" pitchFamily="34" charset="-122"/>
                <a:cs typeface="Cambria" pitchFamily="34" charset="-120"/>
              </a:rPr>
              <a:t>+7.5% vs −5.4%</a:t>
            </a:r>
            <a:endParaRPr lang="en-US" sz="2800" dirty="0"/>
          </a:p>
        </p:txBody>
      </p:sp>
      <p:sp>
        <p:nvSpPr>
          <p:cNvPr id="9" name="Text 6"/>
          <p:cNvSpPr txBox="1"/>
          <p:nvPr/>
        </p:nvSpPr>
        <p:spPr>
          <a:xfrm>
            <a:off x="8229600" y="2057400"/>
            <a:ext cx="338328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NQ: same comparison · YM: +5.0% vs −5.5%</a:t>
            </a:r>
            <a:endParaRPr lang="en-US" sz="1200" dirty="0"/>
          </a:p>
        </p:txBody>
      </p:sp>
      <p:sp>
        <p:nvSpPr>
          <p:cNvPr id="10" name="Shape 7"/>
          <p:cNvSpPr/>
          <p:nvPr/>
        </p:nvSpPr>
        <p:spPr>
          <a:xfrm>
            <a:off x="4754880" y="2971800"/>
            <a:ext cx="6858000" cy="3154680"/>
          </a:xfrm>
          <a:prstGeom prst="roundRect">
            <a:avLst>
              <a:gd name="adj" fmla="val 2319"/>
            </a:avLst>
          </a:prstGeom>
          <a:solidFill>
            <a:srgbClr val="EEF3F8"/>
          </a:solidFill>
          <a:ln w="12700">
            <a:solidFill>
              <a:srgbClr val="EEF3F8"/>
            </a:solidFill>
            <a:prstDash val="solid"/>
          </a:ln>
        </p:spPr>
        <p:txBody>
          <a:bodyPr/>
          <a:p/>
        </p:txBody>
      </p:sp>
      <p:sp>
        <p:nvSpPr>
          <p:cNvPr id="11" name="Text 8"/>
          <p:cNvSpPr txBox="1"/>
          <p:nvPr/>
        </p:nvSpPr>
        <p:spPr>
          <a:xfrm>
            <a:off x="4919472" y="3081528"/>
            <a:ext cx="6528816" cy="293522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Figure 22 · the peer (DTW team) chart format</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Solid blue: strategy net of costs; dashed: gross; orange: always long in the same windows</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Being in the market at CPI time earns nothing by itself; the profit comes from the sign of the surprise (≈13 percentage points in ES and NQ, 10.5 in YM)</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Gross and net lines are close: costs are not the binding constraint for CPI</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Beta to buy-and-hold ≈ 0: the strategy is market-neutral (0.06–0.1% time in market)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RQ5 · Ten releases give ~100 trades a year per market</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Notebook 05: top-10 families by an impact screen (history only), naive sign, one 30-min trade per release</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graphicFrame>
        <p:nvGraphicFramePr>
          <p:cNvPr id="6" name="Chart 0" descr=""/>
          <p:cNvGraphicFramePr/>
          <p:nvPr/>
        </p:nvGraphicFramePr>
        <p:xfrm>
          <a:off x="548640" y="1554480"/>
          <a:ext cx="566928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583680" y="1645920"/>
          <a:ext cx="5029200" cy="914400"/>
        </p:xfrm>
        <a:graphic>
          <a:graphicData uri="http://schemas.openxmlformats.org/drawingml/2006/table">
            <a:tbl>
              <a:tblPr/>
              <a:tblGrid>
                <a:gridCol w="1676400"/>
                <a:gridCol w="838200"/>
                <a:gridCol w="838200"/>
                <a:gridCol w="838200"/>
                <a:gridCol w="838200"/>
              </a:tblGrid>
              <a:tr h="384048">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All · naive</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1F4E79"/>
                          </a:solidFill>
                          <a:latin typeface="Calibri" pitchFamily="34" charset="0"/>
                          <a:ea typeface="Calibri" pitchFamily="34" charset="-122"/>
                          <a:cs typeface="Calibri" pitchFamily="34" charset="-120"/>
                        </a:rPr>
                        <a:t>ES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7A3E9D"/>
                          </a:solidFill>
                          <a:latin typeface="Calibri" pitchFamily="34" charset="0"/>
                          <a:ea typeface="Calibri" pitchFamily="34" charset="-122"/>
                          <a:cs typeface="Calibri" pitchFamily="34" charset="-120"/>
                        </a:rPr>
                        <a:t>NQ</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7A3E9D"/>
                          </a:solidFill>
                          <a:latin typeface="Calibri" pitchFamily="34" charset="0"/>
                          <a:ea typeface="Calibri" pitchFamily="34" charset="-122"/>
                          <a:cs typeface="Calibri" pitchFamily="34" charset="-120"/>
                        </a:rPr>
                        <a:t>YM</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2E7D32"/>
                          </a:solidFill>
                          <a:latin typeface="Calibri" pitchFamily="34" charset="0"/>
                          <a:ea typeface="Calibri" pitchFamily="34" charset="-122"/>
                          <a:cs typeface="Calibri" pitchFamily="34" charset="-120"/>
                        </a:rPr>
                        <a:t>ZN</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Trades / year</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98</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97</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93</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82</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Net bps / trade</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−3.4</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Total net P&amp;L</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12.8%</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17.5%</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−20.5%</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Sharpe ex-2022</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0.28</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0.44</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0.40</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−2.53</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Random-sign p</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&lt;0.001</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0.005</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0.006</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0.81</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Sharpe at 4 ticks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0.45</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−4.24</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2nd window alone</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−0.79</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−0.23</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−0.15</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−3.08</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8" name="Text 4"/>
          <p:cNvSpPr txBox="1"/>
          <p:nvPr/>
        </p:nvSpPr>
        <p:spPr>
          <a:xfrm>
            <a:off x="6583680" y="4937760"/>
            <a:ext cx="5029200" cy="822960"/>
          </a:xfrm>
          <a:prstGeom prst="rect">
            <a:avLst/>
          </a:prstGeom>
          <a:noFill/>
          <a:ln/>
        </p:spPr>
        <p:txBody>
          <a:bodyPr wrap="square" lIns="0" tIns="0" rIns="0" bIns="0" rtlCol="0" anchor="ctr"/>
          <a:lstStyle/>
          <a:p>
            <a:pPr indent="0" marL="0">
              <a:buNone/>
            </a:pPr>
            <a:r>
              <a:rPr lang="en-US" sz="1400" i="1" dirty="0">
                <a:solidFill>
                  <a:srgbClr val="003262"/>
                </a:solidFill>
                <a:latin typeface="Calibri" pitchFamily="34" charset="0"/>
                <a:ea typeface="Calibri" pitchFamily="34" charset="-122"/>
                <a:cs typeface="Calibri" pitchFamily="34" charset="-120"/>
              </a:rPr>
              <a:t>Tenfold more trades with the edge intact in equities; the edge is gone within 30 minutes.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RQ5 · The multi-release books over time</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
        <p:nvSpPr>
          <p:cNvPr id="5" name="Text 3"/>
          <p:cNvSpPr txBox="1"/>
          <p:nvPr/>
        </p:nvSpPr>
        <p:spPr>
          <a:xfrm>
            <a:off x="457200" y="1161288"/>
            <a:ext cx="4160520" cy="256032"/>
          </a:xfrm>
          <a:prstGeom prst="rect">
            <a:avLst/>
          </a:prstGeom>
          <a:noFill/>
          <a:ln/>
        </p:spPr>
        <p:txBody>
          <a:bodyPr wrap="square" lIns="0" tIns="0" rIns="0" bIns="0"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Figure 23 · ES</a:t>
            </a:r>
            <a:endParaRPr lang="en-US" sz="1150" dirty="0"/>
          </a:p>
        </p:txBody>
      </p:sp>
      <p:pic>
        <p:nvPicPr>
          <p:cNvPr id="6" name="Image 0" descr="/home/claude/pdf/figures/nb05_cumulative_pnl.png">    </p:cNvPr>
          <p:cNvPicPr>
            <a:picLocks noChangeAspect="1"/>
          </p:cNvPicPr>
          <p:nvPr/>
        </p:nvPicPr>
        <p:blipFill>
          <a:blip r:embed="rId1"/>
          <a:stretch>
            <a:fillRect/>
          </a:stretch>
        </p:blipFill>
        <p:spPr>
          <a:xfrm>
            <a:off x="457200" y="1417320"/>
            <a:ext cx="4160520" cy="1737360"/>
          </a:xfrm>
          <a:prstGeom prst="rect">
            <a:avLst/>
          </a:prstGeom>
        </p:spPr>
      </p:pic>
      <p:sp>
        <p:nvSpPr>
          <p:cNvPr id="7" name="Text 4"/>
          <p:cNvSpPr txBox="1"/>
          <p:nvPr/>
        </p:nvSpPr>
        <p:spPr>
          <a:xfrm>
            <a:off x="4800600" y="1161288"/>
            <a:ext cx="4160520" cy="256032"/>
          </a:xfrm>
          <a:prstGeom prst="rect">
            <a:avLst/>
          </a:prstGeom>
          <a:noFill/>
          <a:ln/>
        </p:spPr>
        <p:txBody>
          <a:bodyPr wrap="square" lIns="0" tIns="0" rIns="0" bIns="0" rtlCol="0" anchor="ctr"/>
          <a:lstStyle/>
          <a:p>
            <a:pPr indent="0" marL="0">
              <a:buNone/>
            </a:pPr>
            <a:r>
              <a:rPr lang="en-US" sz="1150" b="1" dirty="0">
                <a:solidFill>
                  <a:srgbClr val="7A3E9D"/>
                </a:solidFill>
                <a:latin typeface="Calibri" pitchFamily="34" charset="0"/>
                <a:ea typeface="Calibri" pitchFamily="34" charset="-122"/>
                <a:cs typeface="Calibri" pitchFamily="34" charset="-120"/>
              </a:rPr>
              <a:t>Figure 24 · NQ</a:t>
            </a:r>
            <a:endParaRPr lang="en-US" sz="1150" dirty="0"/>
          </a:p>
        </p:txBody>
      </p:sp>
      <p:pic>
        <p:nvPicPr>
          <p:cNvPr id="8" name="Image 1" descr="/home/claude/pdf/figures/nb05b_NQ_cumulative_pnl.png">    </p:cNvPr>
          <p:cNvPicPr>
            <a:picLocks noChangeAspect="1"/>
          </p:cNvPicPr>
          <p:nvPr/>
        </p:nvPicPr>
        <p:blipFill>
          <a:blip r:embed="rId2"/>
          <a:stretch>
            <a:fillRect/>
          </a:stretch>
        </p:blipFill>
        <p:spPr>
          <a:xfrm>
            <a:off x="4800600" y="1417320"/>
            <a:ext cx="4160520" cy="1737360"/>
          </a:xfrm>
          <a:prstGeom prst="rect">
            <a:avLst/>
          </a:prstGeom>
        </p:spPr>
      </p:pic>
      <p:sp>
        <p:nvSpPr>
          <p:cNvPr id="9" name="Text 5"/>
          <p:cNvSpPr txBox="1"/>
          <p:nvPr/>
        </p:nvSpPr>
        <p:spPr>
          <a:xfrm>
            <a:off x="457200" y="3584448"/>
            <a:ext cx="4160520" cy="256032"/>
          </a:xfrm>
          <a:prstGeom prst="rect">
            <a:avLst/>
          </a:prstGeom>
          <a:noFill/>
          <a:ln/>
        </p:spPr>
        <p:txBody>
          <a:bodyPr wrap="square" lIns="0" tIns="0" rIns="0" bIns="0" rtlCol="0" anchor="ctr"/>
          <a:lstStyle/>
          <a:p>
            <a:pPr indent="0" marL="0">
              <a:buNone/>
            </a:pPr>
            <a:r>
              <a:rPr lang="en-US" sz="1150" b="1" dirty="0">
                <a:solidFill>
                  <a:srgbClr val="2E7D32"/>
                </a:solidFill>
                <a:latin typeface="Calibri" pitchFamily="34" charset="0"/>
                <a:ea typeface="Calibri" pitchFamily="34" charset="-122"/>
                <a:cs typeface="Calibri" pitchFamily="34" charset="-120"/>
              </a:rPr>
              <a:t>Figure 25 · ZN</a:t>
            </a:r>
            <a:endParaRPr lang="en-US" sz="1150" dirty="0"/>
          </a:p>
        </p:txBody>
      </p:sp>
      <p:pic>
        <p:nvPicPr>
          <p:cNvPr id="10" name="Image 2" descr="/home/claude/pdf/figures/nb05b_ZN_cumulative_pnl.png">    </p:cNvPr>
          <p:cNvPicPr>
            <a:picLocks noChangeAspect="1"/>
          </p:cNvPicPr>
          <p:nvPr/>
        </p:nvPicPr>
        <p:blipFill>
          <a:blip r:embed="rId3"/>
          <a:stretch>
            <a:fillRect/>
          </a:stretch>
        </p:blipFill>
        <p:spPr>
          <a:xfrm>
            <a:off x="457200" y="3840480"/>
            <a:ext cx="4160520" cy="1737360"/>
          </a:xfrm>
          <a:prstGeom prst="rect">
            <a:avLst/>
          </a:prstGeom>
        </p:spPr>
      </p:pic>
      <p:sp>
        <p:nvSpPr>
          <p:cNvPr id="11" name="Shape 6"/>
          <p:cNvSpPr/>
          <p:nvPr/>
        </p:nvSpPr>
        <p:spPr>
          <a:xfrm>
            <a:off x="9144000" y="1188720"/>
            <a:ext cx="2560320" cy="5120640"/>
          </a:xfrm>
          <a:prstGeom prst="roundRect">
            <a:avLst>
              <a:gd name="adj" fmla="val 2963"/>
            </a:avLst>
          </a:prstGeom>
          <a:solidFill>
            <a:srgbClr val="EEF3F8"/>
          </a:solidFill>
          <a:ln w="12700">
            <a:solidFill>
              <a:srgbClr val="EEF3F8"/>
            </a:solidFill>
            <a:prstDash val="solid"/>
          </a:ln>
        </p:spPr>
        <p:txBody>
          <a:bodyPr/>
          <a:p/>
        </p:txBody>
      </p:sp>
      <p:sp>
        <p:nvSpPr>
          <p:cNvPr id="12" name="Text 7"/>
          <p:cNvSpPr txBox="1"/>
          <p:nvPr/>
        </p:nvSpPr>
        <p:spPr>
          <a:xfrm>
            <a:off x="9253728" y="1298448"/>
            <a:ext cx="2340864" cy="4901184"/>
          </a:xfrm>
          <a:prstGeom prst="rect">
            <a:avLst/>
          </a:prstGeom>
          <a:noFill/>
          <a:ln/>
        </p:spPr>
        <p:txBody>
          <a:bodyPr wrap="square" lIns="0" tIns="0" rIns="0" bIns="0" rtlCol="0" anchor="t"/>
          <a:lstStyle/>
          <a:p>
            <a:pPr indent="0" marL="0">
              <a:spcAft>
                <a:spcPts val="600"/>
              </a:spcAft>
              <a:buNone/>
            </a:pPr>
            <a:r>
              <a:rPr lang="en-US" sz="1200" b="1" dirty="0">
                <a:solidFill>
                  <a:srgbClr val="003262"/>
                </a:solidFill>
                <a:latin typeface="Calibri" pitchFamily="34" charset="0"/>
                <a:ea typeface="Calibri" pitchFamily="34" charset="-122"/>
                <a:cs typeface="Calibri" pitchFamily="34" charset="-120"/>
              </a:rPr>
              <a:t>Reading</a:t>
            </a:r>
            <a:endParaRPr lang="en-US" sz="1600" dirty="0"/>
          </a:p>
          <a:p>
            <a:pPr marL="177800" indent="-1778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ES and NQ: the naive all-release book climbs steadily, biggest gains in 2022 but positive outside it (NQ +17.5%, ex-2022 Sharpe 0.44; ES +12.8%, 0.28)</a:t>
            </a:r>
            <a:endParaRPr lang="en-US" sz="1600" dirty="0"/>
          </a:p>
          <a:p>
            <a:pPr marL="177800" indent="-1778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Volatility sizing adds P&amp;L but raises drawdowns to 12–14%</a:t>
            </a:r>
            <a:endParaRPr lang="en-US" sz="1600" dirty="0"/>
          </a:p>
          <a:p>
            <a:pPr marL="177800" indent="-1778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YM: +12.0%, ex-2022 Sharpe 0.40. ZN: every book falls almost linearly, paying the cost on each trade</a:t>
            </a:r>
            <a:endParaRPr lang="en-US" sz="1600" dirty="0"/>
          </a:p>
        </p:txBody>
      </p:sp>
      <p:pic>
        <p:nvPicPr>
          <p:cNvPr id="13" name="Picture 12" descr="nb05b_YM_cumulative_pnl.png"/>
          <p:cNvPicPr>
            <a:picLocks noChangeAspect="1"/>
          </p:cNvPicPr>
          <p:nvPr/>
        </p:nvPicPr>
        <p:blipFill>
          <a:blip r:embed="rId6"/>
          <a:stretch>
            <a:fillRect/>
          </a:stretch>
        </p:blipFill>
        <p:spPr>
          <a:xfrm>
            <a:off x="4800600" y="3840480"/>
            <a:ext cx="4160520" cy="1737360"/>
          </a:xfrm>
          <a:prstGeom prst="rect">
            <a:avLst/>
          </a:prstGeom>
        </p:spPr>
      </p:pic>
      <p:sp>
        <p:nvSpPr>
          <p:cNvPr id="9" name="Text 5"/>
          <p:cNvSpPr txBox="1"/>
          <p:nvPr/>
        </p:nvSpPr>
        <p:spPr>
          <a:xfrm>
            <a:off x="4800600" y="3584448"/>
            <a:ext cx="4160520" cy="256032"/>
          </a:xfrm>
          <a:prstGeom prst="rect">
            <a:avLst/>
          </a:prstGeom>
          <a:noFill/>
          <a:ln/>
        </p:spPr>
        <p:txBody>
          <a:bodyPr wrap="square" lIns="0" tIns="0" rIns="0" bIns="0" rtlCol="0" anchor="ctr"/>
          <a:lstStyle/>
          <a:p>
            <a:pPr indent="0" marL="0">
              <a:buNone/>
            </a:pPr>
            <a:r>
              <a:rPr lang="en-US" sz="1150" b="1" dirty="0">
                <a:solidFill>
                  <a:srgbClr val="2E7D32"/>
                </a:solidFill>
                <a:latin typeface="Calibri" pitchFamily="34" charset="0"/>
                <a:ea typeface="Calibri" pitchFamily="34" charset="-122"/>
                <a:cs typeface="Calibri" pitchFamily="34" charset="-120"/>
              </a:rPr>
              <a:t>Figure 24b · YM</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RQ5 · CPI leads; the rest is diversification across small edges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pic>
        <p:nvPicPr>
          <p:cNvPr id="8" name="Picture 7" descr="s23.png"/>
          <p:cNvPicPr>
            <a:picLocks noChangeAspect="1"/>
          </p:cNvPicPr>
          <p:nvPr/>
        </p:nvPicPr>
        <p:blipFill>
          <a:blip r:embed="rId4"/>
          <a:stretch>
            <a:fillRect/>
          </a:stretch>
        </p:blipFill>
        <p:spPr>
          <a:xfrm>
            <a:off x="457200" y="1222256"/>
            <a:ext cx="11247120" cy="3052459"/>
          </a:xfrm>
          <a:prstGeom prst="rect">
            <a:avLst/>
          </a:prstGeom>
        </p:spPr>
      </p:pic>
      <p:sp>
        <p:nvSpPr>
          <p:cNvPr id="6" name="Shape 3"/>
          <p:cNvSpPr/>
          <p:nvPr/>
        </p:nvSpPr>
        <p:spPr>
          <a:xfrm>
            <a:off x="548640" y="5166360"/>
            <a:ext cx="11064240" cy="1051560"/>
          </a:xfrm>
          <a:prstGeom prst="roundRect">
            <a:avLst>
              <a:gd name="adj" fmla="val 6957"/>
            </a:avLst>
          </a:prstGeom>
          <a:solidFill>
            <a:srgbClr val="EEF3F8"/>
          </a:solidFill>
          <a:ln w="12700">
            <a:solidFill>
              <a:srgbClr val="EEF3F8"/>
            </a:solidFill>
            <a:prstDash val="solid"/>
          </a:ln>
        </p:spPr>
        <p:txBody>
          <a:bodyPr/>
          <a:p/>
        </p:txBody>
      </p:sp>
      <p:sp>
        <p:nvSpPr>
          <p:cNvPr id="7" name="Text 4"/>
          <p:cNvSpPr txBox="1"/>
          <p:nvPr/>
        </p:nvSpPr>
        <p:spPr>
          <a:xfrm>
            <a:off x="713232" y="5276088"/>
            <a:ext cx="10735056" cy="832104"/>
          </a:xfrm>
          <a:prstGeom prst="rect">
            <a:avLst/>
          </a:prstGeom>
          <a:noFill/>
          <a:ln/>
        </p:spPr>
        <p:txBody>
          <a:bodyPr wrap="square" lIns="0" tIns="0" rIns="0" bIns="0" rtlCol="0" anchor="t"/>
          <a:lstStyle/>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ES: CPI +4.3%, JOLTS +3.0%, Retail Sales +2.3%  ·  NQ: CPI +6.0%, Factory Orders +4.6%, U. Michigan +4.2%  ·  YM: CPI +3.8%, ISM Manufacturing +3.3%, JOLTS +2.3%  ·  ES and NQ lose on the Employment Report and ISM Services  ·  ZN: every major family loses about the cost on each trade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RQ6 · DTW adds no reliable directional information</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Notebook 06: the team's DTW specification on the same releases, entry and costs</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graphicFrame>
        <p:nvGraphicFramePr>
          <p:cNvPr id="6" name="Chart 0" descr=""/>
          <p:cNvGraphicFramePr/>
          <p:nvPr/>
        </p:nvGraphicFramePr>
        <p:xfrm>
          <a:off x="548640" y="15544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863840" y="1645920"/>
            <a:ext cx="3749040" cy="777240"/>
          </a:xfrm>
          <a:prstGeom prst="rect">
            <a:avLst/>
          </a:prstGeom>
          <a:noFill/>
          <a:ln/>
        </p:spPr>
        <p:txBody>
          <a:bodyPr wrap="square" lIns="0" tIns="0" rIns="0" bIns="0" rtlCol="0" anchor="ctr"/>
          <a:lstStyle/>
          <a:p>
            <a:pPr algn="l" indent="0" marL="0">
              <a:buNone/>
            </a:pPr>
            <a:r>
              <a:rPr lang="en-US" sz="2800" b="1" dirty="0">
                <a:solidFill>
                  <a:srgbClr val="003262"/>
                </a:solidFill>
                <a:latin typeface="Cambria" pitchFamily="34" charset="0"/>
                <a:ea typeface="Cambria" pitchFamily="34" charset="-122"/>
                <a:cs typeface="Cambria" pitchFamily="34" charset="-120"/>
              </a:rPr>
              <a:t>0.01 · 0.03 · 0.03 · 0.04</a:t>
            </a:r>
            <a:endParaRPr lang="en-US" sz="4000" dirty="0"/>
          </a:p>
        </p:txBody>
      </p:sp>
      <p:sp>
        <p:nvSpPr>
          <p:cNvPr id="8" name="Text 5"/>
          <p:cNvSpPr txBox="1"/>
          <p:nvPr/>
        </p:nvSpPr>
        <p:spPr>
          <a:xfrm>
            <a:off x="7863840" y="2423160"/>
            <a:ext cx="374904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DTW rank IC with the 30-min return (ES · NQ · YM · ZN); useful signals show 0.05–0.10</a:t>
            </a:r>
            <a:endParaRPr lang="en-US" sz="1200" dirty="0"/>
          </a:p>
        </p:txBody>
      </p:sp>
      <p:sp>
        <p:nvSpPr>
          <p:cNvPr id="9" name="Shape 6"/>
          <p:cNvSpPr/>
          <p:nvPr/>
        </p:nvSpPr>
        <p:spPr>
          <a:xfrm>
            <a:off x="7863840" y="3383280"/>
            <a:ext cx="3749040" cy="2743200"/>
          </a:xfrm>
          <a:prstGeom prst="roundRect">
            <a:avLst>
              <a:gd name="adj" fmla="val 2667"/>
            </a:avLst>
          </a:prstGeom>
          <a:solidFill>
            <a:srgbClr val="EEF3F8"/>
          </a:solidFill>
          <a:ln w="12700">
            <a:solidFill>
              <a:srgbClr val="EEF3F8"/>
            </a:solidFill>
            <a:prstDash val="solid"/>
          </a:ln>
        </p:spPr>
        <p:txBody>
          <a:bodyPr/>
          <a:p/>
        </p:txBody>
      </p:sp>
      <p:sp>
        <p:nvSpPr>
          <p:cNvPr id="10" name="Text 7"/>
          <p:cNvSpPr txBox="1"/>
          <p:nvPr/>
        </p:nvSpPr>
        <p:spPr>
          <a:xfrm>
            <a:off x="8028432" y="3493008"/>
            <a:ext cx="3419856" cy="252374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Takeaways</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ES and NQ: every combination lowers the surprise book's Sharpe</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CPI-only results point in different directions in ES and NQ: noise</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YM: the blend reaches 1.06 (P(not better) 0.06), not confirmed elsewhere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RQ6 · Surprise vs DTW over time</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pic>
        <p:nvPicPr>
          <p:cNvPr id="8" name="Picture 7" descr="fig27_surprise_vs_dtw_4markets.png"/>
          <p:cNvPicPr>
            <a:picLocks noChangeAspect="1"/>
          </p:cNvPicPr>
          <p:nvPr/>
        </p:nvPicPr>
        <p:blipFill>
          <a:blip r:embed="rId4"/>
          <a:stretch>
            <a:fillRect/>
          </a:stretch>
        </p:blipFill>
        <p:spPr>
          <a:xfrm>
            <a:off x="457200" y="1104870"/>
            <a:ext cx="3774989" cy="5288341"/>
          </a:xfrm>
          <a:prstGeom prst="rect">
            <a:avLst/>
          </a:prstGeom>
        </p:spPr>
      </p:pic>
      <p:sp>
        <p:nvSpPr>
          <p:cNvPr id="6" name="Shape 3"/>
          <p:cNvSpPr/>
          <p:nvPr/>
        </p:nvSpPr>
        <p:spPr>
          <a:xfrm>
            <a:off x="5669280" y="1188720"/>
            <a:ext cx="5943600" cy="4937760"/>
          </a:xfrm>
          <a:prstGeom prst="roundRect">
            <a:avLst>
              <a:gd name="adj" fmla="val 1481"/>
            </a:avLst>
          </a:prstGeom>
          <a:solidFill>
            <a:srgbClr val="EEF3F8"/>
          </a:solidFill>
          <a:ln w="12700">
            <a:solidFill>
              <a:srgbClr val="EEF3F8"/>
            </a:solidFill>
            <a:prstDash val="solid"/>
          </a:ln>
        </p:spPr>
        <p:txBody>
          <a:bodyPr/>
          <a:p/>
        </p:txBody>
      </p:sp>
      <p:sp>
        <p:nvSpPr>
          <p:cNvPr id="7" name="Text 4"/>
          <p:cNvSpPr txBox="1"/>
          <p:nvPr/>
        </p:nvSpPr>
        <p:spPr>
          <a:xfrm>
            <a:off x="5833872" y="1298448"/>
            <a:ext cx="5614416" cy="471830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Figure 27 · ~10 releases (left panels) and CPI (right panels)</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ES: surprise only rises in steps (mostly 2022); DTW only is flat until 2022, then falls to about −7%</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NQ: DTW only rises in 2019–2022, then gives it all back from 2023, a pattern that does not persist</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YM is the exception: agree and blend beat surprise only (0.94 and 1.06 vs 0.68)</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CPI: the four lines move together; the differences are small and point in different directions in ES and NQ</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ZN: every line falls almost linearly (the cost); the surprise line falls fastest because it trades most</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RQ6 · More windows add trades, not profit</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pic>
        <p:nvPicPr>
          <p:cNvPr id="28" name="Picture 27" descr="s26.png"/>
          <p:cNvPicPr>
            <a:picLocks noChangeAspect="1"/>
          </p:cNvPicPr>
          <p:nvPr/>
        </p:nvPicPr>
        <p:blipFill>
          <a:blip r:embed="rId4"/>
          <a:stretch>
            <a:fillRect/>
          </a:stretch>
        </p:blipFill>
        <p:spPr>
          <a:xfrm>
            <a:off x="457200" y="1136181"/>
            <a:ext cx="11247120" cy="1326583"/>
          </a:xfrm>
          <a:prstGeom prst="rect">
            <a:avLst/>
          </a:prstGeom>
        </p:spPr>
      </p:pic>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035037" cy="914400"/>
        </p:xfrm>
        <a:graphic>
          <a:graphicData uri="http://schemas.openxmlformats.org/drawingml/2006/table">
            <a:tbl>
              <a:tblPr/>
              <a:tblGrid>
                <a:gridCol w="2155371"/>
                <a:gridCol w="1293222"/>
                <a:gridCol w="1293222"/>
                <a:gridCol w="1293222"/>
              </a:tblGrid>
              <a:tr h="45720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Trades/yr, Sharpe</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1F4E79"/>
                          </a:solidFill>
                          <a:latin typeface="Calibri" pitchFamily="34" charset="0"/>
                          <a:ea typeface="Calibri" pitchFamily="34" charset="-122"/>
                          <a:cs typeface="Calibri" pitchFamily="34" charset="-120"/>
                        </a:rPr>
                        <a:t>ES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7A3E9D"/>
                          </a:solidFill>
                          <a:latin typeface="Calibri" pitchFamily="34" charset="0"/>
                          <a:ea typeface="Calibri" pitchFamily="34" charset="-122"/>
                          <a:cs typeface="Calibri" pitchFamily="34" charset="-120"/>
                        </a:rPr>
                        <a:t>NQ</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7A3E9D"/>
                          </a:solidFill>
                          <a:latin typeface="Calibri" pitchFamily="34" charset="0"/>
                          <a:ea typeface="Calibri" pitchFamily="34" charset="-122"/>
                          <a:cs typeface="Calibri" pitchFamily="34" charset="-120"/>
                        </a:rPr>
                        <a:t>YM</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Surprise, window 1 only</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98, +0.65</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97, +0.71</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93, +0.68</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Surprise W1 + DTW W2–5</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348, −0.75</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342, +0.27</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329, 0.00</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Surprise ladder (5 windows)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490, −1.00</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484, −0.29</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463, −0.34</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DTW ladder (5 windows)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314, −1.23</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309, −0.07</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298, −0.23</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Peer DTW slide (ES)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185, +0.61</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Shape 3"/>
          <p:cNvSpPr/>
          <p:nvPr/>
        </p:nvSpPr>
        <p:spPr>
          <a:xfrm>
            <a:off x="6858000" y="3246120"/>
            <a:ext cx="4754880" cy="2926080"/>
          </a:xfrm>
          <a:prstGeom prst="roundRect">
            <a:avLst>
              <a:gd name="adj" fmla="val 2500"/>
            </a:avLst>
          </a:prstGeom>
          <a:solidFill>
            <a:srgbClr val="EEF3F8"/>
          </a:solidFill>
          <a:ln w="12700">
            <a:solidFill>
              <a:srgbClr val="EEF3F8"/>
            </a:solidFill>
            <a:prstDash val="solid"/>
          </a:ln>
        </p:spPr>
      </p:sp>
      <p:sp>
        <p:nvSpPr>
          <p:cNvPr id="8" name="Text 4"/>
          <p:cNvSpPr txBox="1"/>
          <p:nvPr/>
        </p:nvSpPr>
        <p:spPr>
          <a:xfrm>
            <a:off x="7022592" y="3355848"/>
            <a:ext cx="4425696" cy="270662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Five windows after each release (peer structure)</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Surprise rank IC: 0.14 in window 1 (ES), ≈ 0 in windows 2–5</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ceiling is ~100 trades a year per market at one trade per release</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right way to trade more is more markets with a drift, not more windows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RQ6 · Ladder books: turnover and cost, not profit</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pic>
        <p:nvPicPr>
          <p:cNvPr id="12" name="Picture 11" descr="s27.png"/>
          <p:cNvPicPr>
            <a:picLocks noChangeAspect="1"/>
          </p:cNvPicPr>
          <p:nvPr/>
        </p:nvPicPr>
        <p:blipFill>
          <a:blip r:embed="rId4"/>
          <a:stretch>
            <a:fillRect/>
          </a:stretch>
        </p:blipFill>
        <p:spPr>
          <a:xfrm>
            <a:off x="488312" y="1097280"/>
            <a:ext cx="3024821" cy="5303520"/>
          </a:xfrm>
          <a:prstGeom prst="rect">
            <a:avLst/>
          </a:prstGeom>
        </p:spPr>
      </p:pic>
      <p:sp>
        <p:nvSpPr>
          <p:cNvPr id="6" name="Text 3"/>
          <p:cNvSpPr txBox="1"/>
          <p:nvPr/>
        </p:nvSpPr>
        <p:spPr>
          <a:xfrm>
            <a:off x="4846320" y="1280160"/>
            <a:ext cx="3291840" cy="777240"/>
          </a:xfrm>
          <a:prstGeom prst="rect">
            <a:avLst/>
          </a:prstGeom>
          <a:noFill/>
          <a:ln/>
        </p:spPr>
        <p:txBody>
          <a:bodyPr wrap="square" lIns="0" tIns="0" rIns="0" bIns="0" rtlCol="0" anchor="ctr"/>
          <a:lstStyle/>
          <a:p>
            <a:pPr algn="l" indent="0" marL="0">
              <a:buNone/>
            </a:pPr>
            <a:r>
              <a:rPr lang="en-US" sz="2800" b="1" dirty="0">
                <a:solidFill>
                  <a:srgbClr val="1F4E79"/>
                </a:solidFill>
                <a:latin typeface="Cambria" pitchFamily="34" charset="0"/>
                <a:ea typeface="Cambria" pitchFamily="34" charset="-122"/>
                <a:cs typeface="Cambria" pitchFamily="34" charset="-120"/>
              </a:rPr>
              <a:t>+12.8%</a:t>
            </a:r>
            <a:endParaRPr lang="en-US" sz="2800" dirty="0"/>
          </a:p>
        </p:txBody>
      </p:sp>
      <p:sp>
        <p:nvSpPr>
          <p:cNvPr id="7" name="Text 4"/>
          <p:cNvSpPr txBox="1"/>
          <p:nvPr/>
        </p:nvSpPr>
        <p:spPr>
          <a:xfrm>
            <a:off x="4846320" y="2057400"/>
            <a:ext cx="329184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ES window 1 only: the only ES book that ends positive</a:t>
            </a:r>
            <a:endParaRPr lang="en-US" sz="1200" dirty="0"/>
          </a:p>
        </p:txBody>
      </p:sp>
      <p:sp>
        <p:nvSpPr>
          <p:cNvPr id="8" name="Text 5"/>
          <p:cNvSpPr txBox="1"/>
          <p:nvPr/>
        </p:nvSpPr>
        <p:spPr>
          <a:xfrm>
            <a:off x="8321040" y="1280160"/>
            <a:ext cx="3291840" cy="777240"/>
          </a:xfrm>
          <a:prstGeom prst="rect">
            <a:avLst/>
          </a:prstGeom>
          <a:noFill/>
          <a:ln/>
        </p:spPr>
        <p:txBody>
          <a:bodyPr wrap="square" lIns="0" tIns="0" rIns="0" bIns="0" rtlCol="0" anchor="ctr"/>
          <a:lstStyle/>
          <a:p>
            <a:pPr algn="l" indent="0" marL="0">
              <a:buNone/>
            </a:pPr>
            <a:r>
              <a:rPr lang="en-US" sz="2800" b="1" dirty="0">
                <a:solidFill>
                  <a:srgbClr val="B3261E"/>
                </a:solidFill>
                <a:latin typeface="Cambria" pitchFamily="34" charset="0"/>
                <a:ea typeface="Cambria" pitchFamily="34" charset="-122"/>
                <a:cs typeface="Cambria" pitchFamily="34" charset="-120"/>
              </a:rPr>
              <a:t>−29% to −48%</a:t>
            </a:r>
            <a:endParaRPr lang="en-US" sz="2800" dirty="0"/>
          </a:p>
        </p:txBody>
      </p:sp>
      <p:sp>
        <p:nvSpPr>
          <p:cNvPr id="9" name="Text 6"/>
          <p:cNvSpPr txBox="1"/>
          <p:nvPr/>
        </p:nvSpPr>
        <p:spPr>
          <a:xfrm>
            <a:off x="8321040" y="2057400"/>
            <a:ext cx="329184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ES ladder books over 2019–2026</a:t>
            </a:r>
            <a:endParaRPr lang="en-US" sz="1200" dirty="0"/>
          </a:p>
        </p:txBody>
      </p:sp>
      <p:sp>
        <p:nvSpPr>
          <p:cNvPr id="10" name="Shape 7"/>
          <p:cNvSpPr/>
          <p:nvPr/>
        </p:nvSpPr>
        <p:spPr>
          <a:xfrm>
            <a:off x="4846320" y="2971800"/>
            <a:ext cx="6766560" cy="3154680"/>
          </a:xfrm>
          <a:prstGeom prst="roundRect">
            <a:avLst>
              <a:gd name="adj" fmla="val 2319"/>
            </a:avLst>
          </a:prstGeom>
          <a:solidFill>
            <a:srgbClr val="EEF3F8"/>
          </a:solidFill>
          <a:ln w="12700">
            <a:solidFill>
              <a:srgbClr val="EEF3F8"/>
            </a:solidFill>
            <a:prstDash val="solid"/>
          </a:ln>
        </p:spPr>
        <p:txBody>
          <a:bodyPr/>
          <a:p/>
        </p:txBody>
      </p:sp>
      <p:sp>
        <p:nvSpPr>
          <p:cNvPr id="11" name="Text 8"/>
          <p:cNvSpPr txBox="1"/>
          <p:nvPr/>
        </p:nvSpPr>
        <p:spPr>
          <a:xfrm>
            <a:off x="5010912" y="3081528"/>
            <a:ext cx="6437376" cy="293522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Figure 29 · three ladder books vs window 1 only</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ES: each extra window adds about 1–2 bps of cost with no edge</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NQ: cost below 1 bp, so 'surprise W1 + DTW W2–5' ends +12.9%, still below window 1 alone (+17.5%) with a drawdown three times larger</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YM: window 1 alone +12.0%, ladder books −14% to 0%. ZN: the ladder books lose 54% to 96% of notional</a:t>
            </a:r>
            <a:endParaRPr lang="en-US" sz="16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More windows per release add turnover and cost, not profit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RQ7 · ES + NQ + YM combine well; ZN destroys the portfolio</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Notebooks 07 and 07b: equal-risk weights from history only (ES 1.00, NQ 0.71, YM 1.02, ZN 2.67)</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pic>
        <p:nvPicPr>
          <p:cNvPr id="17" name="Picture 16" descr="nb07b_portfolio_cumulative.png"/>
          <p:cNvPicPr>
            <a:picLocks noChangeAspect="1"/>
          </p:cNvPicPr>
          <p:nvPr/>
        </p:nvPicPr>
        <p:blipFill>
          <a:blip r:embed="rId4"/>
          <a:stretch>
            <a:fillRect/>
          </a:stretch>
        </p:blipFill>
        <p:spPr>
          <a:xfrm>
            <a:off x="457200" y="2430780"/>
            <a:ext cx="6766560" cy="2819400"/>
          </a:xfrm>
          <a:prstGeom prst="rect">
            <a:avLst/>
          </a:prstGeom>
        </p:spPr>
      </p:pic>
      <p:sp>
        <p:nvSpPr>
          <p:cNvPr id="7" name="Text 4"/>
          <p:cNvSpPr txBox="1"/>
          <p:nvPr/>
        </p:nvSpPr>
        <p:spPr>
          <a:xfrm>
            <a:off x="7589520" y="1645920"/>
            <a:ext cx="2011680" cy="777240"/>
          </a:xfrm>
          <a:prstGeom prst="rect">
            <a:avLst/>
          </a:prstGeom>
          <a:noFill/>
          <a:ln/>
        </p:spPr>
        <p:txBody>
          <a:bodyPr wrap="square" lIns="0" tIns="0" rIns="0" bIns="0" rtlCol="0" anchor="ctr"/>
          <a:lstStyle/>
          <a:p>
            <a:pPr algn="l" indent="0" marL="0">
              <a:buNone/>
            </a:pPr>
            <a:r>
              <a:rPr lang="en-US" sz="4000" b="1" dirty="0">
                <a:solidFill>
                  <a:srgbClr val="003262"/>
                </a:solidFill>
                <a:latin typeface="Cambria" pitchFamily="34" charset="0"/>
                <a:ea typeface="Cambria" pitchFamily="34" charset="-122"/>
                <a:cs typeface="Cambria" pitchFamily="34" charset="-120"/>
              </a:rPr>
              <a:t>288</a:t>
            </a:r>
            <a:endParaRPr lang="en-US" sz="4000" dirty="0"/>
          </a:p>
        </p:txBody>
      </p:sp>
      <p:sp>
        <p:nvSpPr>
          <p:cNvPr id="8" name="Text 5"/>
          <p:cNvSpPr txBox="1"/>
          <p:nvPr/>
        </p:nvSpPr>
        <p:spPr>
          <a:xfrm>
            <a:off x="7589520" y="2423160"/>
            <a:ext cx="201168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trades a year, ES + NQ + YM (195 for ES + NQ)</a:t>
            </a:r>
            <a:endParaRPr lang="en-US" sz="1200" dirty="0"/>
          </a:p>
        </p:txBody>
      </p:sp>
      <p:sp>
        <p:nvSpPr>
          <p:cNvPr id="9" name="Text 6"/>
          <p:cNvSpPr txBox="1"/>
          <p:nvPr/>
        </p:nvSpPr>
        <p:spPr>
          <a:xfrm>
            <a:off x="9692640" y="1645920"/>
            <a:ext cx="2011680" cy="777240"/>
          </a:xfrm>
          <a:prstGeom prst="rect">
            <a:avLst/>
          </a:prstGeom>
          <a:noFill/>
          <a:ln/>
        </p:spPr>
        <p:txBody>
          <a:bodyPr wrap="square" lIns="0" tIns="0" rIns="0" bIns="0" rtlCol="0" anchor="ctr"/>
          <a:lstStyle/>
          <a:p>
            <a:pPr algn="l" indent="0" marL="0">
              <a:buNone/>
            </a:pPr>
            <a:r>
              <a:rPr lang="en-US" sz="4000" b="1" dirty="0">
                <a:solidFill>
                  <a:srgbClr val="003262"/>
                </a:solidFill>
                <a:latin typeface="Cambria" pitchFamily="34" charset="0"/>
                <a:ea typeface="Cambria" pitchFamily="34" charset="-122"/>
                <a:cs typeface="Cambria" pitchFamily="34" charset="-120"/>
              </a:rPr>
              <a:t>0.78</a:t>
            </a:r>
            <a:endParaRPr lang="en-US" sz="4000" dirty="0"/>
          </a:p>
        </p:txBody>
      </p:sp>
      <p:sp>
        <p:nvSpPr>
          <p:cNvPr id="10" name="Text 7"/>
          <p:cNvSpPr txBox="1"/>
          <p:nvPr/>
        </p:nvSpPr>
        <p:spPr>
          <a:xfrm>
            <a:off x="9692640" y="2423160"/>
            <a:ext cx="201168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net Sharpe (1.10 at ¼ tick); ES + NQ 0.72</a:t>
            </a:r>
            <a:endParaRPr lang="en-US" sz="1200" dirty="0"/>
          </a:p>
        </p:txBody>
      </p:sp>
      <p:sp>
        <p:nvSpPr>
          <p:cNvPr id="11" name="Text 8"/>
          <p:cNvSpPr txBox="1"/>
          <p:nvPr/>
        </p:nvSpPr>
        <p:spPr>
          <a:xfrm>
            <a:off x="7589520" y="3154680"/>
            <a:ext cx="2011680" cy="777240"/>
          </a:xfrm>
          <a:prstGeom prst="rect">
            <a:avLst/>
          </a:prstGeom>
          <a:noFill/>
          <a:ln/>
        </p:spPr>
        <p:txBody>
          <a:bodyPr wrap="square" lIns="0" tIns="0" rIns="0" bIns="0" rtlCol="0" anchor="ctr"/>
          <a:lstStyle/>
          <a:p>
            <a:pPr algn="l" indent="0" marL="0">
              <a:buNone/>
            </a:pPr>
            <a:r>
              <a:rPr lang="en-US" sz="4000" b="1" dirty="0">
                <a:solidFill>
                  <a:srgbClr val="003262"/>
                </a:solidFill>
                <a:latin typeface="Cambria" pitchFamily="34" charset="0"/>
                <a:ea typeface="Cambria" pitchFamily="34" charset="-122"/>
                <a:cs typeface="Cambria" pitchFamily="34" charset="-120"/>
              </a:rPr>
              <a:t>+38%</a:t>
            </a:r>
            <a:endParaRPr lang="en-US" sz="4000" dirty="0"/>
          </a:p>
        </p:txBody>
      </p:sp>
      <p:sp>
        <p:nvSpPr>
          <p:cNvPr id="12" name="Text 9"/>
          <p:cNvSpPr txBox="1"/>
          <p:nvPr/>
        </p:nvSpPr>
        <p:spPr>
          <a:xfrm>
            <a:off x="7589520" y="3931920"/>
            <a:ext cx="201168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total net P&amp;L, 2019–26</a:t>
            </a:r>
            <a:endParaRPr lang="en-US" sz="1200" dirty="0"/>
          </a:p>
        </p:txBody>
      </p:sp>
      <p:sp>
        <p:nvSpPr>
          <p:cNvPr id="13" name="Text 10"/>
          <p:cNvSpPr txBox="1"/>
          <p:nvPr/>
        </p:nvSpPr>
        <p:spPr>
          <a:xfrm>
            <a:off x="9692640" y="3154680"/>
            <a:ext cx="2011680" cy="777240"/>
          </a:xfrm>
          <a:prstGeom prst="rect">
            <a:avLst/>
          </a:prstGeom>
          <a:noFill/>
          <a:ln/>
        </p:spPr>
        <p:txBody>
          <a:bodyPr wrap="square" lIns="0" tIns="0" rIns="0" bIns="0" rtlCol="0" anchor="ctr"/>
          <a:lstStyle/>
          <a:p>
            <a:pPr algn="l" indent="0" marL="0">
              <a:buNone/>
            </a:pPr>
            <a:r>
              <a:rPr lang="en-US" sz="4000" b="1" dirty="0">
                <a:solidFill>
                  <a:srgbClr val="B3261E"/>
                </a:solidFill>
                <a:latin typeface="Cambria" pitchFamily="34" charset="0"/>
                <a:ea typeface="Cambria" pitchFamily="34" charset="-122"/>
                <a:cs typeface="Cambria" pitchFamily="34" charset="-120"/>
              </a:rPr>
              <a:t>−0.34</a:t>
            </a:r>
            <a:endParaRPr lang="en-US" sz="4000" dirty="0"/>
          </a:p>
        </p:txBody>
      </p:sp>
      <p:sp>
        <p:nvSpPr>
          <p:cNvPr id="14" name="Text 11"/>
          <p:cNvSpPr txBox="1"/>
          <p:nvPr/>
        </p:nvSpPr>
        <p:spPr>
          <a:xfrm>
            <a:off x="9692640" y="3931920"/>
            <a:ext cx="201168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Sharpe with ZN added (4 markets)</a:t>
            </a:r>
            <a:endParaRPr lang="en-US" sz="1200" dirty="0"/>
          </a:p>
        </p:txBody>
      </p:sp>
      <p:sp>
        <p:nvSpPr>
          <p:cNvPr id="15" name="Shape 12"/>
          <p:cNvSpPr/>
          <p:nvPr/>
        </p:nvSpPr>
        <p:spPr>
          <a:xfrm>
            <a:off x="7589520" y="4663440"/>
            <a:ext cx="4069080" cy="1463040"/>
          </a:xfrm>
          <a:prstGeom prst="roundRect">
            <a:avLst>
              <a:gd name="adj" fmla="val 5000"/>
            </a:avLst>
          </a:prstGeom>
          <a:solidFill>
            <a:srgbClr val="EEF3F8"/>
          </a:solidFill>
          <a:ln w="12700">
            <a:solidFill>
              <a:srgbClr val="EEF3F8"/>
            </a:solidFill>
            <a:prstDash val="solid"/>
          </a:ln>
        </p:spPr>
        <p:txBody>
          <a:bodyPr/>
          <a:p/>
        </p:txBody>
      </p:sp>
      <p:sp>
        <p:nvSpPr>
          <p:cNvPr id="16" name="Text 13"/>
          <p:cNvSpPr txBox="1"/>
          <p:nvPr/>
        </p:nvSpPr>
        <p:spPr>
          <a:xfrm>
            <a:off x="7754112" y="4773168"/>
            <a:ext cx="3739896" cy="1243584"/>
          </a:xfrm>
          <a:prstGeom prst="rect">
            <a:avLst/>
          </a:prstGeom>
          <a:noFill/>
          <a:ln/>
        </p:spPr>
        <p:txBody>
          <a:bodyPr wrap="square" lIns="0" tIns="0" rIns="0" bIns="0" rtlCol="0" anchor="t"/>
          <a:lstStyle/>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YM diversifies: its book correlates 0.66 with ES and 0.43 with NQ. ZN has no drift and gets the largest risk weight.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RQ7 · The team's four workstreams at equal costs</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Notebooks 08 and 08b: each person's own trades re-priced on the same window (2019–2026) and Sharpe method</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graphicFrame>
        <p:nvGraphicFramePr>
          <p:cNvPr id="6" name="Chart 0" descr=""/>
          <p:cNvGraphicFramePr/>
          <p:nvPr/>
        </p:nvGraphicFramePr>
        <p:xfrm>
          <a:off x="548640" y="1554480"/>
          <a:ext cx="7680960" cy="4572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503920" y="1645920"/>
            <a:ext cx="3108960" cy="4480560"/>
          </a:xfrm>
          <a:prstGeom prst="roundRect">
            <a:avLst>
              <a:gd name="adj" fmla="val 2353"/>
            </a:avLst>
          </a:prstGeom>
          <a:solidFill>
            <a:srgbClr val="EEF3F8"/>
          </a:solidFill>
          <a:ln w="12700">
            <a:solidFill>
              <a:srgbClr val="EEF3F8"/>
            </a:solidFill>
            <a:prstDash val="solid"/>
          </a:ln>
        </p:spPr>
        <p:txBody>
          <a:bodyPr/>
          <a:p/>
        </p:txBody>
      </p:sp>
      <p:sp>
        <p:nvSpPr>
          <p:cNvPr id="8" name="Text 5"/>
          <p:cNvSpPr txBox="1"/>
          <p:nvPr/>
        </p:nvSpPr>
        <p:spPr>
          <a:xfrm>
            <a:off x="8668512" y="1755648"/>
            <a:ext cx="2779776" cy="426110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Takeaways</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300+ trade-a-year DTW books are positive only at ¼ tick</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Surprise-based books survive realistic costs</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Reza ES+NQ+YM: highest Sharpe at ¼ tick (1.10) and highest total return at every cost</a:t>
            </a:r>
            <a:endParaRPr lang="en-US" sz="1600" dirty="0"/>
          </a:p>
          <a:p>
            <a:pPr marL="177800" indent="-1778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Jack's rebuild (310 tr/yr, 0.16) is an approximation, not his slide</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RQ7 · Surprise vs the team's DTW book, on identical terms</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combined/surprise_dtw_book.py: Jack Duncan's data, test years 2021–2026, costs and metrics · Sharpe at ¼ tick per side</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30</a:t>
            </a:r>
            <a:endParaRPr lang="en-US" sz="900" dirty="0"/>
          </a:p>
        </p:txBody>
      </p:sp>
      <p:sp>
        <p:nvSpPr>
          <p:cNvPr id="6" name="Shape 4"/>
          <p:cNvSpPr/>
          <p:nvPr/>
        </p:nvSpPr>
        <p:spPr>
          <a:xfrm>
            <a:off x="548640" y="1600200"/>
            <a:ext cx="3749040" cy="3246120"/>
          </a:xfrm>
          <a:prstGeom prst="roundRect">
            <a:avLst>
              <a:gd name="adj" fmla="val 2254"/>
            </a:avLst>
          </a:prstGeom>
          <a:solidFill>
            <a:srgbClr val="EEF3F8"/>
          </a:solidFill>
          <a:ln w="12700">
            <a:solidFill>
              <a:srgbClr val="EEF3F8"/>
            </a:solidFill>
            <a:prstDash val="solid"/>
          </a:ln>
        </p:spPr>
      </p:sp>
      <p:sp>
        <p:nvSpPr>
          <p:cNvPr id="7" name="Text 5"/>
          <p:cNvSpPr txBox="1"/>
          <p:nvPr/>
        </p:nvSpPr>
        <p:spPr>
          <a:xfrm>
            <a:off x="713232" y="1709928"/>
            <a:ext cx="3419856" cy="3026664"/>
          </a:xfrm>
          <a:prstGeom prst="rect">
            <a:avLst/>
          </a:prstGeom>
          <a:noFill/>
          <a:ln/>
        </p:spPr>
        <p:txBody>
          <a:bodyPr wrap="square" lIns="0" tIns="0" rIns="0" bIns="0" rtlCol="0" anchor="t"/>
          <a:lstStyle/>
          <a:p>
            <a:pPr indent="0" marL="0">
              <a:spcAft>
                <a:spcPts val="600"/>
              </a:spcAft>
              <a:buNone/>
            </a:pPr>
            <a:r>
              <a:rPr lang="en-US" sz="1600" b="1" dirty="0">
                <a:solidFill>
                  <a:srgbClr val="003262"/>
                </a:solidFill>
                <a:latin typeface="Calibri" pitchFamily="34" charset="0"/>
                <a:ea typeface="Calibri" pitchFamily="34" charset="-122"/>
                <a:cs typeface="Calibri" pitchFamily="34" charset="-120"/>
              </a:rPr>
              <a:t>Same terms</a:t>
            </a:r>
            <a:endParaRPr lang="en-US" sz="16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Shared: Jack's cleaned bars, contract specs, session grid, buy-and-hold, metrics and equal-risk combined book</a:t>
            </a:r>
            <a:endParaRPr lang="en-US" sz="16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Test years 2021–2026; validation 2018–2020</a:t>
            </a:r>
            <a:endParaRPr lang="en-US" sz="16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Different by design: one 30-min window at T+1 (vs a five-window ladder); walk-forward refit each year from 2013</a:t>
            </a:r>
            <a:endParaRPr lang="en-US" sz="1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26280" y="1600200"/>
          <a:ext cx="7086600" cy="914400"/>
        </p:xfrm>
        <a:graphic>
          <a:graphicData uri="http://schemas.openxmlformats.org/drawingml/2006/table">
            <a:tbl>
              <a:tblPr/>
              <a:tblGrid>
                <a:gridCol w="2423160"/>
                <a:gridCol w="731520"/>
                <a:gridCol w="731520"/>
                <a:gridCol w="731520"/>
                <a:gridCol w="777240"/>
                <a:gridCol w="822960"/>
                <a:gridCol w="868680"/>
              </a:tblGrid>
              <a:tr h="41148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Book</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ES</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NQ</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ZN</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All 3</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ES+NQ</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ES trades</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r>
              <a:tr h="41148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DTW book (Jack, 5 windows)</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0.21</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0.41</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B3261E"/>
                          </a:solidFill>
                          <a:latin typeface="Calibri" pitchFamily="34" charset="0"/>
                          <a:ea typeface="Calibri" pitchFamily="34" charset="-122"/>
                          <a:cs typeface="Calibri" pitchFamily="34" charset="-120"/>
                        </a:rPr>
                        <a:t>−0.85</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B3261E"/>
                          </a:solidFill>
                          <a:latin typeface="Calibri" pitchFamily="34" charset="0"/>
                          <a:ea typeface="Calibri" pitchFamily="34" charset="-122"/>
                          <a:cs typeface="Calibri" pitchFamily="34" charset="-120"/>
                        </a:rPr>
                        <a:t>−0.19</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1,443</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algn="ctr" indent="0" marL="0">
                        <a:buNone/>
                      </a:pPr>
                      <a:r>
                        <a:rPr lang="en-US" sz="1200" b="1" dirty="0">
                          <a:solidFill>
                            <a:srgbClr val="003262"/>
                          </a:solidFill>
                          <a:latin typeface="Calibri" pitchFamily="34" charset="0"/>
                          <a:ea typeface="Calibri" pitchFamily="34" charset="-122"/>
                          <a:cs typeface="Calibri" pitchFamily="34" charset="-120"/>
                        </a:rPr>
                        <a:t>Surprise, top-10 releases</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b="1" dirty="0">
                          <a:solidFill>
                            <a:srgbClr val="003262"/>
                          </a:solidFill>
                          <a:latin typeface="Calibri" pitchFamily="34" charset="0"/>
                          <a:ea typeface="Calibri" pitchFamily="34" charset="-122"/>
                          <a:cs typeface="Calibri" pitchFamily="34" charset="-120"/>
                        </a:rPr>
                        <a:t>1.09</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b="1" dirty="0">
                          <a:solidFill>
                            <a:srgbClr val="003262"/>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B3261E"/>
                          </a:solidFill>
                          <a:latin typeface="Calibri" pitchFamily="34" charset="0"/>
                          <a:ea typeface="Calibri" pitchFamily="34" charset="-122"/>
                          <a:cs typeface="Calibri" pitchFamily="34" charset="-120"/>
                        </a:rPr>
                        <a:t>−0.16</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b="1" dirty="0">
                          <a:solidFill>
                            <a:srgbClr val="003262"/>
                          </a:solidFill>
                          <a:latin typeface="Calibri" pitchFamily="34" charset="0"/>
                          <a:ea typeface="Calibri" pitchFamily="34" charset="-122"/>
                          <a:cs typeface="Calibri" pitchFamily="34" charset="-120"/>
                        </a:rPr>
                        <a:t>0.84</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b="1" dirty="0">
                          <a:solidFill>
                            <a:srgbClr val="003262"/>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527</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CPI surprise model</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0.51</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0.46</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0.17</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0.47</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0.49</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62</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Surprise + DTW agree</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0.37</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0.48</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0.12</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0.45</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0.48</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271</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CPI + DTW agree</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0.58</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0.48</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0.72</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0.68</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DTW only (Reza, 1 window)</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B3261E"/>
                          </a:solidFill>
                          <a:latin typeface="Calibri" pitchFamily="34" charset="0"/>
                          <a:ea typeface="Calibri" pitchFamily="34" charset="-122"/>
                          <a:cs typeface="Calibri" pitchFamily="34" charset="-120"/>
                        </a:rPr>
                        <a:t>−0.26</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B3261E"/>
                          </a:solidFill>
                          <a:latin typeface="Calibri" pitchFamily="34" charset="0"/>
                          <a:ea typeface="Calibri" pitchFamily="34" charset="-122"/>
                          <a:cs typeface="Calibri" pitchFamily="34" charset="-120"/>
                        </a:rPr>
                        <a:t>−0.28</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0.19</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B3261E"/>
                          </a:solidFill>
                          <a:latin typeface="Calibri" pitchFamily="34" charset="0"/>
                          <a:ea typeface="Calibri" pitchFamily="34" charset="-122"/>
                          <a:cs typeface="Calibri" pitchFamily="34" charset="-120"/>
                        </a:rPr>
                        <a:t>−0.23</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B3261E"/>
                          </a:solidFill>
                          <a:latin typeface="Calibri" pitchFamily="34" charset="0"/>
                          <a:ea typeface="Calibri" pitchFamily="34" charset="-122"/>
                          <a:cs typeface="Calibri" pitchFamily="34" charset="-120"/>
                        </a:rPr>
                        <a:t>−0.32</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356</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9" name="Shape 6"/>
          <p:cNvSpPr/>
          <p:nvPr/>
        </p:nvSpPr>
        <p:spPr>
          <a:xfrm>
            <a:off x="548640" y="5074920"/>
            <a:ext cx="11064240" cy="1051560"/>
          </a:xfrm>
          <a:prstGeom prst="roundRect">
            <a:avLst>
              <a:gd name="adj" fmla="val 6957"/>
            </a:avLst>
          </a:prstGeom>
          <a:solidFill>
            <a:srgbClr val="EEF3F8"/>
          </a:solidFill>
          <a:ln w="12700">
            <a:solidFill>
              <a:srgbClr val="EEF3F8"/>
            </a:solidFill>
            <a:prstDash val="solid"/>
          </a:ln>
        </p:spPr>
      </p:sp>
      <p:sp>
        <p:nvSpPr>
          <p:cNvPr id="10" name="Text 7"/>
          <p:cNvSpPr txBox="1"/>
          <p:nvPr/>
        </p:nvSpPr>
        <p:spPr>
          <a:xfrm>
            <a:off x="713232" y="5184648"/>
            <a:ext cx="10735056" cy="832104"/>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1F2937"/>
                </a:solidFill>
                <a:latin typeface="Calibri" pitchFamily="34" charset="0"/>
                <a:ea typeface="Calibri" pitchFamily="34" charset="-122"/>
                <a:cs typeface="Calibri" pitchFamily="34" charset="-120"/>
              </a:rPr>
              <a:t>The surprise direction beats the DTW book in both equity markets and in the combined book, with about a third of the trades</a:t>
            </a:r>
            <a:endParaRPr lang="en-US" sz="1500" dirty="0"/>
          </a:p>
          <a:p>
            <a:pPr marL="177800" indent="-177800">
              <a:spcAft>
                <a:spcPts val="400"/>
              </a:spcAft>
              <a:buSzPct val="100000"/>
              <a:buChar char="•"/>
            </a:pPr>
            <a:r>
              <a:rPr lang="en-US" sz="1500" dirty="0">
                <a:solidFill>
                  <a:srgbClr val="1F2937"/>
                </a:solidFill>
                <a:latin typeface="Calibri" pitchFamily="34" charset="0"/>
                <a:ea typeface="Calibri" pitchFamily="34" charset="-122"/>
                <a:cs typeface="Calibri" pitchFamily="34" charset="-120"/>
              </a:rPr>
              <a:t>ZN fails at any real cost in both workstreams: one tick is large next to its 30-minute moves</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Adding DTW and its effect on the results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31</a:t>
            </a:r>
            <a:endParaRPr lang="en-US" sz="900" dirty="0"/>
          </a:p>
        </p:txBody>
      </p:sp>
      <p:sp>
        <p:nvSpPr>
          <p:cNvPr id="5" name="Text 3"/>
          <p:cNvSpPr txBox="1"/>
          <p:nvPr/>
        </p:nvSpPr>
        <p:spPr>
          <a:xfrm>
            <a:off x="411480" y="1097280"/>
            <a:ext cx="2743200" cy="237744"/>
          </a:xfrm>
          <a:prstGeom prst="rect">
            <a:avLst/>
          </a:prstGeom>
          <a:noFill/>
          <a:ln/>
        </p:spPr>
        <p:txBody>
          <a:bodyPr wrap="square" lIns="0" tIns="0" rIns="0" bIns="0"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ES · E-mini S&amp;P 500</a:t>
            </a:r>
            <a:endParaRPr lang="en-US" sz="1150" dirty="0"/>
          </a:p>
        </p:txBody>
      </p:sp>
      <p:pic>
        <p:nvPicPr>
          <p:cNvPr id="6" name="Image 0" descr="/home/claude/pdf/figures/fig42_surprise_dtw_ES.png">    </p:cNvPr>
          <p:cNvPicPr>
            <a:picLocks noChangeAspect="1"/>
          </p:cNvPicPr>
          <p:nvPr/>
        </p:nvPicPr>
        <p:blipFill>
          <a:blip r:embed="rId1"/>
          <a:stretch>
            <a:fillRect/>
          </a:stretch>
        </p:blipFill>
        <p:spPr>
          <a:xfrm>
            <a:off x="411480" y="1337564"/>
            <a:ext cx="2743200" cy="2235200"/>
          </a:xfrm>
          <a:prstGeom prst="rect">
            <a:avLst/>
          </a:prstGeom>
        </p:spPr>
      </p:pic>
      <p:sp>
        <p:nvSpPr>
          <p:cNvPr id="7" name="Text 4"/>
          <p:cNvSpPr txBox="1"/>
          <p:nvPr/>
        </p:nvSpPr>
        <p:spPr>
          <a:xfrm>
            <a:off x="3282696" y="1097280"/>
            <a:ext cx="2743200" cy="237744"/>
          </a:xfrm>
          <a:prstGeom prst="rect">
            <a:avLst/>
          </a:prstGeom>
          <a:noFill/>
          <a:ln/>
        </p:spPr>
        <p:txBody>
          <a:bodyPr wrap="square" lIns="0" tIns="0" rIns="0" bIns="0" rtlCol="0" anchor="ctr"/>
          <a:lstStyle/>
          <a:p>
            <a:pPr indent="0" marL="0">
              <a:buNone/>
            </a:pPr>
            <a:r>
              <a:rPr lang="en-US" sz="1150" b="1" dirty="0">
                <a:solidFill>
                  <a:srgbClr val="7A3E9D"/>
                </a:solidFill>
                <a:latin typeface="Calibri" pitchFamily="34" charset="0"/>
                <a:ea typeface="Calibri" pitchFamily="34" charset="-122"/>
                <a:cs typeface="Calibri" pitchFamily="34" charset="-120"/>
              </a:rPr>
              <a:t>NQ · E-mini Nasdaq-100</a:t>
            </a:r>
            <a:endParaRPr lang="en-US" sz="1150" dirty="0"/>
          </a:p>
        </p:txBody>
      </p:sp>
      <p:pic>
        <p:nvPicPr>
          <p:cNvPr id="8" name="Image 1" descr="/home/claude/pdf/figures/fig42_surprise_dtw_NQ.png">    </p:cNvPr>
          <p:cNvPicPr>
            <a:picLocks noChangeAspect="1"/>
          </p:cNvPicPr>
          <p:nvPr/>
        </p:nvPicPr>
        <p:blipFill>
          <a:blip r:embed="rId2"/>
          <a:stretch>
            <a:fillRect/>
          </a:stretch>
        </p:blipFill>
        <p:spPr>
          <a:xfrm>
            <a:off x="3299945" y="1335024"/>
            <a:ext cx="2708702" cy="2240280"/>
          </a:xfrm>
          <a:prstGeom prst="rect">
            <a:avLst/>
          </a:prstGeom>
        </p:spPr>
      </p:pic>
      <p:sp>
        <p:nvSpPr>
          <p:cNvPr id="9" name="Text 5"/>
          <p:cNvSpPr txBox="1"/>
          <p:nvPr/>
        </p:nvSpPr>
        <p:spPr>
          <a:xfrm>
            <a:off x="6153912" y="1097280"/>
            <a:ext cx="2743200" cy="237744"/>
          </a:xfrm>
          <a:prstGeom prst="rect">
            <a:avLst/>
          </a:prstGeom>
          <a:noFill/>
          <a:ln/>
        </p:spPr>
        <p:txBody>
          <a:bodyPr wrap="square" lIns="0" tIns="0" rIns="0" bIns="0" rtlCol="0" anchor="ctr"/>
          <a:lstStyle/>
          <a:p>
            <a:pPr indent="0" marL="0">
              <a:buNone/>
            </a:pPr>
            <a:r>
              <a:rPr lang="en-US" sz="1150" b="1" dirty="0">
                <a:solidFill>
                  <a:srgbClr val="2E7D32"/>
                </a:solidFill>
                <a:latin typeface="Calibri" pitchFamily="34" charset="0"/>
                <a:ea typeface="Calibri" pitchFamily="34" charset="-122"/>
                <a:cs typeface="Calibri" pitchFamily="34" charset="-120"/>
              </a:rPr>
              <a:t>ZN · 10-year T-note</a:t>
            </a:r>
            <a:endParaRPr lang="en-US" sz="1150" dirty="0"/>
          </a:p>
        </p:txBody>
      </p:sp>
      <p:pic>
        <p:nvPicPr>
          <p:cNvPr id="10" name="Image 2" descr="/home/claude/pdf/figures/fig42_surprise_dtw_ZN.png">    </p:cNvPr>
          <p:cNvPicPr>
            <a:picLocks noChangeAspect="1"/>
          </p:cNvPicPr>
          <p:nvPr/>
        </p:nvPicPr>
        <p:blipFill>
          <a:blip r:embed="rId3"/>
          <a:stretch>
            <a:fillRect/>
          </a:stretch>
        </p:blipFill>
        <p:spPr>
          <a:xfrm>
            <a:off x="6153912" y="1353879"/>
            <a:ext cx="2743200" cy="2202569"/>
          </a:xfrm>
          <a:prstGeom prst="rect">
            <a:avLst/>
          </a:prstGeom>
        </p:spPr>
      </p:pic>
      <p:sp>
        <p:nvSpPr>
          <p:cNvPr id="11" name="Text 6"/>
          <p:cNvSpPr txBox="1"/>
          <p:nvPr/>
        </p:nvSpPr>
        <p:spPr>
          <a:xfrm>
            <a:off x="9025128" y="1097280"/>
            <a:ext cx="2743200" cy="237744"/>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ES + NQ · equal risk</a:t>
            </a:r>
            <a:endParaRPr lang="en-US" sz="1150" dirty="0"/>
          </a:p>
        </p:txBody>
      </p:sp>
      <p:pic>
        <p:nvPicPr>
          <p:cNvPr id="12" name="Image 3" descr="/home/claude/pdf/figures/fig42_surprise_dtw_ESNQ.png">    </p:cNvPr>
          <p:cNvPicPr>
            <a:picLocks noChangeAspect="1"/>
          </p:cNvPicPr>
          <p:nvPr/>
        </p:nvPicPr>
        <p:blipFill>
          <a:blip r:embed="rId4"/>
          <a:stretch>
            <a:fillRect/>
          </a:stretch>
        </p:blipFill>
        <p:spPr>
          <a:xfrm>
            <a:off x="9025128" y="1337564"/>
            <a:ext cx="2743200" cy="2235200"/>
          </a:xfrm>
          <a:prstGeom prst="rect">
            <a:avLst/>
          </a:prstGeom>
        </p:spPr>
      </p:pic>
      <p:sp>
        <p:nvSpPr>
          <p:cNvPr id="13" name="Shape 7"/>
          <p:cNvSpPr/>
          <p:nvPr/>
        </p:nvSpPr>
        <p:spPr>
          <a:xfrm>
            <a:off x="548640" y="3749040"/>
            <a:ext cx="320040" cy="0"/>
          </a:xfrm>
          <a:prstGeom prst="line">
            <a:avLst/>
          </a:prstGeom>
          <a:noFill/>
          <a:ln w="31750">
            <a:solidFill>
              <a:srgbClr val="1F77B4"/>
            </a:solidFill>
            <a:prstDash val="solid"/>
          </a:ln>
        </p:spPr>
      </p:sp>
      <p:sp>
        <p:nvSpPr>
          <p:cNvPr id="14" name="Text 8"/>
          <p:cNvSpPr txBox="1"/>
          <p:nvPr/>
        </p:nvSpPr>
        <p:spPr>
          <a:xfrm>
            <a:off x="932688" y="3630168"/>
            <a:ext cx="1828800" cy="237744"/>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CPI surprise model</a:t>
            </a:r>
            <a:endParaRPr lang="en-US" sz="1000" dirty="0"/>
          </a:p>
        </p:txBody>
      </p:sp>
      <p:sp>
        <p:nvSpPr>
          <p:cNvPr id="15" name="Shape 9"/>
          <p:cNvSpPr/>
          <p:nvPr/>
        </p:nvSpPr>
        <p:spPr>
          <a:xfrm>
            <a:off x="2788920" y="3749040"/>
            <a:ext cx="320040" cy="0"/>
          </a:xfrm>
          <a:prstGeom prst="line">
            <a:avLst/>
          </a:prstGeom>
          <a:noFill/>
          <a:ln w="31750">
            <a:solidFill>
              <a:srgbClr val="FF7F0E"/>
            </a:solidFill>
            <a:prstDash val="solid"/>
          </a:ln>
        </p:spPr>
      </p:sp>
      <p:sp>
        <p:nvSpPr>
          <p:cNvPr id="16" name="Text 10"/>
          <p:cNvSpPr txBox="1"/>
          <p:nvPr/>
        </p:nvSpPr>
        <p:spPr>
          <a:xfrm>
            <a:off x="3172968" y="3630168"/>
            <a:ext cx="1828800" cy="237744"/>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Surprise, top-10 releases</a:t>
            </a:r>
            <a:endParaRPr lang="en-US" sz="1000" dirty="0"/>
          </a:p>
        </p:txBody>
      </p:sp>
      <p:sp>
        <p:nvSpPr>
          <p:cNvPr id="17" name="Shape 11"/>
          <p:cNvSpPr/>
          <p:nvPr/>
        </p:nvSpPr>
        <p:spPr>
          <a:xfrm>
            <a:off x="5029200" y="3749040"/>
            <a:ext cx="320040" cy="0"/>
          </a:xfrm>
          <a:prstGeom prst="line">
            <a:avLst/>
          </a:prstGeom>
          <a:noFill/>
          <a:ln w="31750">
            <a:solidFill>
              <a:srgbClr val="2CA02C"/>
            </a:solidFill>
            <a:prstDash val="solid"/>
          </a:ln>
        </p:spPr>
      </p:sp>
      <p:sp>
        <p:nvSpPr>
          <p:cNvPr id="18" name="Text 12"/>
          <p:cNvSpPr txBox="1"/>
          <p:nvPr/>
        </p:nvSpPr>
        <p:spPr>
          <a:xfrm>
            <a:off x="5413248" y="3630168"/>
            <a:ext cx="1828800" cy="237744"/>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DTW only</a:t>
            </a:r>
            <a:endParaRPr lang="en-US" sz="1000" dirty="0"/>
          </a:p>
        </p:txBody>
      </p:sp>
      <p:sp>
        <p:nvSpPr>
          <p:cNvPr id="19" name="Shape 13"/>
          <p:cNvSpPr/>
          <p:nvPr/>
        </p:nvSpPr>
        <p:spPr>
          <a:xfrm>
            <a:off x="7269480" y="3749040"/>
            <a:ext cx="320040" cy="0"/>
          </a:xfrm>
          <a:prstGeom prst="line">
            <a:avLst/>
          </a:prstGeom>
          <a:noFill/>
          <a:ln w="31750">
            <a:solidFill>
              <a:srgbClr val="D62728"/>
            </a:solidFill>
            <a:prstDash val="solid"/>
          </a:ln>
        </p:spPr>
      </p:sp>
      <p:sp>
        <p:nvSpPr>
          <p:cNvPr id="20" name="Text 14"/>
          <p:cNvSpPr txBox="1"/>
          <p:nvPr/>
        </p:nvSpPr>
        <p:spPr>
          <a:xfrm>
            <a:off x="7653528" y="3630168"/>
            <a:ext cx="1828800" cy="237744"/>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Surprise + DTW agree</a:t>
            </a:r>
            <a:endParaRPr lang="en-US" sz="1000" dirty="0"/>
          </a:p>
        </p:txBody>
      </p:sp>
      <p:sp>
        <p:nvSpPr>
          <p:cNvPr id="21" name="Shape 15"/>
          <p:cNvSpPr/>
          <p:nvPr/>
        </p:nvSpPr>
        <p:spPr>
          <a:xfrm>
            <a:off x="9509760" y="3749040"/>
            <a:ext cx="320040" cy="0"/>
          </a:xfrm>
          <a:prstGeom prst="line">
            <a:avLst/>
          </a:prstGeom>
          <a:noFill/>
          <a:ln w="31750">
            <a:solidFill>
              <a:srgbClr val="9467BD"/>
            </a:solidFill>
            <a:prstDash val="solid"/>
          </a:ln>
        </p:spPr>
      </p:sp>
      <p:sp>
        <p:nvSpPr>
          <p:cNvPr id="22" name="Text 16"/>
          <p:cNvSpPr txBox="1"/>
          <p:nvPr/>
        </p:nvSpPr>
        <p:spPr>
          <a:xfrm>
            <a:off x="9893808" y="3630168"/>
            <a:ext cx="1828800" cy="237744"/>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CPI + DTW agree</a:t>
            </a:r>
            <a:endParaRPr lang="en-US" sz="1000" dirty="0"/>
          </a:p>
        </p:txBody>
      </p:sp>
      <p:sp>
        <p:nvSpPr>
          <p:cNvPr id="23" name="Text 17"/>
          <p:cNvSpPr txBox="1"/>
          <p:nvPr/>
        </p:nvSpPr>
        <p:spPr>
          <a:xfrm>
            <a:off x="548640" y="3886200"/>
            <a:ext cx="11064240" cy="22860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Cumulative % of notional, ¼ tick per side, test years 2021–2026 (combined/surprise_dtw_book.py)</a:t>
            </a:r>
            <a:endParaRPr lang="en-US" sz="9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5303520" cy="914400"/>
        </p:xfrm>
        <a:graphic>
          <a:graphicData uri="http://schemas.openxmlformats.org/drawingml/2006/table">
            <a:tbl>
              <a:tblPr/>
              <a:tblGrid>
                <a:gridCol w="2011680"/>
                <a:gridCol w="822960"/>
                <a:gridCol w="822960"/>
                <a:gridCol w="822960"/>
                <a:gridCol w="822960"/>
              </a:tblGrid>
              <a:tr h="329184">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Sharpe, ¼ tick</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ES 18–20</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ES 21–26</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NQ 18–20</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NQ 21–26</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r>
              <a:tr h="329184">
                <a:tc>
                  <a:txBody>
                    <a:bodyPr/>
                    <a:lstStyle/>
                    <a:p>
                      <a:pPr algn="ctr" indent="0" marL="0">
                        <a:buNone/>
                      </a:pPr>
                      <a:r>
                        <a:rPr lang="en-US" sz="1150" dirty="0">
                          <a:solidFill>
                            <a:srgbClr val="1F2937"/>
                          </a:solidFill>
                          <a:latin typeface="Calibri" pitchFamily="34" charset="0"/>
                          <a:ea typeface="Calibri" pitchFamily="34" charset="-122"/>
                          <a:cs typeface="Calibri" pitchFamily="34" charset="-120"/>
                        </a:rPr>
                        <a:t>Surprise, top-10 releases</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50" dirty="0">
                          <a:solidFill>
                            <a:srgbClr val="1F2937"/>
                          </a:solidFill>
                          <a:latin typeface="Calibri" pitchFamily="34" charset="0"/>
                          <a:ea typeface="Calibri" pitchFamily="34" charset="-122"/>
                          <a:cs typeface="Calibri" pitchFamily="34" charset="-120"/>
                        </a:rPr>
                        <a:t>1.04</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50" dirty="0">
                          <a:solidFill>
                            <a:srgbClr val="1F2937"/>
                          </a:solidFill>
                          <a:latin typeface="Calibri" pitchFamily="34" charset="0"/>
                          <a:ea typeface="Calibri" pitchFamily="34" charset="-122"/>
                          <a:cs typeface="Calibri" pitchFamily="34" charset="-120"/>
                        </a:rPr>
                        <a:t>1.09</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50" dirty="0">
                          <a:solidFill>
                            <a:srgbClr val="1F2937"/>
                          </a:solidFill>
                          <a:latin typeface="Calibri" pitchFamily="34" charset="0"/>
                          <a:ea typeface="Calibri" pitchFamily="34" charset="-122"/>
                          <a:cs typeface="Calibri" pitchFamily="34" charset="-120"/>
                        </a:rPr>
                        <a:t>0.86</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50" dirty="0">
                          <a:solidFill>
                            <a:srgbClr val="1F2937"/>
                          </a:solidFill>
                          <a:latin typeface="Calibri" pitchFamily="34" charset="0"/>
                          <a:ea typeface="Calibri" pitchFamily="34" charset="-122"/>
                          <a:cs typeface="Calibri" pitchFamily="34" charset="-120"/>
                        </a:rPr>
                        <a:t>0.75</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algn="ctr" indent="0" marL="0">
                        <a:buNone/>
                      </a:pPr>
                      <a:r>
                        <a:rPr lang="en-US" sz="1150" dirty="0">
                          <a:solidFill>
                            <a:srgbClr val="1F2937"/>
                          </a:solidFill>
                          <a:latin typeface="Calibri" pitchFamily="34" charset="0"/>
                          <a:ea typeface="Calibri" pitchFamily="34" charset="-122"/>
                          <a:cs typeface="Calibri" pitchFamily="34" charset="-120"/>
                        </a:rPr>
                        <a:t>DTW only</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50" dirty="0">
                          <a:solidFill>
                            <a:srgbClr val="1F2937"/>
                          </a:solidFill>
                          <a:latin typeface="Calibri" pitchFamily="34" charset="0"/>
                          <a:ea typeface="Calibri" pitchFamily="34" charset="-122"/>
                          <a:cs typeface="Calibri" pitchFamily="34" charset="-120"/>
                        </a:rPr>
                        <a:t>0.57</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50" b="1" dirty="0">
                          <a:solidFill>
                            <a:srgbClr val="B3261E"/>
                          </a:solidFill>
                          <a:latin typeface="Calibri" pitchFamily="34" charset="0"/>
                          <a:ea typeface="Calibri" pitchFamily="34" charset="-122"/>
                          <a:cs typeface="Calibri" pitchFamily="34" charset="-120"/>
                        </a:rPr>
                        <a:t>−0.26</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50" dirty="0">
                          <a:solidFill>
                            <a:srgbClr val="1F2937"/>
                          </a:solidFill>
                          <a:latin typeface="Calibri" pitchFamily="34" charset="0"/>
                          <a:ea typeface="Calibri" pitchFamily="34" charset="-122"/>
                          <a:cs typeface="Calibri" pitchFamily="34" charset="-120"/>
                        </a:rPr>
                        <a:t>0.78</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50" b="1" dirty="0">
                          <a:solidFill>
                            <a:srgbClr val="B3261E"/>
                          </a:solidFill>
                          <a:latin typeface="Calibri" pitchFamily="34" charset="0"/>
                          <a:ea typeface="Calibri" pitchFamily="34" charset="-122"/>
                          <a:cs typeface="Calibri" pitchFamily="34" charset="-120"/>
                        </a:rPr>
                        <a:t>−0.28</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algn="ctr" indent="0" marL="0">
                        <a:buNone/>
                      </a:pPr>
                      <a:r>
                        <a:rPr lang="en-US" sz="1150" dirty="0">
                          <a:solidFill>
                            <a:srgbClr val="1F2937"/>
                          </a:solidFill>
                          <a:latin typeface="Calibri" pitchFamily="34" charset="0"/>
                          <a:ea typeface="Calibri" pitchFamily="34" charset="-122"/>
                          <a:cs typeface="Calibri" pitchFamily="34" charset="-120"/>
                        </a:rPr>
                        <a:t>Surprise + DTW agree</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50" dirty="0">
                          <a:solidFill>
                            <a:srgbClr val="1F2937"/>
                          </a:solidFill>
                          <a:latin typeface="Calibri" pitchFamily="34" charset="0"/>
                          <a:ea typeface="Calibri" pitchFamily="34" charset="-122"/>
                          <a:cs typeface="Calibri" pitchFamily="34" charset="-120"/>
                        </a:rPr>
                        <a:t>1.46</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50" dirty="0">
                          <a:solidFill>
                            <a:srgbClr val="1F2937"/>
                          </a:solidFill>
                          <a:latin typeface="Calibri" pitchFamily="34" charset="0"/>
                          <a:ea typeface="Calibri" pitchFamily="34" charset="-122"/>
                          <a:cs typeface="Calibri" pitchFamily="34" charset="-120"/>
                        </a:rPr>
                        <a:t>0.37</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50" dirty="0">
                          <a:solidFill>
                            <a:srgbClr val="1F2937"/>
                          </a:solidFill>
                          <a:latin typeface="Calibri" pitchFamily="34" charset="0"/>
                          <a:ea typeface="Calibri" pitchFamily="34" charset="-122"/>
                          <a:cs typeface="Calibri" pitchFamily="34" charset="-120"/>
                        </a:rPr>
                        <a:t>1.21</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150" dirty="0">
                          <a:solidFill>
                            <a:srgbClr val="1F2937"/>
                          </a:solidFill>
                          <a:latin typeface="Calibri" pitchFamily="34" charset="0"/>
                          <a:ea typeface="Calibri" pitchFamily="34" charset="-122"/>
                          <a:cs typeface="Calibri" pitchFamily="34" charset="-120"/>
                        </a:rPr>
                        <a:t>0.48</a:t>
                      </a:r>
                      <a:endParaRPr lang="en-US" sz="11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25" name="Text 18"/>
          <p:cNvSpPr txBox="1"/>
          <p:nvPr/>
        </p:nvSpPr>
        <p:spPr>
          <a:xfrm>
            <a:off x="548640" y="5623560"/>
            <a:ext cx="530352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Validation 2018–2020 vs test 2021–2026, both walk-forward out of sample.</a:t>
            </a:r>
            <a:endParaRPr lang="en-US" sz="1000" dirty="0"/>
          </a:p>
        </p:txBody>
      </p:sp>
      <p:sp>
        <p:nvSpPr>
          <p:cNvPr id="26" name="Shape 19"/>
          <p:cNvSpPr/>
          <p:nvPr/>
        </p:nvSpPr>
        <p:spPr>
          <a:xfrm>
            <a:off x="6080760" y="4206240"/>
            <a:ext cx="5532120" cy="2011680"/>
          </a:xfrm>
          <a:prstGeom prst="roundRect">
            <a:avLst>
              <a:gd name="adj" fmla="val 3636"/>
            </a:avLst>
          </a:prstGeom>
          <a:solidFill>
            <a:srgbClr val="EEF3F8"/>
          </a:solidFill>
          <a:ln w="12700">
            <a:solidFill>
              <a:srgbClr val="EEF3F8"/>
            </a:solidFill>
            <a:prstDash val="solid"/>
          </a:ln>
        </p:spPr>
      </p:sp>
      <p:sp>
        <p:nvSpPr>
          <p:cNvPr id="27" name="Text 20"/>
          <p:cNvSpPr txBox="1"/>
          <p:nvPr/>
        </p:nvSpPr>
        <p:spPr>
          <a:xfrm>
            <a:off x="6245352" y="4315968"/>
            <a:ext cx="5202936" cy="1792224"/>
          </a:xfrm>
          <a:prstGeom prst="rect">
            <a:avLst/>
          </a:prstGeom>
          <a:noFill/>
          <a:ln/>
        </p:spPr>
        <p:txBody>
          <a:bodyPr wrap="square" lIns="0" tIns="0" rIns="0" bIns="0" rtlCol="0" anchor="t"/>
          <a:lstStyle/>
          <a:p>
            <a:pPr indent="0" marL="0">
              <a:spcAft>
                <a:spcPts val="600"/>
              </a:spcAft>
              <a:buNone/>
            </a:pPr>
            <a:r>
              <a:rPr lang="en-US" sz="1400" b="1" dirty="0">
                <a:solidFill>
                  <a:srgbClr val="003262"/>
                </a:solidFill>
                <a:latin typeface="Calibri" pitchFamily="34" charset="0"/>
                <a:ea typeface="Calibri" pitchFamily="34" charset="-122"/>
                <a:cs typeface="Calibri" pitchFamily="34" charset="-120"/>
              </a:rPr>
              <a:t>Effect of adding DTW</a:t>
            </a:r>
            <a:endParaRPr lang="en-US" sz="140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On its own (green), DTW loses in ES and NQ in 2021–2026 after working in 2018–2020: the same sign flip Jack found in dtw_dir</a:t>
            </a:r>
            <a:endParaRPr lang="en-US" sz="140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As a filter on the surprise (red), it halves the trades and cuts the Sharpe from 1.09 to 0.37 (ES) and 0.75 to 0.48 (NQ)</a:t>
            </a:r>
            <a:endParaRPr lang="en-US" sz="140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ZN: nothing survives costs; the surprise book (orange) ends negative</a:t>
            </a:r>
            <a:endParaRPr lang="en-US" sz="140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Most of the surprise book's gain came in 2022</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RQ7 · All four workstreams, three cost levels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
        <p:nvSpPr>
          <p:cNvPr id="5" name="Text 3"/>
          <p:cNvSpPr txBox="1"/>
          <p:nvPr/>
        </p:nvSpPr>
        <p:spPr>
          <a:xfrm>
            <a:off x="457200" y="1188720"/>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Figure 33 · Gross (no costs)</a:t>
            </a:r>
            <a:endParaRPr lang="en-US" sz="1150" dirty="0"/>
          </a:p>
        </p:txBody>
      </p:sp>
      <p:pic>
        <p:nvPicPr>
          <p:cNvPr id="6" name="Image 0" descr="/home/claude/pdf/figures/nb08_team_cumulative_Gross__no_costs.png">    </p:cNvPr>
          <p:cNvPicPr>
            <a:picLocks noChangeAspect="1"/>
          </p:cNvPicPr>
          <p:nvPr/>
        </p:nvPicPr>
        <p:blipFill>
          <a:blip r:embed="rId1"/>
          <a:stretch>
            <a:fillRect/>
          </a:stretch>
        </p:blipFill>
        <p:spPr>
          <a:xfrm>
            <a:off x="581025" y="1463040"/>
            <a:ext cx="5238750" cy="2286000"/>
          </a:xfrm>
          <a:prstGeom prst="rect">
            <a:avLst/>
          </a:prstGeom>
        </p:spPr>
      </p:pic>
      <p:sp>
        <p:nvSpPr>
          <p:cNvPr id="7" name="Text 4"/>
          <p:cNvSpPr txBox="1"/>
          <p:nvPr/>
        </p:nvSpPr>
        <p:spPr>
          <a:xfrm>
            <a:off x="6217920" y="1188720"/>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Figure 34 · Jack's cost: ¼ tick per side</a:t>
            </a:r>
            <a:endParaRPr lang="en-US" sz="1150" dirty="0"/>
          </a:p>
        </p:txBody>
      </p:sp>
      <p:pic>
        <p:nvPicPr>
          <p:cNvPr id="8" name="Image 1" descr="/home/claude/pdf/figures/nb08_team_cumulative_Jack_s_cost.png">    </p:cNvPr>
          <p:cNvPicPr>
            <a:picLocks noChangeAspect="1"/>
          </p:cNvPicPr>
          <p:nvPr/>
        </p:nvPicPr>
        <p:blipFill>
          <a:blip r:embed="rId2"/>
          <a:stretch>
            <a:fillRect/>
          </a:stretch>
        </p:blipFill>
        <p:spPr>
          <a:xfrm>
            <a:off x="6341745" y="1463040"/>
            <a:ext cx="5238750" cy="2286000"/>
          </a:xfrm>
          <a:prstGeom prst="rect">
            <a:avLst/>
          </a:prstGeom>
        </p:spPr>
      </p:pic>
      <p:sp>
        <p:nvSpPr>
          <p:cNvPr id="9" name="Text 5"/>
          <p:cNvSpPr txBox="1"/>
          <p:nvPr/>
        </p:nvSpPr>
        <p:spPr>
          <a:xfrm>
            <a:off x="457200" y="3767328"/>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Figure 35 · Our cost: 2 ticks + $4.50</a:t>
            </a:r>
            <a:endParaRPr lang="en-US" sz="1150" dirty="0"/>
          </a:p>
        </p:txBody>
      </p:sp>
      <p:pic>
        <p:nvPicPr>
          <p:cNvPr id="10" name="Image 2" descr="/home/claude/pdf/figures/nb08_team_cumulative_Our_cost.png">    </p:cNvPr>
          <p:cNvPicPr>
            <a:picLocks noChangeAspect="1"/>
          </p:cNvPicPr>
          <p:nvPr/>
        </p:nvPicPr>
        <p:blipFill>
          <a:blip r:embed="rId3"/>
          <a:stretch>
            <a:fillRect/>
          </a:stretch>
        </p:blipFill>
        <p:spPr>
          <a:xfrm>
            <a:off x="581025" y="4041648"/>
            <a:ext cx="5238750" cy="2286000"/>
          </a:xfrm>
          <a:prstGeom prst="rect">
            <a:avLst/>
          </a:prstGeom>
        </p:spPr>
      </p:pic>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217920" y="3794760"/>
          <a:ext cx="5486400" cy="1984248"/>
        </p:xfrm>
        <a:graphic>
          <a:graphicData uri="http://schemas.openxmlformats.org/drawingml/2006/table">
            <a:tbl>
              <a:tblPr/>
              <a:tblGrid>
                <a:gridCol w="1371600"/>
                <a:gridCol w="1325880"/>
                <a:gridCol w="1325880"/>
                <a:gridCol w="1463040"/>
              </a:tblGrid>
              <a:tr h="283464">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Sharpe / total</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Gross</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¼ tick</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2 ticks+$4.50</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83464">
                <a:tc>
                  <a:txBody>
                    <a:bodyPr/>
                    <a:lstStyle/>
                    <a:p>
                      <a:pPr indent="0" marL="0">
                        <a:buNone/>
                      </a:pPr>
                      <a:r>
                        <a:rPr lang="en-US" sz="950" b="1" dirty="0">
                          <a:solidFill>
                            <a:srgbClr val="003262"/>
                          </a:solidFill>
                          <a:latin typeface="Calibri" pitchFamily="34" charset="0"/>
                          <a:ea typeface="Calibri" pitchFamily="34" charset="-122"/>
                          <a:cs typeface="Calibri" pitchFamily="34" charset="-120"/>
                        </a:rPr>
                        <a:t>Reza (ES all)</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1.23 / 23.3%</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1.12 / 21.1%</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0.69 / 13.0%</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83464">
                <a:tc>
                  <a:txBody>
                    <a:bodyPr/>
                    <a:lstStyle/>
                    <a:p>
                      <a:pPr indent="0" marL="0">
                        <a:buNone/>
                      </a:pPr>
                      <a:r>
                        <a:rPr lang="en-US" sz="950" b="1" dirty="0">
                          <a:solidFill>
                            <a:srgbClr val="003262"/>
                          </a:solidFill>
                          <a:latin typeface="Calibri" pitchFamily="34" charset="0"/>
                          <a:ea typeface="Calibri" pitchFamily="34" charset="-122"/>
                          <a:cs typeface="Calibri" pitchFamily="34" charset="-120"/>
                        </a:rPr>
                        <a:t>Reza (ES+NQ+YM)</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1.17 / 56.9%</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1.09 / 53.2%</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0.78 / 37.8%</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83464">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Jack (rebuild)</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0.27 / 8.8%</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0.07 / 2.4%</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−0.66 / −21.5%</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83464">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Hoshea</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0.45 / 18.6%</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0.25 / 10.3%</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−0.50 / −20.6%</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83464">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Aaryen (exec.)</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0.92 / 7.3%</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0.88 / 6.9%</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0.72 / 5.6%</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83464">
                <a:tc>
                  <a:txBody>
                    <a:bodyPr/>
                    <a:lstStyle/>
                    <a:p>
                      <a:pPr indent="0" marL="0">
                        <a:buNone/>
                      </a:pPr>
                      <a:r>
                        <a:rPr lang="en-US" sz="950" dirty="0">
                          <a:solidFill>
                            <a:srgbClr val="6B7280"/>
                          </a:solidFill>
                          <a:latin typeface="Calibri" pitchFamily="34" charset="0"/>
                          <a:ea typeface="Calibri" pitchFamily="34" charset="-122"/>
                          <a:cs typeface="Calibri" pitchFamily="34" charset="-120"/>
                        </a:rPr>
                        <a:t>Aaryen (reported)</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6B7280"/>
                          </a:solidFill>
                          <a:latin typeface="Calibri" pitchFamily="34" charset="0"/>
                          <a:ea typeface="Calibri" pitchFamily="34" charset="-122"/>
                          <a:cs typeface="Calibri" pitchFamily="34" charset="-120"/>
                        </a:rPr>
                        <a:t>2.14 / 38.6%</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6B7280"/>
                          </a:solidFill>
                          <a:latin typeface="Calibri" pitchFamily="34" charset="0"/>
                          <a:ea typeface="Calibri" pitchFamily="34" charset="-122"/>
                          <a:cs typeface="Calibri" pitchFamily="34" charset="-120"/>
                        </a:rPr>
                        <a:t>2.13 / 38.3%</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6B7280"/>
                          </a:solidFill>
                          <a:latin typeface="Calibri" pitchFamily="34" charset="0"/>
                          <a:ea typeface="Calibri" pitchFamily="34" charset="-122"/>
                          <a:cs typeface="Calibri" pitchFamily="34" charset="-120"/>
                        </a:rPr>
                        <a:t>2.07 / 37.0%</a:t>
                      </a:r>
                      <a:endParaRPr lang="en-US" sz="105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12" name="Text 6"/>
          <p:cNvSpPr txBox="1"/>
          <p:nvPr/>
        </p:nvSpPr>
        <p:spPr>
          <a:xfrm>
            <a:off x="6217920" y="5897880"/>
            <a:ext cx="548640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Only the surprise books stay positive at our cost; the DTW books fall to about −20%.</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RQ7 · Each workstream in the peer slide format (1/2)</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33</a:t>
            </a:r>
            <a:endParaRPr lang="en-US" sz="900" dirty="0"/>
          </a:p>
        </p:txBody>
      </p:sp>
      <p:sp>
        <p:nvSpPr>
          <p:cNvPr id="5" name="Text 3"/>
          <p:cNvSpPr txBox="1"/>
          <p:nvPr/>
        </p:nvSpPr>
        <p:spPr>
          <a:xfrm>
            <a:off x="457200" y="1188720"/>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Figure 36 · Reza, ES all releases</a:t>
            </a:r>
            <a:endParaRPr lang="en-US" sz="1150" dirty="0"/>
          </a:p>
        </p:txBody>
      </p:sp>
      <p:pic>
        <p:nvPicPr>
          <p:cNvPr id="6" name="Image 0" descr="/home/claude/pdf/figures/nb08_slide_Reza___ES___All_releases__surprise_.png">    </p:cNvPr>
          <p:cNvPicPr>
            <a:picLocks noChangeAspect="1"/>
          </p:cNvPicPr>
          <p:nvPr/>
        </p:nvPicPr>
        <p:blipFill>
          <a:blip r:embed="rId1"/>
          <a:stretch>
            <a:fillRect/>
          </a:stretch>
        </p:blipFill>
        <p:spPr>
          <a:xfrm>
            <a:off x="457200" y="1608513"/>
            <a:ext cx="5486400" cy="1995055"/>
          </a:xfrm>
          <a:prstGeom prst="rect">
            <a:avLst/>
          </a:prstGeom>
        </p:spPr>
      </p:pic>
      <p:sp>
        <p:nvSpPr>
          <p:cNvPr id="7" name="Text 4"/>
          <p:cNvSpPr txBox="1"/>
          <p:nvPr/>
        </p:nvSpPr>
        <p:spPr>
          <a:xfrm>
            <a:off x="6217920" y="1188720"/>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Figure 37 · Reza, ES + NQ all releases</a:t>
            </a:r>
            <a:endParaRPr lang="en-US" sz="1150" dirty="0"/>
          </a:p>
        </p:txBody>
      </p:sp>
      <p:pic>
        <p:nvPicPr>
          <p:cNvPr id="8" name="Image 1" descr="/home/claude/pdf/figures/nb08_slide_Reza___ES_NQ___All_releases__surprise_.png">    </p:cNvPr>
          <p:cNvPicPr>
            <a:picLocks noChangeAspect="1"/>
          </p:cNvPicPr>
          <p:nvPr/>
        </p:nvPicPr>
        <p:blipFill>
          <a:blip r:embed="rId2"/>
          <a:stretch>
            <a:fillRect/>
          </a:stretch>
        </p:blipFill>
        <p:spPr>
          <a:xfrm>
            <a:off x="6217920" y="1608513"/>
            <a:ext cx="5486400" cy="1995055"/>
          </a:xfrm>
          <a:prstGeom prst="rect">
            <a:avLst/>
          </a:prstGeom>
        </p:spPr>
      </p:pic>
      <p:sp>
        <p:nvSpPr>
          <p:cNvPr id="9" name="Text 5"/>
          <p:cNvSpPr txBox="1"/>
          <p:nvPr/>
        </p:nvSpPr>
        <p:spPr>
          <a:xfrm>
            <a:off x="457200" y="3767328"/>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Figure 38 · Jack, DTW ladder (rebuild)</a:t>
            </a:r>
            <a:endParaRPr lang="en-US" sz="1150" dirty="0"/>
          </a:p>
        </p:txBody>
      </p:sp>
      <p:pic>
        <p:nvPicPr>
          <p:cNvPr id="10" name="Image 2" descr="/home/claude/pdf/figures/nb08_slide_Jack___ES___DTW_5_window_ladder__replication_.png">    </p:cNvPr>
          <p:cNvPicPr>
            <a:picLocks noChangeAspect="1"/>
          </p:cNvPicPr>
          <p:nvPr/>
        </p:nvPicPr>
        <p:blipFill>
          <a:blip r:embed="rId3"/>
          <a:stretch>
            <a:fillRect/>
          </a:stretch>
        </p:blipFill>
        <p:spPr>
          <a:xfrm>
            <a:off x="457200" y="4187121"/>
            <a:ext cx="5486400" cy="1995055"/>
          </a:xfrm>
          <a:prstGeom prst="rect">
            <a:avLst/>
          </a:prstGeom>
        </p:spPr>
      </p:pic>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217920" y="3794760"/>
          <a:ext cx="5486398" cy="914400"/>
        </p:xfrm>
        <a:graphic>
          <a:graphicData uri="http://schemas.openxmlformats.org/drawingml/2006/table">
            <a:tbl>
              <a:tblPr/>
              <a:tblGrid>
                <a:gridCol w="1653435"/>
                <a:gridCol w="901873"/>
                <a:gridCol w="977030"/>
                <a:gridCol w="977030"/>
                <a:gridCol w="977030"/>
              </a:tblGrid>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¼ tick per side</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Reza ES</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Reza ES+NQ</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Reza ES+NQ+YM</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Jack (rebuild)</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Total %</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21.1</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35.9</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53.2</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Daily Sharpe</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1.12</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1.06</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1.09</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0.07</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Max drawdown</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−3.7%</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−8.3%</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Trades / yr</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98</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195</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288</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315</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Always long, same windows</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−9.8%</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−21.7%</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12" name="Text 6"/>
          <p:cNvSpPr txBox="1"/>
          <p:nvPr/>
        </p:nvSpPr>
        <p:spPr>
          <a:xfrm>
            <a:off x="6217920" y="5852160"/>
            <a:ext cx="548640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Jack's own slide (his data, 2018–26): 185 trades/yr, Sharpe 0.61, 18.6%. Our rebuild is an approximation.</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RQ7 · Each workstream in the peer slide format (2/2)</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34</a:t>
            </a:r>
            <a:endParaRPr lang="en-US" sz="900" dirty="0"/>
          </a:p>
        </p:txBody>
      </p:sp>
      <p:sp>
        <p:nvSpPr>
          <p:cNvPr id="5" name="Text 3"/>
          <p:cNvSpPr txBox="1"/>
          <p:nvPr/>
        </p:nvSpPr>
        <p:spPr>
          <a:xfrm>
            <a:off x="457200" y="1188720"/>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Figure 39 · Hoshea, DTW event games</a:t>
            </a:r>
            <a:endParaRPr lang="en-US" sz="1150" dirty="0"/>
          </a:p>
        </p:txBody>
      </p:sp>
      <p:pic>
        <p:nvPicPr>
          <p:cNvPr id="6" name="Image 0" descr="/home/claude/pdf/figures/nb08_slide_Hoshea___ES___DTW_event_games__FOMC_JOLTS_PCE_Claims_.png">    </p:cNvPr>
          <p:cNvPicPr>
            <a:picLocks noChangeAspect="1"/>
          </p:cNvPicPr>
          <p:nvPr/>
        </p:nvPicPr>
        <p:blipFill>
          <a:blip r:embed="rId1"/>
          <a:stretch>
            <a:fillRect/>
          </a:stretch>
        </p:blipFill>
        <p:spPr>
          <a:xfrm>
            <a:off x="457200" y="1608513"/>
            <a:ext cx="5486400" cy="1995055"/>
          </a:xfrm>
          <a:prstGeom prst="rect">
            <a:avLst/>
          </a:prstGeom>
        </p:spPr>
      </p:pic>
      <p:sp>
        <p:nvSpPr>
          <p:cNvPr id="7" name="Text 4"/>
          <p:cNvSpPr txBox="1"/>
          <p:nvPr/>
        </p:nvSpPr>
        <p:spPr>
          <a:xfrm>
            <a:off x="6217920" y="1188720"/>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Figure 40 · Aaryen, classifier, as reported (entry at pre-release price)</a:t>
            </a:r>
            <a:endParaRPr lang="en-US" sz="1150" dirty="0"/>
          </a:p>
        </p:txBody>
      </p:sp>
      <p:pic>
        <p:nvPicPr>
          <p:cNvPr id="8" name="Image 1" descr="/home/claude/pdf/figures/nb08_slide_Aaryen___ES___classifier__30m__lag_0__as_reported_.png">    </p:cNvPr>
          <p:cNvPicPr>
            <a:picLocks noChangeAspect="1"/>
          </p:cNvPicPr>
          <p:nvPr/>
        </p:nvPicPr>
        <p:blipFill>
          <a:blip r:embed="rId2"/>
          <a:stretch>
            <a:fillRect/>
          </a:stretch>
        </p:blipFill>
        <p:spPr>
          <a:xfrm>
            <a:off x="6217920" y="1608513"/>
            <a:ext cx="5486400" cy="1995055"/>
          </a:xfrm>
          <a:prstGeom prst="rect">
            <a:avLst/>
          </a:prstGeom>
        </p:spPr>
      </p:pic>
      <p:sp>
        <p:nvSpPr>
          <p:cNvPr id="9" name="Text 5"/>
          <p:cNvSpPr txBox="1"/>
          <p:nvPr/>
        </p:nvSpPr>
        <p:spPr>
          <a:xfrm>
            <a:off x="457200" y="3767328"/>
            <a:ext cx="5486400" cy="256032"/>
          </a:xfrm>
          <a:prstGeom prst="rect">
            <a:avLst/>
          </a:prstGeom>
          <a:noFill/>
          <a:ln/>
        </p:spPr>
        <p:txBody>
          <a:bodyPr wrap="square" lIns="0" tIns="0" rIns="0" bIns="0" rtlCol="0" anchor="ctr"/>
          <a:lstStyle/>
          <a:p>
            <a:pPr indent="0" marL="0">
              <a:buNone/>
            </a:pPr>
            <a:r>
              <a:rPr lang="en-US" sz="1150" b="1" dirty="0">
                <a:solidFill>
                  <a:srgbClr val="003262"/>
                </a:solidFill>
                <a:latin typeface="Calibri" pitchFamily="34" charset="0"/>
                <a:ea typeface="Calibri" pitchFamily="34" charset="-122"/>
                <a:cs typeface="Calibri" pitchFamily="34" charset="-120"/>
              </a:rPr>
              <a:t>Figure 41 · Aaryen, classifier, executable (entry 1 min later)</a:t>
            </a:r>
            <a:endParaRPr lang="en-US" sz="1150" dirty="0"/>
          </a:p>
        </p:txBody>
      </p:sp>
      <p:pic>
        <p:nvPicPr>
          <p:cNvPr id="10" name="Image 2" descr="/home/claude/pdf/figures/nb08_slide_Aaryen___ES___classifier__30m__lag_1__executable_.png">    </p:cNvPr>
          <p:cNvPicPr>
            <a:picLocks noChangeAspect="1"/>
          </p:cNvPicPr>
          <p:nvPr/>
        </p:nvPicPr>
        <p:blipFill>
          <a:blip r:embed="rId3"/>
          <a:stretch>
            <a:fillRect/>
          </a:stretch>
        </p:blipFill>
        <p:spPr>
          <a:xfrm>
            <a:off x="457200" y="4187121"/>
            <a:ext cx="5486400" cy="1995055"/>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217920" y="3794760"/>
          <a:ext cx="5486400" cy="914400"/>
        </p:xfrm>
        <a:graphic>
          <a:graphicData uri="http://schemas.openxmlformats.org/drawingml/2006/table">
            <a:tbl>
              <a:tblPr/>
              <a:tblGrid>
                <a:gridCol w="1920240"/>
                <a:gridCol w="1005840"/>
                <a:gridCol w="1371600"/>
                <a:gridCol w="1188720"/>
              </a:tblGrid>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¼ tick per side</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Hoshea</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Aaryen reported</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Aaryen exec.</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Total %</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10.3</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38.3</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6.9</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Daily Sharpe</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2.13</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0.88</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Max drawdown</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−10.1%</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Trades / yr</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372</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Always long, same windows</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12" name="Text 6"/>
          <p:cNvSpPr txBox="1"/>
          <p:nvPr/>
        </p:nvSpPr>
        <p:spPr>
          <a:xfrm>
            <a:off x="6217920" y="5852160"/>
            <a:ext cx="5486400" cy="32004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Same positions, entry one minute apart: 38.3% → 6.9%. ~80% of the reported profit is the first-minute jump.</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The decisive assumption: when you enter</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Aaryen's 30-minute classifier, identical positions, entry moved by one minute</a:t>
            </a:r>
            <a:endParaRPr lang="en-US" sz="1500" dirty="0"/>
          </a:p>
        </p:txBody>
      </p:sp>
      <p:sp>
        <p:nvSpPr>
          <p:cNvPr id="4"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5"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35</a:t>
            </a:r>
            <a:endParaRPr lang="en-US" sz="900" dirty="0"/>
          </a:p>
        </p:txBody>
      </p:sp>
      <p:pic>
        <p:nvPicPr>
          <p:cNvPr id="6" name="Image 0" descr="/home/claude/pdf/figures/nb08_team_cumulative_Jack_s_cost.png">    </p:cNvPr>
          <p:cNvPicPr>
            <a:picLocks noChangeAspect="1"/>
          </p:cNvPicPr>
          <p:nvPr/>
        </p:nvPicPr>
        <p:blipFill>
          <a:blip r:embed="rId1"/>
          <a:stretch>
            <a:fillRect/>
          </a:stretch>
        </p:blipFill>
        <p:spPr>
          <a:xfrm>
            <a:off x="457200" y="2364140"/>
            <a:ext cx="6766560" cy="2952681"/>
          </a:xfrm>
          <a:prstGeom prst="rect">
            <a:avLst/>
          </a:prstGeom>
        </p:spPr>
      </p:pic>
      <p:sp>
        <p:nvSpPr>
          <p:cNvPr id="7" name="Text 4"/>
          <p:cNvSpPr txBox="1"/>
          <p:nvPr/>
        </p:nvSpPr>
        <p:spPr>
          <a:xfrm>
            <a:off x="7589520" y="1645920"/>
            <a:ext cx="4023360" cy="777240"/>
          </a:xfrm>
          <a:prstGeom prst="rect">
            <a:avLst/>
          </a:prstGeom>
          <a:noFill/>
          <a:ln/>
        </p:spPr>
        <p:txBody>
          <a:bodyPr wrap="square" lIns="0" tIns="0" rIns="0" bIns="0" rtlCol="0" anchor="ctr"/>
          <a:lstStyle/>
          <a:p>
            <a:pPr algn="l" indent="0" marL="0">
              <a:buNone/>
            </a:pPr>
            <a:r>
              <a:rPr lang="en-US" sz="4000" b="1" dirty="0">
                <a:solidFill>
                  <a:srgbClr val="003262"/>
                </a:solidFill>
                <a:latin typeface="Cambria" pitchFamily="34" charset="0"/>
                <a:ea typeface="Cambria" pitchFamily="34" charset="-122"/>
                <a:cs typeface="Cambria" pitchFamily="34" charset="-120"/>
              </a:rPr>
              <a:t>2.1 → 0.9</a:t>
            </a:r>
            <a:endParaRPr lang="en-US" sz="4000" dirty="0"/>
          </a:p>
        </p:txBody>
      </p:sp>
      <p:sp>
        <p:nvSpPr>
          <p:cNvPr id="8" name="Text 5"/>
          <p:cNvSpPr txBox="1"/>
          <p:nvPr/>
        </p:nvSpPr>
        <p:spPr>
          <a:xfrm>
            <a:off x="7589520" y="2423160"/>
            <a:ext cx="402336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Sharpe: entry at the pre-release price vs one minute after the release</a:t>
            </a:r>
            <a:endParaRPr lang="en-US" sz="1200" dirty="0"/>
          </a:p>
        </p:txBody>
      </p:sp>
      <p:sp>
        <p:nvSpPr>
          <p:cNvPr id="9" name="Text 6"/>
          <p:cNvSpPr txBox="1"/>
          <p:nvPr/>
        </p:nvSpPr>
        <p:spPr>
          <a:xfrm>
            <a:off x="7589520" y="3108960"/>
            <a:ext cx="4023360" cy="777240"/>
          </a:xfrm>
          <a:prstGeom prst="rect">
            <a:avLst/>
          </a:prstGeom>
          <a:noFill/>
          <a:ln/>
        </p:spPr>
        <p:txBody>
          <a:bodyPr wrap="square" lIns="0" tIns="0" rIns="0" bIns="0" rtlCol="0" anchor="ctr"/>
          <a:lstStyle/>
          <a:p>
            <a:pPr algn="l" indent="0" marL="0">
              <a:buNone/>
            </a:pPr>
            <a:r>
              <a:rPr lang="en-US" sz="4000" b="1" dirty="0">
                <a:solidFill>
                  <a:srgbClr val="B3261E"/>
                </a:solidFill>
                <a:latin typeface="Cambria" pitchFamily="34" charset="0"/>
                <a:ea typeface="Cambria" pitchFamily="34" charset="-122"/>
                <a:cs typeface="Cambria" pitchFamily="34" charset="-120"/>
              </a:rPr>
              <a:t>38.6% → 7.3%</a:t>
            </a:r>
            <a:endParaRPr lang="en-US" sz="4000" dirty="0"/>
          </a:p>
        </p:txBody>
      </p:sp>
      <p:sp>
        <p:nvSpPr>
          <p:cNvPr id="10" name="Text 7"/>
          <p:cNvSpPr txBox="1"/>
          <p:nvPr/>
        </p:nvSpPr>
        <p:spPr>
          <a:xfrm>
            <a:off x="7589520" y="3886200"/>
            <a:ext cx="402336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Gross total return: ~80% of the reported profit is the first-minute jump</a:t>
            </a:r>
            <a:endParaRPr lang="en-US" sz="1200" dirty="0"/>
          </a:p>
        </p:txBody>
      </p:sp>
      <p:sp>
        <p:nvSpPr>
          <p:cNvPr id="11" name="Shape 8"/>
          <p:cNvSpPr/>
          <p:nvPr/>
        </p:nvSpPr>
        <p:spPr>
          <a:xfrm>
            <a:off x="7589520" y="4617720"/>
            <a:ext cx="4023360" cy="1508760"/>
          </a:xfrm>
          <a:prstGeom prst="roundRect">
            <a:avLst>
              <a:gd name="adj" fmla="val 4848"/>
            </a:avLst>
          </a:prstGeom>
          <a:solidFill>
            <a:srgbClr val="EEF3F8"/>
          </a:solidFill>
          <a:ln w="12700">
            <a:solidFill>
              <a:srgbClr val="EEF3F8"/>
            </a:solidFill>
            <a:prstDash val="solid"/>
          </a:ln>
        </p:spPr>
      </p:sp>
      <p:sp>
        <p:nvSpPr>
          <p:cNvPr id="12" name="Text 9"/>
          <p:cNvSpPr txBox="1"/>
          <p:nvPr/>
        </p:nvSpPr>
        <p:spPr>
          <a:xfrm>
            <a:off x="7754112" y="4727448"/>
            <a:ext cx="3694176" cy="1289304"/>
          </a:xfrm>
          <a:prstGeom prst="rect">
            <a:avLst/>
          </a:prstGeom>
          <a:noFill/>
          <a:ln/>
        </p:spPr>
        <p:txBody>
          <a:bodyPr wrap="square" lIns="0" tIns="0" rIns="0" bIns="0" rtlCol="0" anchor="t"/>
          <a:lstStyle/>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Report every strategy with an executable entry and at two cost levels. These choices change Sharpe ratios more than any model choice.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Discussion: why equities and not bonds?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36</a:t>
            </a:r>
            <a:endParaRPr lang="en-US" sz="900" dirty="0"/>
          </a:p>
        </p:txBody>
      </p:sp>
      <p:sp>
        <p:nvSpPr>
          <p:cNvPr id="5" name="Shape 3"/>
          <p:cNvSpPr/>
          <p:nvPr/>
        </p:nvSpPr>
        <p:spPr>
          <a:xfrm>
            <a:off x="548640" y="1280160"/>
            <a:ext cx="5440680" cy="2240280"/>
          </a:xfrm>
          <a:prstGeom prst="roundRect">
            <a:avLst>
              <a:gd name="adj" fmla="val 3265"/>
            </a:avLst>
          </a:prstGeom>
          <a:solidFill>
            <a:srgbClr val="EEF3F8"/>
          </a:solidFill>
          <a:ln w="12700">
            <a:solidFill>
              <a:srgbClr val="EEF3F8"/>
            </a:solidFill>
            <a:prstDash val="solid"/>
          </a:ln>
        </p:spPr>
        <p:txBody>
          <a:bodyPr/>
          <a:p/>
        </p:txBody>
      </p:sp>
      <p:sp>
        <p:nvSpPr>
          <p:cNvPr id="6" name="Text 4"/>
          <p:cNvSpPr txBox="1"/>
          <p:nvPr/>
        </p:nvSpPr>
        <p:spPr>
          <a:xfrm>
            <a:off x="713232" y="1389888"/>
            <a:ext cx="5111496" cy="2020824"/>
          </a:xfrm>
          <a:prstGeom prst="rect">
            <a:avLst/>
          </a:prstGeom>
          <a:noFill/>
          <a:ln/>
        </p:spPr>
        <p:txBody>
          <a:bodyPr wrap="square" lIns="0" tIns="0" rIns="0" bIns="0" rtlCol="0" anchor="t"/>
          <a:lstStyle/>
          <a:p>
            <a:pPr indent="0" marL="0">
              <a:spcAft>
                <a:spcPts val="400"/>
              </a:spcAft>
              <a:buNone/>
            </a:pPr>
            <a:endParaRPr lang="en-US" sz="1300" dirty="0"/>
          </a:p>
        </p:txBody>
      </p:sp>
      <p:sp>
        <p:nvSpPr>
          <p:cNvPr id="7" name="Shape 5"/>
          <p:cNvSpPr/>
          <p:nvPr/>
        </p:nvSpPr>
        <p:spPr>
          <a:xfrm>
            <a:off x="777240" y="1508760"/>
            <a:ext cx="457200" cy="457200"/>
          </a:xfrm>
          <a:prstGeom prst="ellipse">
            <a:avLst/>
          </a:prstGeom>
          <a:solidFill>
            <a:srgbClr val="FDB515"/>
          </a:solidFill>
          <a:ln w="12700">
            <a:solidFill>
              <a:srgbClr val="FDB515"/>
            </a:solidFill>
            <a:prstDash val="solid"/>
          </a:ln>
        </p:spPr>
        <p:txBody>
          <a:bodyPr/>
          <a:p/>
        </p:txBody>
      </p:sp>
      <p:sp>
        <p:nvSpPr>
          <p:cNvPr id="8" name="Text 6"/>
          <p:cNvSpPr txBox="1"/>
          <p:nvPr/>
        </p:nvSpPr>
        <p:spPr>
          <a:xfrm>
            <a:off x="777240" y="150876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417320" y="1481328"/>
            <a:ext cx="4389120" cy="502920"/>
          </a:xfrm>
          <a:prstGeom prst="rect">
            <a:avLst/>
          </a:prstGeom>
          <a:noFill/>
          <a:ln/>
        </p:spPr>
        <p:txBody>
          <a:bodyPr wrap="square" lIns="0" tIns="0" rIns="0" bIns="0" rtlCol="0" anchor="ctr"/>
          <a:lstStyle/>
          <a:p>
            <a:pPr indent="0" marL="0">
              <a:buNone/>
            </a:pPr>
            <a:r>
              <a:rPr lang="en-US" sz="1800" b="1" dirty="0">
                <a:solidFill>
                  <a:srgbClr val="003262"/>
                </a:solidFill>
                <a:latin typeface="Calibri" pitchFamily="34" charset="0"/>
                <a:ea typeface="Calibri" pitchFamily="34" charset="-122"/>
                <a:cs typeface="Calibri" pitchFamily="34" charset="-120"/>
              </a:rPr>
              <a:t>Interpretation takes time</a:t>
            </a:r>
            <a:endParaRPr lang="en-US" sz="1800" dirty="0"/>
          </a:p>
        </p:txBody>
      </p:sp>
      <p:sp>
        <p:nvSpPr>
          <p:cNvPr id="10" name="Text 8"/>
          <p:cNvSpPr txBox="1"/>
          <p:nvPr/>
        </p:nvSpPr>
        <p:spPr>
          <a:xfrm>
            <a:off x="1417320" y="2057400"/>
            <a:ext cx="4389120" cy="13258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 CPI print maps into yields almost mechanically; for equities investors must also judge growth, margins and risk premia. NQ (long duration) drifts most; YM behaves like a slightly smaller ES.</a:t>
            </a:r>
            <a:endParaRPr lang="en-US" sz="1400" dirty="0"/>
          </a:p>
        </p:txBody>
      </p:sp>
      <p:sp>
        <p:nvSpPr>
          <p:cNvPr id="11" name="Shape 9"/>
          <p:cNvSpPr/>
          <p:nvPr/>
        </p:nvSpPr>
        <p:spPr>
          <a:xfrm>
            <a:off x="6172200" y="1280160"/>
            <a:ext cx="5440680" cy="2240280"/>
          </a:xfrm>
          <a:prstGeom prst="roundRect">
            <a:avLst>
              <a:gd name="adj" fmla="val 3265"/>
            </a:avLst>
          </a:prstGeom>
          <a:solidFill>
            <a:srgbClr val="EEF3F8"/>
          </a:solidFill>
          <a:ln w="12700">
            <a:solidFill>
              <a:srgbClr val="EEF3F8"/>
            </a:solidFill>
            <a:prstDash val="solid"/>
          </a:ln>
        </p:spPr>
        <p:txBody>
          <a:bodyPr/>
          <a:p/>
        </p:txBody>
      </p:sp>
      <p:sp>
        <p:nvSpPr>
          <p:cNvPr id="12" name="Text 10"/>
          <p:cNvSpPr txBox="1"/>
          <p:nvPr/>
        </p:nvSpPr>
        <p:spPr>
          <a:xfrm>
            <a:off x="6336792" y="1389888"/>
            <a:ext cx="5111496" cy="2020824"/>
          </a:xfrm>
          <a:prstGeom prst="rect">
            <a:avLst/>
          </a:prstGeom>
          <a:noFill/>
          <a:ln/>
        </p:spPr>
        <p:txBody>
          <a:bodyPr wrap="square" lIns="0" tIns="0" rIns="0" bIns="0" rtlCol="0" anchor="t"/>
          <a:lstStyle/>
          <a:p>
            <a:pPr indent="0" marL="0">
              <a:spcAft>
                <a:spcPts val="400"/>
              </a:spcAft>
              <a:buNone/>
            </a:pPr>
            <a:endParaRPr lang="en-US" sz="1300" dirty="0"/>
          </a:p>
        </p:txBody>
      </p:sp>
      <p:sp>
        <p:nvSpPr>
          <p:cNvPr id="13" name="Shape 11"/>
          <p:cNvSpPr/>
          <p:nvPr/>
        </p:nvSpPr>
        <p:spPr>
          <a:xfrm>
            <a:off x="6400800" y="1508760"/>
            <a:ext cx="457200" cy="457200"/>
          </a:xfrm>
          <a:prstGeom prst="ellipse">
            <a:avLst/>
          </a:prstGeom>
          <a:solidFill>
            <a:srgbClr val="FDB515"/>
          </a:solidFill>
          <a:ln w="12700">
            <a:solidFill>
              <a:srgbClr val="FDB515"/>
            </a:solidFill>
            <a:prstDash val="solid"/>
          </a:ln>
        </p:spPr>
        <p:txBody>
          <a:bodyPr/>
          <a:p/>
        </p:txBody>
      </p:sp>
      <p:sp>
        <p:nvSpPr>
          <p:cNvPr id="14" name="Text 12"/>
          <p:cNvSpPr txBox="1"/>
          <p:nvPr/>
        </p:nvSpPr>
        <p:spPr>
          <a:xfrm>
            <a:off x="6400800" y="150876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7040880" y="1481328"/>
            <a:ext cx="4389120" cy="502920"/>
          </a:xfrm>
          <a:prstGeom prst="rect">
            <a:avLst/>
          </a:prstGeom>
          <a:noFill/>
          <a:ln/>
        </p:spPr>
        <p:txBody>
          <a:bodyPr wrap="square" lIns="0" tIns="0" rIns="0" bIns="0" rtlCol="0" anchor="ctr"/>
          <a:lstStyle/>
          <a:p>
            <a:pPr indent="0" marL="0">
              <a:buNone/>
            </a:pPr>
            <a:r>
              <a:rPr lang="en-US" sz="1800" b="1" dirty="0">
                <a:solidFill>
                  <a:srgbClr val="003262"/>
                </a:solidFill>
                <a:latin typeface="Calibri" pitchFamily="34" charset="0"/>
                <a:ea typeface="Calibri" pitchFamily="34" charset="-122"/>
                <a:cs typeface="Calibri" pitchFamily="34" charset="-120"/>
              </a:rPr>
              <a:t>Liquidity returns gradually</a:t>
            </a:r>
            <a:endParaRPr lang="en-US" sz="1800" dirty="0"/>
          </a:p>
        </p:txBody>
      </p:sp>
      <p:sp>
        <p:nvSpPr>
          <p:cNvPr id="16" name="Text 14"/>
          <p:cNvSpPr txBox="1"/>
          <p:nvPr/>
        </p:nvSpPr>
        <p:spPr>
          <a:xfrm>
            <a:off x="7040880" y="2057400"/>
            <a:ext cx="4389120" cy="13258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Order books thin out at the release and refill over minutes: part of the drift is price discovery.</a:t>
            </a:r>
            <a:endParaRPr lang="en-US" sz="1400" dirty="0"/>
          </a:p>
        </p:txBody>
      </p:sp>
      <p:sp>
        <p:nvSpPr>
          <p:cNvPr id="17" name="Shape 15"/>
          <p:cNvSpPr/>
          <p:nvPr/>
        </p:nvSpPr>
        <p:spPr>
          <a:xfrm>
            <a:off x="548640" y="3749040"/>
            <a:ext cx="5440680" cy="2240280"/>
          </a:xfrm>
          <a:prstGeom prst="roundRect">
            <a:avLst>
              <a:gd name="adj" fmla="val 3265"/>
            </a:avLst>
          </a:prstGeom>
          <a:solidFill>
            <a:srgbClr val="EEF3F8"/>
          </a:solidFill>
          <a:ln w="12700">
            <a:solidFill>
              <a:srgbClr val="EEF3F8"/>
            </a:solidFill>
            <a:prstDash val="solid"/>
          </a:ln>
        </p:spPr>
        <p:txBody>
          <a:bodyPr/>
          <a:p/>
        </p:txBody>
      </p:sp>
      <p:sp>
        <p:nvSpPr>
          <p:cNvPr id="18" name="Text 16"/>
          <p:cNvSpPr txBox="1"/>
          <p:nvPr/>
        </p:nvSpPr>
        <p:spPr>
          <a:xfrm>
            <a:off x="713232" y="3858768"/>
            <a:ext cx="5111496" cy="2020824"/>
          </a:xfrm>
          <a:prstGeom prst="rect">
            <a:avLst/>
          </a:prstGeom>
          <a:noFill/>
          <a:ln/>
        </p:spPr>
        <p:txBody>
          <a:bodyPr wrap="square" lIns="0" tIns="0" rIns="0" bIns="0" rtlCol="0" anchor="t"/>
          <a:lstStyle/>
          <a:p>
            <a:pPr indent="0" marL="0">
              <a:spcAft>
                <a:spcPts val="400"/>
              </a:spcAft>
              <a:buNone/>
            </a:pPr>
            <a:endParaRPr lang="en-US" sz="1300" dirty="0"/>
          </a:p>
        </p:txBody>
      </p:sp>
      <p:sp>
        <p:nvSpPr>
          <p:cNvPr id="19" name="Shape 17"/>
          <p:cNvSpPr/>
          <p:nvPr/>
        </p:nvSpPr>
        <p:spPr>
          <a:xfrm>
            <a:off x="777240" y="3977640"/>
            <a:ext cx="457200" cy="457200"/>
          </a:xfrm>
          <a:prstGeom prst="ellipse">
            <a:avLst/>
          </a:prstGeom>
          <a:solidFill>
            <a:srgbClr val="FDB515"/>
          </a:solidFill>
          <a:ln w="12700">
            <a:solidFill>
              <a:srgbClr val="FDB515"/>
            </a:solidFill>
            <a:prstDash val="solid"/>
          </a:ln>
        </p:spPr>
        <p:txBody>
          <a:bodyPr/>
          <a:p/>
        </p:txBody>
      </p:sp>
      <p:sp>
        <p:nvSpPr>
          <p:cNvPr id="20" name="Text 18"/>
          <p:cNvSpPr txBox="1"/>
          <p:nvPr/>
        </p:nvSpPr>
        <p:spPr>
          <a:xfrm>
            <a:off x="777240" y="397764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1417320" y="3950208"/>
            <a:ext cx="4389120" cy="502920"/>
          </a:xfrm>
          <a:prstGeom prst="rect">
            <a:avLst/>
          </a:prstGeom>
          <a:noFill/>
          <a:ln/>
        </p:spPr>
        <p:txBody>
          <a:bodyPr wrap="square" lIns="0" tIns="0" rIns="0" bIns="0" rtlCol="0" anchor="ctr"/>
          <a:lstStyle/>
          <a:p>
            <a:pPr indent="0" marL="0">
              <a:buNone/>
            </a:pPr>
            <a:r>
              <a:rPr lang="en-US" sz="1800" b="1" dirty="0">
                <a:solidFill>
                  <a:srgbClr val="003262"/>
                </a:solidFill>
                <a:latin typeface="Calibri" pitchFamily="34" charset="0"/>
                <a:ea typeface="Calibri" pitchFamily="34" charset="-122"/>
                <a:cs typeface="Calibri" pitchFamily="34" charset="-120"/>
              </a:rPr>
              <a:t>Bonds move first</a:t>
            </a:r>
            <a:endParaRPr lang="en-US" sz="1800" dirty="0"/>
          </a:p>
        </p:txBody>
      </p:sp>
      <p:sp>
        <p:nvSpPr>
          <p:cNvPr id="22" name="Text 20"/>
          <p:cNvSpPr txBox="1"/>
          <p:nvPr/>
        </p:nvSpPr>
        <p:spPr>
          <a:xfrm>
            <a:off x="1417320" y="4526280"/>
            <a:ext cx="4389120" cy="13258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Treasury futures price rate news directly and fastest; by T+1 the move is complete.</a:t>
            </a:r>
            <a:endParaRPr lang="en-US" sz="1400" dirty="0"/>
          </a:p>
        </p:txBody>
      </p:sp>
      <p:sp>
        <p:nvSpPr>
          <p:cNvPr id="23" name="Shape 21"/>
          <p:cNvSpPr/>
          <p:nvPr/>
        </p:nvSpPr>
        <p:spPr>
          <a:xfrm>
            <a:off x="6172200" y="3749040"/>
            <a:ext cx="5440680" cy="2240280"/>
          </a:xfrm>
          <a:prstGeom prst="roundRect">
            <a:avLst>
              <a:gd name="adj" fmla="val 3265"/>
            </a:avLst>
          </a:prstGeom>
          <a:solidFill>
            <a:srgbClr val="EEF3F8"/>
          </a:solidFill>
          <a:ln w="12700">
            <a:solidFill>
              <a:srgbClr val="EEF3F8"/>
            </a:solidFill>
            <a:prstDash val="solid"/>
          </a:ln>
        </p:spPr>
        <p:txBody>
          <a:bodyPr/>
          <a:p/>
        </p:txBody>
      </p:sp>
      <p:sp>
        <p:nvSpPr>
          <p:cNvPr id="24" name="Text 22"/>
          <p:cNvSpPr txBox="1"/>
          <p:nvPr/>
        </p:nvSpPr>
        <p:spPr>
          <a:xfrm>
            <a:off x="6336792" y="3858768"/>
            <a:ext cx="5111496" cy="2020824"/>
          </a:xfrm>
          <a:prstGeom prst="rect">
            <a:avLst/>
          </a:prstGeom>
          <a:noFill/>
          <a:ln/>
        </p:spPr>
        <p:txBody>
          <a:bodyPr wrap="square" lIns="0" tIns="0" rIns="0" bIns="0" rtlCol="0" anchor="t"/>
          <a:lstStyle/>
          <a:p>
            <a:pPr indent="0" marL="0">
              <a:spcAft>
                <a:spcPts val="400"/>
              </a:spcAft>
              <a:buNone/>
            </a:pPr>
            <a:endParaRPr lang="en-US" sz="1300" dirty="0"/>
          </a:p>
        </p:txBody>
      </p:sp>
      <p:sp>
        <p:nvSpPr>
          <p:cNvPr id="25" name="Shape 23"/>
          <p:cNvSpPr/>
          <p:nvPr/>
        </p:nvSpPr>
        <p:spPr>
          <a:xfrm>
            <a:off x="6400800" y="3977640"/>
            <a:ext cx="457200" cy="457200"/>
          </a:xfrm>
          <a:prstGeom prst="ellipse">
            <a:avLst/>
          </a:prstGeom>
          <a:solidFill>
            <a:srgbClr val="FDB515"/>
          </a:solidFill>
          <a:ln w="12700">
            <a:solidFill>
              <a:srgbClr val="FDB515"/>
            </a:solidFill>
            <a:prstDash val="solid"/>
          </a:ln>
        </p:spPr>
        <p:txBody>
          <a:bodyPr/>
          <a:p/>
        </p:txBody>
      </p:sp>
      <p:sp>
        <p:nvSpPr>
          <p:cNvPr id="26" name="Text 24"/>
          <p:cNvSpPr txBox="1"/>
          <p:nvPr/>
        </p:nvSpPr>
        <p:spPr>
          <a:xfrm>
            <a:off x="6400800" y="397764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7040880" y="3950208"/>
            <a:ext cx="4389120" cy="502920"/>
          </a:xfrm>
          <a:prstGeom prst="rect">
            <a:avLst/>
          </a:prstGeom>
          <a:noFill/>
          <a:ln/>
        </p:spPr>
        <p:txBody>
          <a:bodyPr wrap="square" lIns="0" tIns="0" rIns="0" bIns="0" rtlCol="0" anchor="ctr"/>
          <a:lstStyle/>
          <a:p>
            <a:pPr indent="0" marL="0">
              <a:buNone/>
            </a:pPr>
            <a:r>
              <a:rPr lang="en-US" sz="1800" b="1" dirty="0">
                <a:solidFill>
                  <a:srgbClr val="003262"/>
                </a:solidFill>
                <a:latin typeface="Calibri" pitchFamily="34" charset="0"/>
                <a:ea typeface="Calibri" pitchFamily="34" charset="-122"/>
                <a:cs typeface="Calibri" pitchFamily="34" charset="-120"/>
              </a:rPr>
              <a:t>Cost relative to move</a:t>
            </a:r>
            <a:endParaRPr lang="en-US" sz="1800" dirty="0"/>
          </a:p>
        </p:txBody>
      </p:sp>
      <p:sp>
        <p:nvSpPr>
          <p:cNvPr id="28" name="Text 26"/>
          <p:cNvSpPr txBox="1"/>
          <p:nvPr/>
        </p:nvSpPr>
        <p:spPr>
          <a:xfrm>
            <a:off x="7040880" y="4526280"/>
            <a:ext cx="4389120" cy="13258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ZN: 3 bps cost vs 10 bps average CPI drift, 0.8 bps predictable. ES/NQ/YM: 1.7 / 0.7 / 1.0 bps vs 18–26 bps.</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Final comparison of the three model families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37</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743200"/>
                <a:gridCol w="5120640"/>
                <a:gridCol w="3200400"/>
              </a:tblGrid>
              <a:tr h="65836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Model family</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Best result (net, 2019–2026)</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Verdict</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3262"/>
                    </a:solidFill>
                  </a:tcPr>
                </a:tc>
              </a:tr>
              <a:tr h="658368">
                <a:tc>
                  <a:txBody>
                    <a:bodyPr/>
                    <a:lstStyle/>
                    <a:p>
                      <a:pPr indent="0" marL="0">
                        <a:buNone/>
                      </a:pPr>
                      <a:r>
                        <a:rPr lang="en-US" sz="1500" b="1" dirty="0">
                          <a:solidFill>
                            <a:srgbClr val="1F2937"/>
                          </a:solidFill>
                          <a:latin typeface="Calibri" pitchFamily="34" charset="0"/>
                          <a:ea typeface="Calibri" pitchFamily="34" charset="-122"/>
                          <a:cs typeface="Calibri" pitchFamily="34" charset="-120"/>
                        </a:rPr>
                        <a:t>Surprise only</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CPI ≈1.0 (ES, NQ, YM); 10 releases 0.65 (ES), 0.71 (NQ), 0.68 (YM); ES+NQ+YM 0.78 at 288 trades/yr</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500" b="1" dirty="0">
                          <a:solidFill>
                            <a:srgbClr val="2E7D32"/>
                          </a:solidFill>
                          <a:latin typeface="Calibri" pitchFamily="34" charset="0"/>
                          <a:ea typeface="Calibri" pitchFamily="34" charset="-122"/>
                          <a:cs typeface="Calibri" pitchFamily="34" charset="-120"/>
                        </a:rPr>
                        <a:t>Recommended</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658368">
                <a:tc>
                  <a:txBody>
                    <a:bodyPr/>
                    <a:lstStyle/>
                    <a:p>
                      <a:pPr indent="0" marL="0">
                        <a:buNone/>
                      </a:pPr>
                      <a:r>
                        <a:rPr lang="en-US" sz="1500" b="1" dirty="0">
                          <a:solidFill>
                            <a:srgbClr val="1F2937"/>
                          </a:solidFill>
                          <a:latin typeface="Calibri" pitchFamily="34" charset="0"/>
                          <a:ea typeface="Calibri" pitchFamily="34" charset="-122"/>
                          <a:cs typeface="Calibri" pitchFamily="34" charset="-120"/>
                        </a:rPr>
                        <a:t>Surprise + State</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CPI 0.77 (ES), 0.75 (NQ), 0.83 (YM)</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Worse out of sample; use state for risk sizing</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658368">
                <a:tc>
                  <a:txBody>
                    <a:bodyPr/>
                    <a:lstStyle/>
                    <a:p>
                      <a:pPr indent="0" marL="0">
                        <a:buNone/>
                      </a:pPr>
                      <a:r>
                        <a:rPr lang="en-US" sz="1500" b="1" dirty="0">
                          <a:solidFill>
                            <a:srgbClr val="1F2937"/>
                          </a:solidFill>
                          <a:latin typeface="Calibri" pitchFamily="34" charset="0"/>
                          <a:ea typeface="Calibri" pitchFamily="34" charset="-122"/>
                          <a:cs typeface="Calibri" pitchFamily="34" charset="-120"/>
                        </a:rPr>
                        <a:t>Surprise + Pattern (DTW)</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0.31–0.41 (ES), 0.62–0.67 (NQ), 0.94–1.06 (YM, n.s.)</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Worse in ES and NQ; unconfirmed gain in YM</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658368">
                <a:tc>
                  <a:txBody>
                    <a:bodyPr/>
                    <a:lstStyle/>
                    <a:p>
                      <a:pPr indent="0" marL="0">
                        <a:buNone/>
                      </a:pPr>
                      <a:r>
                        <a:rPr lang="en-US" sz="1500" b="1" dirty="0">
                          <a:solidFill>
                            <a:srgbClr val="1F2937"/>
                          </a:solidFill>
                          <a:latin typeface="Calibri" pitchFamily="34" charset="0"/>
                          <a:ea typeface="Calibri" pitchFamily="34" charset="-122"/>
                          <a:cs typeface="Calibri" pitchFamily="34" charset="-120"/>
                        </a:rPr>
                        <a:t>Five-window ladder</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−0.75 to −1.23 (ES)</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Adds only losing trades</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658368">
                <a:tc>
                  <a:txBody>
                    <a:bodyPr/>
                    <a:lstStyle/>
                    <a:p>
                      <a:pPr indent="0" marL="0">
                        <a:buNone/>
                      </a:pPr>
                      <a:r>
                        <a:rPr lang="en-US" sz="1500" b="1" dirty="0">
                          <a:solidFill>
                            <a:srgbClr val="1F2937"/>
                          </a:solidFill>
                          <a:latin typeface="Calibri" pitchFamily="34" charset="0"/>
                          <a:ea typeface="Calibri" pitchFamily="34" charset="-122"/>
                          <a:cs typeface="Calibri" pitchFamily="34" charset="-120"/>
                        </a:rPr>
                        <a:t>Any ZN strategy</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−0.3 to −2.4</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Not tradeable at realistic costs</a:t>
                      </a:r>
                      <a:endParaRPr lang="en-US" sz="15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6" name="Text 3"/>
          <p:cNvSpPr txBox="1"/>
          <p:nvPr/>
        </p:nvSpPr>
        <p:spPr>
          <a:xfrm>
            <a:off x="548640" y="5532120"/>
            <a:ext cx="11064240" cy="731520"/>
          </a:xfrm>
          <a:prstGeom prst="rect">
            <a:avLst/>
          </a:prstGeom>
          <a:noFill/>
          <a:ln/>
        </p:spPr>
        <p:txBody>
          <a:bodyPr wrap="square" lIns="0" tIns="0" rIns="0" bIns="0" rtlCol="0" anchor="ctr"/>
          <a:lstStyle/>
          <a:p>
            <a:pPr indent="0" marL="0">
              <a:buNone/>
            </a:pPr>
            <a:r>
              <a:rPr lang="en-US" sz="1800" i="1" dirty="0">
                <a:solidFill>
                  <a:srgbClr val="003262"/>
                </a:solidFill>
                <a:latin typeface="Cambria" pitchFamily="34" charset="0"/>
                <a:ea typeface="Cambria" pitchFamily="34" charset="-122"/>
                <a:cs typeface="Cambria" pitchFamily="34" charset="-120"/>
              </a:rPr>
              <a:t>Only the macro surprise in the first 30 minutes after a release, in equity-index futures, gives a robust, tradeable directional edge.</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Recommendations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38</a:t>
            </a:r>
            <a:endParaRPr lang="en-US" sz="900" dirty="0"/>
          </a:p>
        </p:txBody>
      </p:sp>
      <p:sp>
        <p:nvSpPr>
          <p:cNvPr id="5" name="Shape 3"/>
          <p:cNvSpPr/>
          <p:nvPr/>
        </p:nvSpPr>
        <p:spPr>
          <a:xfrm>
            <a:off x="548640" y="1234440"/>
            <a:ext cx="5440680" cy="1508760"/>
          </a:xfrm>
          <a:prstGeom prst="roundRect">
            <a:avLst>
              <a:gd name="adj" fmla="val 4848"/>
            </a:avLst>
          </a:prstGeom>
          <a:solidFill>
            <a:srgbClr val="EEF3F8"/>
          </a:solidFill>
          <a:ln w="12700">
            <a:solidFill>
              <a:srgbClr val="EEF3F8"/>
            </a:solidFill>
            <a:prstDash val="solid"/>
          </a:ln>
        </p:spPr>
        <p:txBody>
          <a:bodyPr/>
          <a:p/>
        </p:txBody>
      </p:sp>
      <p:sp>
        <p:nvSpPr>
          <p:cNvPr id="6" name="Text 4"/>
          <p:cNvSpPr txBox="1"/>
          <p:nvPr/>
        </p:nvSpPr>
        <p:spPr>
          <a:xfrm>
            <a:off x="713232" y="1344168"/>
            <a:ext cx="5111496" cy="1289304"/>
          </a:xfrm>
          <a:prstGeom prst="rect">
            <a:avLst/>
          </a:prstGeom>
          <a:noFill/>
          <a:ln/>
        </p:spPr>
        <p:txBody>
          <a:bodyPr wrap="square" lIns="0" tIns="0" rIns="0" bIns="0" rtlCol="0" anchor="t"/>
          <a:lstStyle/>
          <a:p>
            <a:pPr indent="0" marL="0">
              <a:spcAft>
                <a:spcPts val="400"/>
              </a:spcAft>
              <a:buNone/>
            </a:pPr>
            <a:endParaRPr lang="en-US" sz="1300" dirty="0"/>
          </a:p>
        </p:txBody>
      </p:sp>
      <p:sp>
        <p:nvSpPr>
          <p:cNvPr id="7" name="Shape 5"/>
          <p:cNvSpPr/>
          <p:nvPr/>
        </p:nvSpPr>
        <p:spPr>
          <a:xfrm>
            <a:off x="731520" y="1417320"/>
            <a:ext cx="457200" cy="457200"/>
          </a:xfrm>
          <a:prstGeom prst="ellipse">
            <a:avLst/>
          </a:prstGeom>
          <a:solidFill>
            <a:srgbClr val="FDB515"/>
          </a:solidFill>
          <a:ln w="12700">
            <a:solidFill>
              <a:srgbClr val="FDB515"/>
            </a:solidFill>
            <a:prstDash val="solid"/>
          </a:ln>
        </p:spPr>
        <p:txBody>
          <a:bodyPr/>
          <a:p/>
        </p:txBody>
      </p:sp>
      <p:sp>
        <p:nvSpPr>
          <p:cNvPr id="8" name="Text 6"/>
          <p:cNvSpPr txBox="1"/>
          <p:nvPr/>
        </p:nvSpPr>
        <p:spPr>
          <a:xfrm>
            <a:off x="731520" y="141732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325880" y="1371600"/>
            <a:ext cx="4480560" cy="457200"/>
          </a:xfrm>
          <a:prstGeom prst="rect">
            <a:avLst/>
          </a:prstGeom>
          <a:noFill/>
          <a:ln/>
        </p:spPr>
        <p:txBody>
          <a:bodyPr wrap="square" lIns="0" tIns="0" rIns="0" bIns="0" rtlCol="0" anchor="ctr"/>
          <a:lstStyle/>
          <a:p>
            <a:pPr indent="0" marL="0">
              <a:buNone/>
            </a:pPr>
            <a:r>
              <a:rPr lang="en-US" sz="1600" b="1" dirty="0">
                <a:solidFill>
                  <a:srgbClr val="003262"/>
                </a:solidFill>
                <a:latin typeface="Calibri" pitchFamily="34" charset="0"/>
                <a:ea typeface="Calibri" pitchFamily="34" charset="-122"/>
                <a:cs typeface="Calibri" pitchFamily="34" charset="-120"/>
              </a:rPr>
              <a:t>Trade rule</a:t>
            </a:r>
            <a:endParaRPr lang="en-US" sz="1600" dirty="0"/>
          </a:p>
        </p:txBody>
      </p:sp>
      <p:sp>
        <p:nvSpPr>
          <p:cNvPr id="10" name="Text 8"/>
          <p:cNvSpPr txBox="1"/>
          <p:nvPr/>
        </p:nvSpPr>
        <p:spPr>
          <a:xfrm>
            <a:off x="1325880" y="1856232"/>
            <a:ext cx="448056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Enter at the close of the first post-release minute, exit at T+30; sign of the family surprise; no DTW, no extra windows</a:t>
            </a:r>
            <a:endParaRPr lang="en-US" sz="1300" dirty="0"/>
          </a:p>
        </p:txBody>
      </p:sp>
      <p:sp>
        <p:nvSpPr>
          <p:cNvPr id="11" name="Shape 9"/>
          <p:cNvSpPr/>
          <p:nvPr/>
        </p:nvSpPr>
        <p:spPr>
          <a:xfrm>
            <a:off x="6172200" y="1234440"/>
            <a:ext cx="5440680" cy="1508760"/>
          </a:xfrm>
          <a:prstGeom prst="roundRect">
            <a:avLst>
              <a:gd name="adj" fmla="val 4848"/>
            </a:avLst>
          </a:prstGeom>
          <a:solidFill>
            <a:srgbClr val="EEF3F8"/>
          </a:solidFill>
          <a:ln w="12700">
            <a:solidFill>
              <a:srgbClr val="EEF3F8"/>
            </a:solidFill>
            <a:prstDash val="solid"/>
          </a:ln>
        </p:spPr>
        <p:txBody>
          <a:bodyPr/>
          <a:p/>
        </p:txBody>
      </p:sp>
      <p:sp>
        <p:nvSpPr>
          <p:cNvPr id="12" name="Text 10"/>
          <p:cNvSpPr txBox="1"/>
          <p:nvPr/>
        </p:nvSpPr>
        <p:spPr>
          <a:xfrm>
            <a:off x="6336792" y="1344168"/>
            <a:ext cx="5111496" cy="1289304"/>
          </a:xfrm>
          <a:prstGeom prst="rect">
            <a:avLst/>
          </a:prstGeom>
          <a:noFill/>
          <a:ln/>
        </p:spPr>
        <p:txBody>
          <a:bodyPr wrap="square" lIns="0" tIns="0" rIns="0" bIns="0" rtlCol="0" anchor="t"/>
          <a:lstStyle/>
          <a:p>
            <a:pPr indent="0" marL="0">
              <a:spcAft>
                <a:spcPts val="400"/>
              </a:spcAft>
              <a:buNone/>
            </a:pPr>
            <a:endParaRPr lang="en-US" sz="1300" dirty="0"/>
          </a:p>
        </p:txBody>
      </p:sp>
      <p:sp>
        <p:nvSpPr>
          <p:cNvPr id="13" name="Shape 11"/>
          <p:cNvSpPr/>
          <p:nvPr/>
        </p:nvSpPr>
        <p:spPr>
          <a:xfrm>
            <a:off x="6355080" y="1417320"/>
            <a:ext cx="457200" cy="457200"/>
          </a:xfrm>
          <a:prstGeom prst="ellipse">
            <a:avLst/>
          </a:prstGeom>
          <a:solidFill>
            <a:srgbClr val="FDB515"/>
          </a:solidFill>
          <a:ln w="12700">
            <a:solidFill>
              <a:srgbClr val="FDB515"/>
            </a:solidFill>
            <a:prstDash val="solid"/>
          </a:ln>
        </p:spPr>
        <p:txBody>
          <a:bodyPr/>
          <a:p/>
        </p:txBody>
      </p:sp>
      <p:sp>
        <p:nvSpPr>
          <p:cNvPr id="14" name="Text 12"/>
          <p:cNvSpPr txBox="1"/>
          <p:nvPr/>
        </p:nvSpPr>
        <p:spPr>
          <a:xfrm>
            <a:off x="6355080" y="141732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6949440" y="1371600"/>
            <a:ext cx="4480560" cy="457200"/>
          </a:xfrm>
          <a:prstGeom prst="rect">
            <a:avLst/>
          </a:prstGeom>
          <a:noFill/>
          <a:ln/>
        </p:spPr>
        <p:txBody>
          <a:bodyPr wrap="square" lIns="0" tIns="0" rIns="0" bIns="0" rtlCol="0" anchor="ctr"/>
          <a:lstStyle/>
          <a:p>
            <a:pPr indent="0" marL="0">
              <a:buNone/>
            </a:pPr>
            <a:r>
              <a:rPr lang="en-US" sz="1600" b="1" dirty="0">
                <a:solidFill>
                  <a:srgbClr val="003262"/>
                </a:solidFill>
                <a:latin typeface="Calibri" pitchFamily="34" charset="0"/>
                <a:ea typeface="Calibri" pitchFamily="34" charset="-122"/>
                <a:cs typeface="Calibri" pitchFamily="34" charset="-120"/>
              </a:rPr>
              <a:t>Two-leg book</a:t>
            </a:r>
            <a:endParaRPr lang="en-US" sz="1600" dirty="0"/>
          </a:p>
        </p:txBody>
      </p:sp>
      <p:sp>
        <p:nvSpPr>
          <p:cNvPr id="16" name="Text 14"/>
          <p:cNvSpPr txBox="1"/>
          <p:nvPr/>
        </p:nvSpPr>
        <p:spPr>
          <a:xfrm>
            <a:off x="6949440" y="1856232"/>
            <a:ext cx="448056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CPI core leg (surprise model or signal × vol) + multi-release naive leg on ES, NQ and YM (~290 trades/yr)</a:t>
            </a:r>
            <a:endParaRPr lang="en-US" sz="1300" dirty="0"/>
          </a:p>
        </p:txBody>
      </p:sp>
      <p:sp>
        <p:nvSpPr>
          <p:cNvPr id="17" name="Shape 15"/>
          <p:cNvSpPr/>
          <p:nvPr/>
        </p:nvSpPr>
        <p:spPr>
          <a:xfrm>
            <a:off x="548640" y="2926080"/>
            <a:ext cx="5440680" cy="1508760"/>
          </a:xfrm>
          <a:prstGeom prst="roundRect">
            <a:avLst>
              <a:gd name="adj" fmla="val 4848"/>
            </a:avLst>
          </a:prstGeom>
          <a:solidFill>
            <a:srgbClr val="EEF3F8"/>
          </a:solidFill>
          <a:ln w="12700">
            <a:solidFill>
              <a:srgbClr val="EEF3F8"/>
            </a:solidFill>
            <a:prstDash val="solid"/>
          </a:ln>
        </p:spPr>
        <p:txBody>
          <a:bodyPr/>
          <a:p/>
        </p:txBody>
      </p:sp>
      <p:sp>
        <p:nvSpPr>
          <p:cNvPr id="18" name="Text 16"/>
          <p:cNvSpPr txBox="1"/>
          <p:nvPr/>
        </p:nvSpPr>
        <p:spPr>
          <a:xfrm>
            <a:off x="713232" y="3035808"/>
            <a:ext cx="5111496" cy="1289304"/>
          </a:xfrm>
          <a:prstGeom prst="rect">
            <a:avLst/>
          </a:prstGeom>
          <a:noFill/>
          <a:ln/>
        </p:spPr>
        <p:txBody>
          <a:bodyPr wrap="square" lIns="0" tIns="0" rIns="0" bIns="0" rtlCol="0" anchor="t"/>
          <a:lstStyle/>
          <a:p>
            <a:pPr indent="0" marL="0">
              <a:spcAft>
                <a:spcPts val="400"/>
              </a:spcAft>
              <a:buNone/>
            </a:pPr>
            <a:endParaRPr lang="en-US" sz="1300" dirty="0"/>
          </a:p>
        </p:txBody>
      </p:sp>
      <p:sp>
        <p:nvSpPr>
          <p:cNvPr id="19" name="Shape 17"/>
          <p:cNvSpPr/>
          <p:nvPr/>
        </p:nvSpPr>
        <p:spPr>
          <a:xfrm>
            <a:off x="731520" y="3108960"/>
            <a:ext cx="457200" cy="457200"/>
          </a:xfrm>
          <a:prstGeom prst="ellipse">
            <a:avLst/>
          </a:prstGeom>
          <a:solidFill>
            <a:srgbClr val="FDB515"/>
          </a:solidFill>
          <a:ln w="12700">
            <a:solidFill>
              <a:srgbClr val="FDB515"/>
            </a:solidFill>
            <a:prstDash val="solid"/>
          </a:ln>
        </p:spPr>
        <p:txBody>
          <a:bodyPr/>
          <a:p/>
        </p:txBody>
      </p:sp>
      <p:sp>
        <p:nvSpPr>
          <p:cNvPr id="20" name="Text 18"/>
          <p:cNvSpPr txBox="1"/>
          <p:nvPr/>
        </p:nvSpPr>
        <p:spPr>
          <a:xfrm>
            <a:off x="731520" y="310896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1325880" y="3063240"/>
            <a:ext cx="4480560" cy="457200"/>
          </a:xfrm>
          <a:prstGeom prst="rect">
            <a:avLst/>
          </a:prstGeom>
          <a:noFill/>
          <a:ln/>
        </p:spPr>
        <p:txBody>
          <a:bodyPr wrap="square" lIns="0" tIns="0" rIns="0" bIns="0" rtlCol="0" anchor="ctr"/>
          <a:lstStyle/>
          <a:p>
            <a:pPr indent="0" marL="0">
              <a:buNone/>
            </a:pPr>
            <a:r>
              <a:rPr lang="en-US" sz="1600" b="1" dirty="0">
                <a:solidFill>
                  <a:srgbClr val="003262"/>
                </a:solidFill>
                <a:latin typeface="Calibri" pitchFamily="34" charset="0"/>
                <a:ea typeface="Calibri" pitchFamily="34" charset="-122"/>
                <a:cs typeface="Calibri" pitchFamily="34" charset="-120"/>
              </a:rPr>
              <a:t>Risk, not direction</a:t>
            </a:r>
            <a:endParaRPr lang="en-US" sz="1600" dirty="0"/>
          </a:p>
        </p:txBody>
      </p:sp>
      <p:sp>
        <p:nvSpPr>
          <p:cNvPr id="22" name="Text 20"/>
          <p:cNvSpPr txBox="1"/>
          <p:nvPr/>
        </p:nvSpPr>
        <p:spPr>
          <a:xfrm>
            <a:off x="1325880" y="3547872"/>
            <a:ext cx="448056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Scale position size by expected move (20-day vol, drawdown); stops in units of expected move</a:t>
            </a:r>
            <a:endParaRPr lang="en-US" sz="1300" dirty="0"/>
          </a:p>
        </p:txBody>
      </p:sp>
      <p:sp>
        <p:nvSpPr>
          <p:cNvPr id="23" name="Shape 21"/>
          <p:cNvSpPr/>
          <p:nvPr/>
        </p:nvSpPr>
        <p:spPr>
          <a:xfrm>
            <a:off x="6172200" y="2926080"/>
            <a:ext cx="5440680" cy="1508760"/>
          </a:xfrm>
          <a:prstGeom prst="roundRect">
            <a:avLst>
              <a:gd name="adj" fmla="val 4848"/>
            </a:avLst>
          </a:prstGeom>
          <a:solidFill>
            <a:srgbClr val="EEF3F8"/>
          </a:solidFill>
          <a:ln w="12700">
            <a:solidFill>
              <a:srgbClr val="EEF3F8"/>
            </a:solidFill>
            <a:prstDash val="solid"/>
          </a:ln>
        </p:spPr>
        <p:txBody>
          <a:bodyPr/>
          <a:p/>
        </p:txBody>
      </p:sp>
      <p:sp>
        <p:nvSpPr>
          <p:cNvPr id="24" name="Text 22"/>
          <p:cNvSpPr txBox="1"/>
          <p:nvPr/>
        </p:nvSpPr>
        <p:spPr>
          <a:xfrm>
            <a:off x="6336792" y="3035808"/>
            <a:ext cx="5111496" cy="1289304"/>
          </a:xfrm>
          <a:prstGeom prst="rect">
            <a:avLst/>
          </a:prstGeom>
          <a:noFill/>
          <a:ln/>
        </p:spPr>
        <p:txBody>
          <a:bodyPr wrap="square" lIns="0" tIns="0" rIns="0" bIns="0" rtlCol="0" anchor="t"/>
          <a:lstStyle/>
          <a:p>
            <a:pPr indent="0" marL="0">
              <a:spcAft>
                <a:spcPts val="400"/>
              </a:spcAft>
              <a:buNone/>
            </a:pPr>
            <a:endParaRPr lang="en-US" sz="1300" dirty="0"/>
          </a:p>
        </p:txBody>
      </p:sp>
      <p:sp>
        <p:nvSpPr>
          <p:cNvPr id="25" name="Shape 23"/>
          <p:cNvSpPr/>
          <p:nvPr/>
        </p:nvSpPr>
        <p:spPr>
          <a:xfrm>
            <a:off x="6355080" y="3108960"/>
            <a:ext cx="457200" cy="457200"/>
          </a:xfrm>
          <a:prstGeom prst="ellipse">
            <a:avLst/>
          </a:prstGeom>
          <a:solidFill>
            <a:srgbClr val="FDB515"/>
          </a:solidFill>
          <a:ln w="12700">
            <a:solidFill>
              <a:srgbClr val="FDB515"/>
            </a:solidFill>
            <a:prstDash val="solid"/>
          </a:ln>
        </p:spPr>
        <p:txBody>
          <a:bodyPr/>
          <a:p/>
        </p:txBody>
      </p:sp>
      <p:sp>
        <p:nvSpPr>
          <p:cNvPr id="26" name="Text 24"/>
          <p:cNvSpPr txBox="1"/>
          <p:nvPr/>
        </p:nvSpPr>
        <p:spPr>
          <a:xfrm>
            <a:off x="6355080" y="310896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6949440" y="3063240"/>
            <a:ext cx="4480560" cy="457200"/>
          </a:xfrm>
          <a:prstGeom prst="rect">
            <a:avLst/>
          </a:prstGeom>
          <a:noFill/>
          <a:ln/>
        </p:spPr>
        <p:txBody>
          <a:bodyPr wrap="square" lIns="0" tIns="0" rIns="0" bIns="0" rtlCol="0" anchor="ctr"/>
          <a:lstStyle/>
          <a:p>
            <a:pPr indent="0" marL="0">
              <a:buNone/>
            </a:pPr>
            <a:r>
              <a:rPr lang="en-US" sz="1600" b="1" dirty="0">
                <a:solidFill>
                  <a:srgbClr val="003262"/>
                </a:solidFill>
                <a:latin typeface="Calibri" pitchFamily="34" charset="0"/>
                <a:ea typeface="Calibri" pitchFamily="34" charset="-122"/>
                <a:cs typeface="Calibri" pitchFamily="34" charset="-120"/>
              </a:rPr>
              <a:t>Clean universe</a:t>
            </a:r>
            <a:endParaRPr lang="en-US" sz="1600" dirty="0"/>
          </a:p>
        </p:txBody>
      </p:sp>
      <p:sp>
        <p:nvSpPr>
          <p:cNvPr id="28" name="Text 26"/>
          <p:cNvSpPr txBox="1"/>
          <p:nvPr/>
        </p:nvSpPr>
        <p:spPr>
          <a:xfrm>
            <a:off x="6949440" y="3547872"/>
            <a:ext cx="448056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Drop families with no real surprise (FOMC, IORB); fix one CPI definition; skip |z| &lt; 0.5</a:t>
            </a:r>
            <a:endParaRPr lang="en-US" sz="1300" dirty="0"/>
          </a:p>
        </p:txBody>
      </p:sp>
      <p:sp>
        <p:nvSpPr>
          <p:cNvPr id="29" name="Shape 27"/>
          <p:cNvSpPr/>
          <p:nvPr/>
        </p:nvSpPr>
        <p:spPr>
          <a:xfrm>
            <a:off x="548640" y="4617720"/>
            <a:ext cx="5440680" cy="1508760"/>
          </a:xfrm>
          <a:prstGeom prst="roundRect">
            <a:avLst>
              <a:gd name="adj" fmla="val 4848"/>
            </a:avLst>
          </a:prstGeom>
          <a:solidFill>
            <a:srgbClr val="EEF3F8"/>
          </a:solidFill>
          <a:ln w="12700">
            <a:solidFill>
              <a:srgbClr val="EEF3F8"/>
            </a:solidFill>
            <a:prstDash val="solid"/>
          </a:ln>
        </p:spPr>
        <p:txBody>
          <a:bodyPr/>
          <a:p/>
        </p:txBody>
      </p:sp>
      <p:sp>
        <p:nvSpPr>
          <p:cNvPr id="30" name="Text 28"/>
          <p:cNvSpPr txBox="1"/>
          <p:nvPr/>
        </p:nvSpPr>
        <p:spPr>
          <a:xfrm>
            <a:off x="713232" y="4727448"/>
            <a:ext cx="5111496" cy="1289304"/>
          </a:xfrm>
          <a:prstGeom prst="rect">
            <a:avLst/>
          </a:prstGeom>
          <a:noFill/>
          <a:ln/>
        </p:spPr>
        <p:txBody>
          <a:bodyPr wrap="square" lIns="0" tIns="0" rIns="0" bIns="0" rtlCol="0" anchor="t"/>
          <a:lstStyle/>
          <a:p>
            <a:pPr indent="0" marL="0">
              <a:spcAft>
                <a:spcPts val="400"/>
              </a:spcAft>
              <a:buNone/>
            </a:pPr>
            <a:endParaRPr lang="en-US" sz="1300" dirty="0"/>
          </a:p>
        </p:txBody>
      </p:sp>
      <p:sp>
        <p:nvSpPr>
          <p:cNvPr id="31" name="Shape 29"/>
          <p:cNvSpPr/>
          <p:nvPr/>
        </p:nvSpPr>
        <p:spPr>
          <a:xfrm>
            <a:off x="731520" y="4800600"/>
            <a:ext cx="457200" cy="457200"/>
          </a:xfrm>
          <a:prstGeom prst="ellipse">
            <a:avLst/>
          </a:prstGeom>
          <a:solidFill>
            <a:srgbClr val="FDB515"/>
          </a:solidFill>
          <a:ln w="12700">
            <a:solidFill>
              <a:srgbClr val="FDB515"/>
            </a:solidFill>
            <a:prstDash val="solid"/>
          </a:ln>
        </p:spPr>
        <p:txBody>
          <a:bodyPr/>
          <a:p/>
        </p:txBody>
      </p:sp>
      <p:sp>
        <p:nvSpPr>
          <p:cNvPr id="32" name="Text 30"/>
          <p:cNvSpPr txBox="1"/>
          <p:nvPr/>
        </p:nvSpPr>
        <p:spPr>
          <a:xfrm>
            <a:off x="731520" y="480060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5</a:t>
            </a:r>
            <a:endParaRPr lang="en-US" sz="1400" dirty="0"/>
          </a:p>
        </p:txBody>
      </p:sp>
      <p:sp>
        <p:nvSpPr>
          <p:cNvPr id="33" name="Text 31"/>
          <p:cNvSpPr txBox="1"/>
          <p:nvPr/>
        </p:nvSpPr>
        <p:spPr>
          <a:xfrm>
            <a:off x="1325880" y="4754880"/>
            <a:ext cx="4480560" cy="457200"/>
          </a:xfrm>
          <a:prstGeom prst="rect">
            <a:avLst/>
          </a:prstGeom>
          <a:noFill/>
          <a:ln/>
        </p:spPr>
        <p:txBody>
          <a:bodyPr wrap="square" lIns="0" tIns="0" rIns="0" bIns="0" rtlCol="0" anchor="ctr"/>
          <a:lstStyle/>
          <a:p>
            <a:pPr indent="0" marL="0">
              <a:buNone/>
            </a:pPr>
            <a:r>
              <a:rPr lang="en-US" sz="1600" b="1" dirty="0">
                <a:solidFill>
                  <a:srgbClr val="003262"/>
                </a:solidFill>
                <a:latin typeface="Calibri" pitchFamily="34" charset="0"/>
                <a:ea typeface="Calibri" pitchFamily="34" charset="-122"/>
                <a:cs typeface="Calibri" pitchFamily="34" charset="-120"/>
              </a:rPr>
              <a:t>Regime scaling</a:t>
            </a:r>
            <a:endParaRPr lang="en-US" sz="1600" dirty="0"/>
          </a:p>
        </p:txBody>
      </p:sp>
      <p:sp>
        <p:nvSpPr>
          <p:cNvPr id="34" name="Text 32"/>
          <p:cNvSpPr txBox="1"/>
          <p:nvPr/>
        </p:nvSpPr>
        <p:spPr>
          <a:xfrm>
            <a:off x="1325880" y="5239512"/>
            <a:ext cx="448056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Raise exposure when macro data drive policy expectations (e.g. CPI–2y yield correlation)</a:t>
            </a:r>
            <a:endParaRPr lang="en-US" sz="1300" dirty="0"/>
          </a:p>
        </p:txBody>
      </p:sp>
      <p:sp>
        <p:nvSpPr>
          <p:cNvPr id="35" name="Shape 33"/>
          <p:cNvSpPr/>
          <p:nvPr/>
        </p:nvSpPr>
        <p:spPr>
          <a:xfrm>
            <a:off x="6172200" y="4617720"/>
            <a:ext cx="5440680" cy="1508760"/>
          </a:xfrm>
          <a:prstGeom prst="roundRect">
            <a:avLst>
              <a:gd name="adj" fmla="val 4848"/>
            </a:avLst>
          </a:prstGeom>
          <a:solidFill>
            <a:srgbClr val="EEF3F8"/>
          </a:solidFill>
          <a:ln w="12700">
            <a:solidFill>
              <a:srgbClr val="EEF3F8"/>
            </a:solidFill>
            <a:prstDash val="solid"/>
          </a:ln>
        </p:spPr>
        <p:txBody>
          <a:bodyPr/>
          <a:p/>
        </p:txBody>
      </p:sp>
      <p:sp>
        <p:nvSpPr>
          <p:cNvPr id="36" name="Text 34"/>
          <p:cNvSpPr txBox="1"/>
          <p:nvPr/>
        </p:nvSpPr>
        <p:spPr>
          <a:xfrm>
            <a:off x="6336792" y="4727448"/>
            <a:ext cx="5111496" cy="1289304"/>
          </a:xfrm>
          <a:prstGeom prst="rect">
            <a:avLst/>
          </a:prstGeom>
          <a:noFill/>
          <a:ln/>
        </p:spPr>
        <p:txBody>
          <a:bodyPr wrap="square" lIns="0" tIns="0" rIns="0" bIns="0" rtlCol="0" anchor="t"/>
          <a:lstStyle/>
          <a:p>
            <a:pPr indent="0" marL="0">
              <a:spcAft>
                <a:spcPts val="400"/>
              </a:spcAft>
              <a:buNone/>
            </a:pPr>
            <a:endParaRPr lang="en-US" sz="1300" dirty="0"/>
          </a:p>
        </p:txBody>
      </p:sp>
      <p:sp>
        <p:nvSpPr>
          <p:cNvPr id="37" name="Shape 35"/>
          <p:cNvSpPr/>
          <p:nvPr/>
        </p:nvSpPr>
        <p:spPr>
          <a:xfrm>
            <a:off x="6355080" y="4800600"/>
            <a:ext cx="457200" cy="457200"/>
          </a:xfrm>
          <a:prstGeom prst="ellipse">
            <a:avLst/>
          </a:prstGeom>
          <a:solidFill>
            <a:srgbClr val="FDB515"/>
          </a:solidFill>
          <a:ln w="12700">
            <a:solidFill>
              <a:srgbClr val="FDB515"/>
            </a:solidFill>
            <a:prstDash val="solid"/>
          </a:ln>
        </p:spPr>
        <p:txBody>
          <a:bodyPr/>
          <a:p/>
        </p:txBody>
      </p:sp>
      <p:sp>
        <p:nvSpPr>
          <p:cNvPr id="38" name="Text 36"/>
          <p:cNvSpPr txBox="1"/>
          <p:nvPr/>
        </p:nvSpPr>
        <p:spPr>
          <a:xfrm>
            <a:off x="6355080" y="4800600"/>
            <a:ext cx="457200" cy="457200"/>
          </a:xfrm>
          <a:prstGeom prst="rect">
            <a:avLst/>
          </a:prstGeom>
          <a:noFill/>
          <a:ln/>
        </p:spPr>
        <p:txBody>
          <a:bodyPr wrap="square" lIns="0" tIns="0" rIns="0" bIns="0" rtlCol="0" anchor="ctr"/>
          <a:lstStyle/>
          <a:p>
            <a:pPr algn="ctr" indent="0" marL="0">
              <a:buNone/>
            </a:pPr>
            <a:r>
              <a:rPr lang="en-US" sz="1400" b="1" dirty="0">
                <a:solidFill>
                  <a:srgbClr val="003262"/>
                </a:solidFill>
                <a:latin typeface="Calibri" pitchFamily="34" charset="0"/>
                <a:ea typeface="Calibri" pitchFamily="34" charset="-122"/>
                <a:cs typeface="Calibri" pitchFamily="34" charset="-120"/>
              </a:rPr>
              <a:t>6</a:t>
            </a:r>
            <a:endParaRPr lang="en-US" sz="1400" dirty="0"/>
          </a:p>
        </p:txBody>
      </p:sp>
      <p:sp>
        <p:nvSpPr>
          <p:cNvPr id="39" name="Text 37"/>
          <p:cNvSpPr txBox="1"/>
          <p:nvPr/>
        </p:nvSpPr>
        <p:spPr>
          <a:xfrm>
            <a:off x="6949440" y="4754880"/>
            <a:ext cx="4480560" cy="457200"/>
          </a:xfrm>
          <a:prstGeom prst="rect">
            <a:avLst/>
          </a:prstGeom>
          <a:noFill/>
          <a:ln/>
        </p:spPr>
        <p:txBody>
          <a:bodyPr wrap="square" lIns="0" tIns="0" rIns="0" bIns="0" rtlCol="0" anchor="ctr"/>
          <a:lstStyle/>
          <a:p>
            <a:pPr indent="0" marL="0">
              <a:buNone/>
            </a:pPr>
            <a:r>
              <a:rPr lang="en-US" sz="1600" b="1" dirty="0">
                <a:solidFill>
                  <a:srgbClr val="003262"/>
                </a:solidFill>
                <a:latin typeface="Calibri" pitchFamily="34" charset="0"/>
                <a:ea typeface="Calibri" pitchFamily="34" charset="-122"/>
                <a:cs typeface="Calibri" pitchFamily="34" charset="-120"/>
              </a:rPr>
              <a:t>Execution &amp; monitoring</a:t>
            </a:r>
            <a:endParaRPr lang="en-US" sz="1600" dirty="0"/>
          </a:p>
        </p:txBody>
      </p:sp>
      <p:sp>
        <p:nvSpPr>
          <p:cNvPr id="40" name="Text 38"/>
          <p:cNvSpPr txBox="1"/>
          <p:nvPr/>
        </p:nvSpPr>
        <p:spPr>
          <a:xfrm>
            <a:off x="6949440" y="5239512"/>
            <a:ext cx="448056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Paper-trade 3–6 months; limit orders; rolling IC and Sharpe with pre-set stop rules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03262"/>
                </a:solidFill>
                <a:latin typeface="Cambria" pitchFamily="34" charset="0"/>
                <a:ea typeface="Cambria" pitchFamily="34" charset="-122"/>
                <a:cs typeface="Cambria" pitchFamily="34" charset="-120"/>
              </a:rPr>
              <a:t>Future work</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UC Berkeley Haas  ·  MFE  ·  BlackRock industry project</a:t>
            </a:r>
            <a:endParaRPr lang="en-US" sz="900" dirty="0"/>
          </a:p>
        </p:txBody>
      </p:sp>
      <p:sp>
        <p:nvSpPr>
          <p:cNvPr id="4" name="Text 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39</a:t>
            </a:r>
            <a:endParaRPr lang="en-US" sz="900" dirty="0"/>
          </a:p>
        </p:txBody>
      </p:sp>
      <p:sp>
        <p:nvSpPr>
          <p:cNvPr id="5" name="Shape 3"/>
          <p:cNvSpPr/>
          <p:nvPr/>
        </p:nvSpPr>
        <p:spPr>
          <a:xfrm>
            <a:off x="548640" y="1280160"/>
            <a:ext cx="2606040" cy="2286000"/>
          </a:xfrm>
          <a:prstGeom prst="roundRect">
            <a:avLst>
              <a:gd name="adj" fmla="val 3200"/>
            </a:avLst>
          </a:prstGeom>
          <a:solidFill>
            <a:srgbClr val="EEF3F8"/>
          </a:solidFill>
          <a:ln w="12700">
            <a:solidFill>
              <a:srgbClr val="EEF3F8"/>
            </a:solidFill>
            <a:prstDash val="solid"/>
          </a:ln>
        </p:spPr>
        <p:txBody>
          <a:bodyPr/>
          <a:p/>
        </p:txBody>
      </p:sp>
      <p:sp>
        <p:nvSpPr>
          <p:cNvPr id="6" name="Text 4"/>
          <p:cNvSpPr txBox="1"/>
          <p:nvPr/>
        </p:nvSpPr>
        <p:spPr>
          <a:xfrm>
            <a:off x="713232" y="1389888"/>
            <a:ext cx="2276856" cy="2066544"/>
          </a:xfrm>
          <a:prstGeom prst="rect">
            <a:avLst/>
          </a:prstGeom>
          <a:noFill/>
          <a:ln/>
        </p:spPr>
        <p:txBody>
          <a:bodyPr wrap="square" lIns="0" tIns="0" rIns="0" bIns="0" rtlCol="0" anchor="t"/>
          <a:lstStyle/>
          <a:p>
            <a:pPr indent="0" marL="0">
              <a:spcAft>
                <a:spcPts val="600"/>
              </a:spcAft>
              <a:buNone/>
            </a:pPr>
            <a:r>
              <a:rPr lang="en-US" sz="1500" b="1" dirty="0">
                <a:solidFill>
                  <a:srgbClr val="003262"/>
                </a:solidFill>
                <a:latin typeface="Calibri" pitchFamily="34" charset="0"/>
                <a:ea typeface="Calibri" pitchFamily="34" charset="-122"/>
                <a:cs typeface="Calibri" pitchFamily="34" charset="-120"/>
              </a:rPr>
              <a:t>Fixed CPI definition</a:t>
            </a:r>
            <a:endParaRPr lang="en-US" sz="15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Pre-register one definition and a |z| threshold; test on 2026+ hold-out</a:t>
            </a:r>
            <a:endParaRPr lang="en-US" sz="1500" dirty="0"/>
          </a:p>
        </p:txBody>
      </p:sp>
      <p:sp>
        <p:nvSpPr>
          <p:cNvPr id="7" name="Shape 5"/>
          <p:cNvSpPr/>
          <p:nvPr/>
        </p:nvSpPr>
        <p:spPr>
          <a:xfrm>
            <a:off x="3337560" y="1280160"/>
            <a:ext cx="2606040" cy="2286000"/>
          </a:xfrm>
          <a:prstGeom prst="roundRect">
            <a:avLst>
              <a:gd name="adj" fmla="val 3200"/>
            </a:avLst>
          </a:prstGeom>
          <a:solidFill>
            <a:srgbClr val="EEF3F8"/>
          </a:solidFill>
          <a:ln w="12700">
            <a:solidFill>
              <a:srgbClr val="EEF3F8"/>
            </a:solidFill>
            <a:prstDash val="solid"/>
          </a:ln>
        </p:spPr>
        <p:txBody>
          <a:bodyPr/>
          <a:p/>
        </p:txBody>
      </p:sp>
      <p:sp>
        <p:nvSpPr>
          <p:cNvPr id="8" name="Text 6"/>
          <p:cNvSpPr txBox="1"/>
          <p:nvPr/>
        </p:nvSpPr>
        <p:spPr>
          <a:xfrm>
            <a:off x="3502152" y="1389888"/>
            <a:ext cx="2276856" cy="2066544"/>
          </a:xfrm>
          <a:prstGeom prst="rect">
            <a:avLst/>
          </a:prstGeom>
          <a:noFill/>
          <a:ln/>
        </p:spPr>
        <p:txBody>
          <a:bodyPr wrap="square" lIns="0" tIns="0" rIns="0" bIns="0" rtlCol="0" anchor="t"/>
          <a:lstStyle/>
          <a:p>
            <a:pPr indent="0" marL="0">
              <a:spcAft>
                <a:spcPts val="600"/>
              </a:spcAft>
              <a:buNone/>
            </a:pPr>
            <a:r>
              <a:rPr lang="en-US" sz="1500" b="1" dirty="0">
                <a:solidFill>
                  <a:srgbClr val="003262"/>
                </a:solidFill>
                <a:latin typeface="Calibri" pitchFamily="34" charset="0"/>
                <a:ea typeface="Calibri" pitchFamily="34" charset="-122"/>
                <a:cs typeface="Calibri" pitchFamily="34" charset="-120"/>
              </a:rPr>
              <a:t>Order-book execution</a:t>
            </a:r>
            <a:endParaRPr lang="en-US" sz="15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Level-2 data to measure fills; entries at 10–60 seconds</a:t>
            </a:r>
            <a:endParaRPr lang="en-US" sz="1500" dirty="0"/>
          </a:p>
        </p:txBody>
      </p:sp>
      <p:sp>
        <p:nvSpPr>
          <p:cNvPr id="9" name="Shape 7"/>
          <p:cNvSpPr/>
          <p:nvPr/>
        </p:nvSpPr>
        <p:spPr>
          <a:xfrm>
            <a:off x="6126480" y="1280160"/>
            <a:ext cx="2606040" cy="2286000"/>
          </a:xfrm>
          <a:prstGeom prst="roundRect">
            <a:avLst>
              <a:gd name="adj" fmla="val 3200"/>
            </a:avLst>
          </a:prstGeom>
          <a:solidFill>
            <a:srgbClr val="EEF3F8"/>
          </a:solidFill>
          <a:ln w="12700">
            <a:solidFill>
              <a:srgbClr val="EEF3F8"/>
            </a:solidFill>
            <a:prstDash val="solid"/>
          </a:ln>
        </p:spPr>
        <p:txBody>
          <a:bodyPr/>
          <a:p/>
        </p:txBody>
      </p:sp>
      <p:sp>
        <p:nvSpPr>
          <p:cNvPr id="10" name="Text 8"/>
          <p:cNvSpPr txBox="1"/>
          <p:nvPr/>
        </p:nvSpPr>
        <p:spPr>
          <a:xfrm>
            <a:off x="6291072" y="1389888"/>
            <a:ext cx="2276856" cy="2066544"/>
          </a:xfrm>
          <a:prstGeom prst="rect">
            <a:avLst/>
          </a:prstGeom>
          <a:noFill/>
          <a:ln/>
        </p:spPr>
        <p:txBody>
          <a:bodyPr wrap="square" lIns="0" tIns="0" rIns="0" bIns="0" rtlCol="0" anchor="t"/>
          <a:lstStyle/>
          <a:p>
            <a:pPr indent="0" marL="0">
              <a:spcAft>
                <a:spcPts val="600"/>
              </a:spcAft>
              <a:buNone/>
            </a:pPr>
            <a:r>
              <a:rPr lang="en-US" sz="1500" b="1" dirty="0">
                <a:solidFill>
                  <a:srgbClr val="003262"/>
                </a:solidFill>
                <a:latin typeface="Calibri" pitchFamily="34" charset="0"/>
                <a:ea typeface="Calibri" pitchFamily="34" charset="-122"/>
                <a:cs typeface="Calibri" pitchFamily="34" charset="-120"/>
              </a:rPr>
              <a:t>Live paper trading</a:t>
            </a:r>
            <a:endParaRPr lang="en-US" sz="15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Machine-readable release feed; measure latency and slippage</a:t>
            </a:r>
            <a:endParaRPr lang="en-US" sz="1500" dirty="0"/>
          </a:p>
        </p:txBody>
      </p:sp>
      <p:sp>
        <p:nvSpPr>
          <p:cNvPr id="11" name="Shape 9"/>
          <p:cNvSpPr/>
          <p:nvPr/>
        </p:nvSpPr>
        <p:spPr>
          <a:xfrm>
            <a:off x="8915400" y="1280160"/>
            <a:ext cx="2606040" cy="2286000"/>
          </a:xfrm>
          <a:prstGeom prst="roundRect">
            <a:avLst>
              <a:gd name="adj" fmla="val 3200"/>
            </a:avLst>
          </a:prstGeom>
          <a:solidFill>
            <a:srgbClr val="EEF3F8"/>
          </a:solidFill>
          <a:ln w="12700">
            <a:solidFill>
              <a:srgbClr val="EEF3F8"/>
            </a:solidFill>
            <a:prstDash val="solid"/>
          </a:ln>
        </p:spPr>
        <p:txBody>
          <a:bodyPr/>
          <a:p/>
        </p:txBody>
      </p:sp>
      <p:sp>
        <p:nvSpPr>
          <p:cNvPr id="12" name="Text 10"/>
          <p:cNvSpPr txBox="1"/>
          <p:nvPr/>
        </p:nvSpPr>
        <p:spPr>
          <a:xfrm>
            <a:off x="9079992" y="1389888"/>
            <a:ext cx="2276856" cy="2066544"/>
          </a:xfrm>
          <a:prstGeom prst="rect">
            <a:avLst/>
          </a:prstGeom>
          <a:noFill/>
          <a:ln/>
        </p:spPr>
        <p:txBody>
          <a:bodyPr wrap="square" lIns="0" tIns="0" rIns="0" bIns="0" rtlCol="0" anchor="t"/>
          <a:lstStyle/>
          <a:p>
            <a:pPr indent="0" marL="0">
              <a:spcAft>
                <a:spcPts val="600"/>
              </a:spcAft>
              <a:buNone/>
            </a:pPr>
            <a:r>
              <a:rPr lang="en-US" sz="1500" b="1" dirty="0">
                <a:solidFill>
                  <a:srgbClr val="003262"/>
                </a:solidFill>
                <a:latin typeface="Calibri" pitchFamily="34" charset="0"/>
                <a:ea typeface="Calibri" pitchFamily="34" charset="-122"/>
                <a:cs typeface="Calibri" pitchFamily="34" charset="-120"/>
              </a:rPr>
              <a:t>More equity markets</a:t>
            </a:r>
            <a:endParaRPr lang="en-US" sz="15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RTY, Euro Stoxx 50, Nikkei around US releases (YM done: it works)</a:t>
            </a:r>
            <a:endParaRPr lang="en-US" sz="1500" dirty="0"/>
          </a:p>
        </p:txBody>
      </p:sp>
      <p:sp>
        <p:nvSpPr>
          <p:cNvPr id="13" name="Shape 11"/>
          <p:cNvSpPr/>
          <p:nvPr/>
        </p:nvSpPr>
        <p:spPr>
          <a:xfrm>
            <a:off x="548640" y="3794760"/>
            <a:ext cx="2606040" cy="2286000"/>
          </a:xfrm>
          <a:prstGeom prst="roundRect">
            <a:avLst>
              <a:gd name="adj" fmla="val 3200"/>
            </a:avLst>
          </a:prstGeom>
          <a:solidFill>
            <a:srgbClr val="EEF3F8"/>
          </a:solidFill>
          <a:ln w="12700">
            <a:solidFill>
              <a:srgbClr val="EEF3F8"/>
            </a:solidFill>
            <a:prstDash val="solid"/>
          </a:ln>
        </p:spPr>
        <p:txBody>
          <a:bodyPr/>
          <a:p/>
        </p:txBody>
      </p:sp>
      <p:sp>
        <p:nvSpPr>
          <p:cNvPr id="14" name="Text 12"/>
          <p:cNvSpPr txBox="1"/>
          <p:nvPr/>
        </p:nvSpPr>
        <p:spPr>
          <a:xfrm>
            <a:off x="713232" y="3904488"/>
            <a:ext cx="2276856" cy="2066544"/>
          </a:xfrm>
          <a:prstGeom prst="rect">
            <a:avLst/>
          </a:prstGeom>
          <a:noFill/>
          <a:ln/>
        </p:spPr>
        <p:txBody>
          <a:bodyPr wrap="square" lIns="0" tIns="0" rIns="0" bIns="0" rtlCol="0" anchor="t"/>
          <a:lstStyle/>
          <a:p>
            <a:pPr indent="0" marL="0">
              <a:spcAft>
                <a:spcPts val="600"/>
              </a:spcAft>
              <a:buNone/>
            </a:pPr>
            <a:r>
              <a:rPr lang="en-US" sz="1500" b="1" dirty="0">
                <a:solidFill>
                  <a:srgbClr val="003262"/>
                </a:solidFill>
                <a:latin typeface="Calibri" pitchFamily="34" charset="0"/>
                <a:ea typeface="Calibri" pitchFamily="34" charset="-122"/>
                <a:cs typeface="Calibri" pitchFamily="34" charset="-120"/>
              </a:rPr>
              <a:t>Short-rate markets</a:t>
            </a:r>
            <a:endParaRPr lang="en-US" sz="15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2-year Treasury (ZT), SOFR futures: is there a drift?</a:t>
            </a:r>
            <a:endParaRPr lang="en-US" sz="1500" dirty="0"/>
          </a:p>
        </p:txBody>
      </p:sp>
      <p:sp>
        <p:nvSpPr>
          <p:cNvPr id="15" name="Shape 13"/>
          <p:cNvSpPr/>
          <p:nvPr/>
        </p:nvSpPr>
        <p:spPr>
          <a:xfrm>
            <a:off x="3337560" y="3794760"/>
            <a:ext cx="2606040" cy="2286000"/>
          </a:xfrm>
          <a:prstGeom prst="roundRect">
            <a:avLst>
              <a:gd name="adj" fmla="val 3200"/>
            </a:avLst>
          </a:prstGeom>
          <a:solidFill>
            <a:srgbClr val="EEF3F8"/>
          </a:solidFill>
          <a:ln w="12700">
            <a:solidFill>
              <a:srgbClr val="EEF3F8"/>
            </a:solidFill>
            <a:prstDash val="solid"/>
          </a:ln>
        </p:spPr>
        <p:txBody>
          <a:bodyPr/>
          <a:p/>
        </p:txBody>
      </p:sp>
      <p:sp>
        <p:nvSpPr>
          <p:cNvPr id="16" name="Text 14"/>
          <p:cNvSpPr txBox="1"/>
          <p:nvPr/>
        </p:nvSpPr>
        <p:spPr>
          <a:xfrm>
            <a:off x="3502152" y="3904488"/>
            <a:ext cx="2276856" cy="2066544"/>
          </a:xfrm>
          <a:prstGeom prst="rect">
            <a:avLst/>
          </a:prstGeom>
          <a:noFill/>
          <a:ln/>
        </p:spPr>
        <p:txBody>
          <a:bodyPr wrap="square" lIns="0" tIns="0" rIns="0" bIns="0" rtlCol="0" anchor="t"/>
          <a:lstStyle/>
          <a:p>
            <a:pPr indent="0" marL="0">
              <a:spcAft>
                <a:spcPts val="600"/>
              </a:spcAft>
              <a:buNone/>
            </a:pPr>
            <a:r>
              <a:rPr lang="en-US" sz="1500" b="1" dirty="0">
                <a:solidFill>
                  <a:srgbClr val="003262"/>
                </a:solidFill>
                <a:latin typeface="Calibri" pitchFamily="34" charset="0"/>
                <a:ea typeface="Calibri" pitchFamily="34" charset="-122"/>
                <a:cs typeface="Calibri" pitchFamily="34" charset="-120"/>
              </a:rPr>
              <a:t>Volatility forecasting</a:t>
            </a:r>
            <a:endParaRPr lang="en-US" sz="15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State and DTW dispersion for sizing, stops, options</a:t>
            </a:r>
            <a:endParaRPr lang="en-US" sz="1500" dirty="0"/>
          </a:p>
        </p:txBody>
      </p:sp>
      <p:sp>
        <p:nvSpPr>
          <p:cNvPr id="17" name="Shape 15"/>
          <p:cNvSpPr/>
          <p:nvPr/>
        </p:nvSpPr>
        <p:spPr>
          <a:xfrm>
            <a:off x="6126480" y="3794760"/>
            <a:ext cx="2606040" cy="2286000"/>
          </a:xfrm>
          <a:prstGeom prst="roundRect">
            <a:avLst>
              <a:gd name="adj" fmla="val 3200"/>
            </a:avLst>
          </a:prstGeom>
          <a:solidFill>
            <a:srgbClr val="EEF3F8"/>
          </a:solidFill>
          <a:ln w="12700">
            <a:solidFill>
              <a:srgbClr val="EEF3F8"/>
            </a:solidFill>
            <a:prstDash val="solid"/>
          </a:ln>
        </p:spPr>
        <p:txBody>
          <a:bodyPr/>
          <a:p/>
        </p:txBody>
      </p:sp>
      <p:sp>
        <p:nvSpPr>
          <p:cNvPr id="18" name="Text 16"/>
          <p:cNvSpPr txBox="1"/>
          <p:nvPr/>
        </p:nvSpPr>
        <p:spPr>
          <a:xfrm>
            <a:off x="6291072" y="3904488"/>
            <a:ext cx="2276856" cy="2066544"/>
          </a:xfrm>
          <a:prstGeom prst="rect">
            <a:avLst/>
          </a:prstGeom>
          <a:noFill/>
          <a:ln/>
        </p:spPr>
        <p:txBody>
          <a:bodyPr wrap="square" lIns="0" tIns="0" rIns="0" bIns="0" rtlCol="0" anchor="t"/>
          <a:lstStyle/>
          <a:p>
            <a:pPr indent="0" marL="0">
              <a:spcAft>
                <a:spcPts val="600"/>
              </a:spcAft>
              <a:buNone/>
            </a:pPr>
            <a:r>
              <a:rPr lang="en-US" sz="1500" b="1" dirty="0">
                <a:solidFill>
                  <a:srgbClr val="003262"/>
                </a:solidFill>
                <a:latin typeface="Calibri" pitchFamily="34" charset="0"/>
                <a:ea typeface="Calibri" pitchFamily="34" charset="-122"/>
                <a:cs typeface="Calibri" pitchFamily="34" charset="-120"/>
              </a:rPr>
              <a:t>Richer surprises</a:t>
            </a:r>
            <a:endParaRPr lang="en-US" sz="15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Revisions, forecast dispersion, market-implied expectations</a:t>
            </a:r>
            <a:endParaRPr lang="en-US" sz="1500" dirty="0"/>
          </a:p>
        </p:txBody>
      </p:sp>
      <p:sp>
        <p:nvSpPr>
          <p:cNvPr id="19" name="Shape 17"/>
          <p:cNvSpPr/>
          <p:nvPr/>
        </p:nvSpPr>
        <p:spPr>
          <a:xfrm>
            <a:off x="8915400" y="3794760"/>
            <a:ext cx="2606040" cy="2286000"/>
          </a:xfrm>
          <a:prstGeom prst="roundRect">
            <a:avLst>
              <a:gd name="adj" fmla="val 3200"/>
            </a:avLst>
          </a:prstGeom>
          <a:solidFill>
            <a:srgbClr val="EEF3F8"/>
          </a:solidFill>
          <a:ln w="12700">
            <a:solidFill>
              <a:srgbClr val="EEF3F8"/>
            </a:solidFill>
            <a:prstDash val="solid"/>
          </a:ln>
        </p:spPr>
        <p:txBody>
          <a:bodyPr/>
          <a:p/>
        </p:txBody>
      </p:sp>
      <p:sp>
        <p:nvSpPr>
          <p:cNvPr id="20" name="Text 18"/>
          <p:cNvSpPr txBox="1"/>
          <p:nvPr/>
        </p:nvSpPr>
        <p:spPr>
          <a:xfrm>
            <a:off x="9079992" y="3904488"/>
            <a:ext cx="2276856" cy="2066544"/>
          </a:xfrm>
          <a:prstGeom prst="rect">
            <a:avLst/>
          </a:prstGeom>
          <a:noFill/>
          <a:ln/>
        </p:spPr>
        <p:txBody>
          <a:bodyPr wrap="square" lIns="0" tIns="0" rIns="0" bIns="0" rtlCol="0" anchor="t"/>
          <a:lstStyle/>
          <a:p>
            <a:pPr indent="0" marL="0">
              <a:spcAft>
                <a:spcPts val="600"/>
              </a:spcAft>
              <a:buNone/>
            </a:pPr>
            <a:r>
              <a:rPr lang="en-US" sz="1500" b="1" dirty="0">
                <a:solidFill>
                  <a:srgbClr val="003262"/>
                </a:solidFill>
                <a:latin typeface="Calibri" pitchFamily="34" charset="0"/>
                <a:ea typeface="Calibri" pitchFamily="34" charset="-122"/>
                <a:cs typeface="Calibri" pitchFamily="34" charset="-120"/>
              </a:rPr>
              <a:t>Longer sample</a:t>
            </a:r>
            <a:endParaRPr lang="en-US" sz="15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Back to 2000 across monetary-policy regimes</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3262"/>
        </a:solidFill>
      </p:bgPr>
    </p:bg>
    <p:spTree>
      <p:nvGrpSpPr>
        <p:cNvPr id="1" name=""/>
        <p:cNvGrpSpPr/>
        <p:nvPr/>
      </p:nvGrpSpPr>
      <p:grpSpPr>
        <a:xfrm>
          <a:off x="0" y="0"/>
          <a:ext cx="0" cy="0"/>
          <a:chOff x="0" y="0"/>
          <a:chExt cx="0" cy="0"/>
        </a:xfrm>
      </p:grpSpPr>
      <p:sp>
        <p:nvSpPr>
          <p:cNvPr id="2" name="Text 0"/>
          <p:cNvSpPr txBox="1"/>
          <p:nvPr/>
        </p:nvSpPr>
        <p:spPr>
          <a:xfrm>
            <a:off x="731520" y="822960"/>
            <a:ext cx="1069848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txBox="1"/>
          <p:nvPr/>
        </p:nvSpPr>
        <p:spPr>
          <a:xfrm>
            <a:off x="731520" y="2011680"/>
            <a:ext cx="10698480" cy="2377440"/>
          </a:xfrm>
          <a:prstGeom prst="rect">
            <a:avLst/>
          </a:prstGeom>
          <a:noFill/>
          <a:ln/>
        </p:spPr>
        <p:txBody>
          <a:bodyPr wrap="square" lIns="0" tIns="0" rIns="0" bIns="0" rtlCol="0" anchor="t"/>
          <a:lstStyle/>
          <a:p>
            <a:pPr indent="0" marL="0">
              <a:spcAft>
                <a:spcPts val="1000"/>
              </a:spcAft>
              <a:buNone/>
            </a:pPr>
            <a:r>
              <a:rPr lang="en-US" sz="1700" b="1" dirty="0">
                <a:solidFill>
                  <a:srgbClr val="FDB515"/>
                </a:solidFill>
                <a:latin typeface="Calibri" pitchFamily="34" charset="0"/>
                <a:ea typeface="Calibri" pitchFamily="34" charset="-122"/>
                <a:cs typeface="Calibri" pitchFamily="34" charset="-120"/>
              </a:rPr>
              <a:t>Benjamin Steel (BlackRock) </a:t>
            </a:r>
            <a:pPr indent="0" marL="0">
              <a:spcAft>
                <a:spcPts val="1000"/>
              </a:spcAft>
              <a:buNone/>
            </a:pPr>
            <a:r>
              <a:rPr lang="en-US" sz="1700" dirty="0">
                <a:solidFill>
                  <a:srgbClr val="FFFFFF"/>
                </a:solidFill>
                <a:latin typeface="Calibri" pitchFamily="34" charset="0"/>
                <a:ea typeface="Calibri" pitchFamily="34" charset="-122"/>
                <a:cs typeface="Calibri" pitchFamily="34" charset="-120"/>
              </a:rPr>
              <a:t>proposed the research question and supervised the project.</a:t>
            </a:r>
            <a:endParaRPr lang="en-US" sz="1700" dirty="0"/>
          </a:p>
          <a:p>
            <a:pPr indent="0" marL="0">
              <a:spcAft>
                <a:spcPts val="1000"/>
              </a:spcAft>
              <a:buNone/>
            </a:pPr>
            <a:r>
              <a:rPr lang="en-US" sz="1700" b="1" dirty="0">
                <a:solidFill>
                  <a:srgbClr val="FDB515"/>
                </a:solidFill>
                <a:latin typeface="Calibri" pitchFamily="34" charset="0"/>
                <a:ea typeface="Calibri" pitchFamily="34" charset="-122"/>
                <a:cs typeface="Calibri" pitchFamily="34" charset="-120"/>
              </a:rPr>
              <a:t>Ian Kaufman and Chris Pohalski (UC Berkeley Haas, MFE program) </a:t>
            </a:r>
            <a:pPr indent="0" marL="0">
              <a:spcAft>
                <a:spcPts val="1000"/>
              </a:spcAft>
              <a:buNone/>
            </a:pPr>
            <a:r>
              <a:rPr lang="en-US" sz="1700" dirty="0">
                <a:solidFill>
                  <a:srgbClr val="FFFFFF"/>
                </a:solidFill>
                <a:latin typeface="Calibri" pitchFamily="34" charset="0"/>
                <a:ea typeface="Calibri" pitchFamily="34" charset="-122"/>
                <a:cs typeface="Calibri" pitchFamily="34" charset="-120"/>
              </a:rPr>
              <a:t>coordinated the partnership with BlackRock and the project meetings.</a:t>
            </a:r>
            <a:endParaRPr lang="en-US" sz="1700" dirty="0"/>
          </a:p>
          <a:p>
            <a:pPr indent="0" marL="0">
              <a:spcAft>
                <a:spcPts val="1000"/>
              </a:spcAft>
              <a:buNone/>
            </a:pPr>
            <a:r>
              <a:rPr lang="en-US" sz="1700" b="1" dirty="0">
                <a:solidFill>
                  <a:srgbClr val="FDB515"/>
                </a:solidFill>
                <a:latin typeface="Calibri" pitchFamily="34" charset="0"/>
                <a:ea typeface="Calibri" pitchFamily="34" charset="-122"/>
                <a:cs typeface="Calibri" pitchFamily="34" charset="-120"/>
              </a:rPr>
              <a:t>Jack Duncan, Hoshea Zeng and Aaryen Mehta </a:t>
            </a:r>
            <a:pPr indent="0" marL="0">
              <a:spcAft>
                <a:spcPts val="1000"/>
              </a:spcAft>
              <a:buNone/>
            </a:pPr>
            <a:r>
              <a:rPr lang="en-US" sz="1700" dirty="0">
                <a:solidFill>
                  <a:srgbClr val="FFFFFF"/>
                </a:solidFill>
                <a:latin typeface="Calibri" pitchFamily="34" charset="0"/>
                <a:ea typeface="Calibri" pitchFamily="34" charset="-122"/>
                <a:cs typeface="Calibri" pitchFamily="34" charset="-120"/>
              </a:rPr>
              <a:t>for the DTW strategies, release screening and surprise classification credited throughout.</a:t>
            </a:r>
            <a:endParaRPr lang="en-US" sz="1700" dirty="0"/>
          </a:p>
        </p:txBody>
      </p:sp>
      <p:sp>
        <p:nvSpPr>
          <p:cNvPr id="4" name="Text 2"/>
          <p:cNvSpPr txBox="1"/>
          <p:nvPr/>
        </p:nvSpPr>
        <p:spPr>
          <a:xfrm>
            <a:off x="731520" y="4754880"/>
            <a:ext cx="10698480" cy="4572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Code, notebooks, results, papers and the full report: github.com/rezazamani2329/BlackRock-Project-State-Dependent-Intraday-Response-of-S-P-500-Futures-to-Macroeconomic-Surprises · team code: github.com/jack-duncan/blackrock-intraday</a:t>
            </a:r>
            <a:endParaRPr lang="en-US" sz="1400" dirty="0"/>
          </a:p>
        </p:txBody>
      </p:sp>
      <p:sp>
        <p:nvSpPr>
          <p:cNvPr id="5" name="Text 3"/>
          <p:cNvSpPr txBox="1"/>
          <p:nvPr/>
        </p:nvSpPr>
        <p:spPr>
          <a:xfrm>
            <a:off x="731520" y="5760720"/>
            <a:ext cx="8229600" cy="45720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Student industry project. Views are the authors' own and do not represent BlackRock or UC Berkeley. Not investment advice.</a:t>
            </a:r>
            <a:endParaRPr lang="en-US" sz="1100" dirty="0"/>
          </a:p>
        </p:txBody>
      </p:sp>
      <p:sp>
        <p:nvSpPr>
          <p:cNvPr id="6" name="Text 4"/>
          <p:cNvSpPr txBox="1"/>
          <p:nvPr/>
        </p:nvSpPr>
        <p:spPr>
          <a:xfrm>
            <a:off x="8961120" y="6126480"/>
            <a:ext cx="2651760" cy="411480"/>
          </a:xfrm>
          <a:prstGeom prst="rect">
            <a:avLst/>
          </a:prstGeom>
          <a:noFill/>
          <a:ln/>
        </p:spPr>
        <p:txBody>
          <a:bodyPr wrap="square" lIns="0" tIns="0" rIns="0" bIns="0" rtlCol="0" anchor="ctr"/>
          <a:lstStyle/>
          <a:p>
            <a:pPr algn="r" indent="0" marL="0">
              <a:buNone/>
            </a:pPr>
            <a:r>
              <a:rPr lang="en-US" sz="1800" dirty="0">
                <a:solidFill>
                  <a:srgbClr val="FDB515"/>
                </a:solidFill>
                <a:latin typeface="Cambria" pitchFamily="34" charset="0"/>
                <a:ea typeface="Cambria" pitchFamily="34" charset="-122"/>
                <a:cs typeface="Cambria" pitchFamily="34" charset="-120"/>
              </a:rPr>
              <a:t>UC Berkeley Haas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 Surprises, DTW and the Intraday Response of ES, NQ and ZN Futures</dc:title>
  <dc:subject>PptxGenJS Presentation</dc:subject>
  <dc:creator>Reza Zamani</dc:creator>
  <cp:lastModifiedBy>Reza Zamani</cp:lastModifiedBy>
  <cp:revision>1</cp:revision>
  <dcterms:created xsi:type="dcterms:W3CDTF">2026-09-27T22:08:54Z</dcterms:created>
  <dcterms:modified xsi:type="dcterms:W3CDTF">2026-09-27T22:08:54Z</dcterms:modified>
</cp:coreProperties>
</file>