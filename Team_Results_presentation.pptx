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parts. First, the equal-cost comparison from notebook 08. Second, the surprise and surprise plus DTW books run inside the combined folder on Jack's terms. Third, the team book, which puts all four workstreams on the same terms and combines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strategies from four people. Only the macro-surprise, CPI and DTW ladder books exist on all three markets. Everything is rescored on the same bars, entry, costs and metrics, so the rows are comparable.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10 of notebook 08. One headline book per person on the same window and Sharpe method, at three cost levels. The high-turnover DTW books turn from positive to about minus 20 percent as the cost rises. Aaryen's as-reported line includes the first-minute jump, which cannot be traded.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9 shows each book in the format the DTW team used for their own slides: the strategy net and gross against being always long in exactly the same windows. The surprise books make money while always-long in the same windows loses, so the profit comes from direction, not from being in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other three workstreams in the same format. The DTW books trade over 300 times a year with a small edge per trade. Aaryen's classifier looks exceptional when it enters at the price before the release; with the same positions entered one minute later it is a solid but much smaller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notebook runs the surprise books inside the combined folder on Jack's data, years, costs and metrics. The plain surprise book on the top ten releases has the best Sharpe in the equity markets. Adding DTW, either as a filter or on its own, does not improve the test-year result. Jack has since improved his DTW book to 0.64 on ES, which is closer, but the surprise book is still ahead on ES and clearly on NQ.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shows the five books in each market and in the ES plus NQ book. Orange is the plain surprise book. Green, DTW on its own, lost in the equity markets in the test years after working in validation. Requiring DTW to agree halves the trades and lowers the Sharpe. On ZN nothing survives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surprise and DTW ladder books exist on all three markets. The correlations between different people's books are close to zero; the only high one is the same surprise strategy on ES and NQ, because the same releases move both equity markets.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results table. Columns one to three are at a quarter tick, four to six at our realistic cost of two ticks plus 4.50 dollars. The surprise book is the strongest in the equity markets, the classifier is the most cost-robust on ES, and nothing works on ZN after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each ES strategy. Middle: NQ and ZN. Right: the equal-risk team portfolios with weights from 2018 to 2020. The ES and ES plus NQ team books are smoother than any single strategy; adding ZN pulls the all-markets book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team portfolios weight each book by its risk, using only the validation years. At a quarter tick the ES and ES plus NQ team books reach a Sharpe of about 1.1 with drawdowns under 1.5 percent. At our realistic cost the high-turnover DTW books drag them below the surprise book alone, and adding ZN turns the all-markets book negative.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conclusions. The surprise direction is the strongest signal in the equity markets. DTW is useful for sizing but its direction is not stable. The four workstreams are nearly uncorrelated, so combining them lowers risk. And execution cost decides whether any of this is tradeable.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262"/>
        </a:solidFill>
      </p:bgPr>
    </p:bg>
    <p:spTree>
      <p:nvGrpSpPr>
        <p:cNvPr id="1" name=""/>
        <p:cNvGrpSpPr/>
        <p:nvPr/>
      </p:nvGrpSpPr>
      <p:grpSpPr>
        <a:xfrm>
          <a:off x="0" y="0"/>
          <a:ext cx="0" cy="0"/>
          <a:chOff x="0" y="0"/>
          <a:chExt cx="0" cy="0"/>
        </a:xfrm>
      </p:grpSpPr>
      <p:sp>
        <p:nvSpPr>
          <p:cNvPr id="2" name="Text 0"/>
          <p:cNvSpPr txBox="1"/>
          <p:nvPr/>
        </p:nvSpPr>
        <p:spPr>
          <a:xfrm>
            <a:off x="731520" y="640080"/>
            <a:ext cx="10058400" cy="365760"/>
          </a:xfrm>
          <a:prstGeom prst="rect">
            <a:avLst/>
          </a:prstGeom>
          <a:noFill/>
          <a:ln/>
        </p:spPr>
        <p:txBody>
          <a:bodyPr wrap="square" lIns="0" tIns="0" rIns="0" bIns="0" rtlCol="0" anchor="ctr"/>
          <a:lstStyle/>
          <a:p>
            <a:pPr indent="0" marL="0">
              <a:buNone/>
            </a:pPr>
            <a:r>
              <a:rPr lang="en-US" sz="1400" b="1" dirty="0">
                <a:solidFill>
                  <a:srgbClr val="FDB515"/>
                </a:solidFill>
                <a:latin typeface="Calibri" pitchFamily="34" charset="0"/>
                <a:ea typeface="Calibri" pitchFamily="34" charset="-122"/>
                <a:cs typeface="Calibri" pitchFamily="34" charset="-120"/>
              </a:rPr>
              <a:t>BlackRock industry project  ·  UC Berkeley Haas MFE</a:t>
            </a:r>
            <a:endParaRPr lang="en-US" sz="1400" dirty="0"/>
          </a:p>
        </p:txBody>
      </p:sp>
      <p:sp>
        <p:nvSpPr>
          <p:cNvPr id="3" name="Text 1"/>
          <p:cNvSpPr txBox="1"/>
          <p:nvPr/>
        </p:nvSpPr>
        <p:spPr>
          <a:xfrm>
            <a:off x="731520" y="1280160"/>
            <a:ext cx="10698480" cy="128016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Team Results: Macro Surprises and DTW on Equal Terms</a:t>
            </a:r>
            <a:endParaRPr lang="en-US" sz="4000" dirty="0"/>
          </a:p>
        </p:txBody>
      </p:sp>
      <p:sp>
        <p:nvSpPr>
          <p:cNvPr id="4" name="Text 2"/>
          <p:cNvSpPr txBox="1"/>
          <p:nvPr/>
        </p:nvSpPr>
        <p:spPr>
          <a:xfrm>
            <a:off x="731520" y="2697480"/>
            <a:ext cx="10698480" cy="457200"/>
          </a:xfrm>
          <a:prstGeom prst="rect">
            <a:avLst/>
          </a:prstGeom>
          <a:noFill/>
          <a:ln/>
        </p:spPr>
        <p:txBody>
          <a:bodyPr wrap="square" lIns="0" tIns="0" rIns="0" bIns="0" rtlCol="0" anchor="ctr"/>
          <a:lstStyle/>
          <a:p>
            <a:pPr indent="0" marL="0">
              <a:buNone/>
            </a:pPr>
            <a:r>
              <a:rPr lang="en-US" sz="1800" dirty="0">
                <a:solidFill>
                  <a:srgbClr val="CADCFC"/>
                </a:solidFill>
                <a:latin typeface="Calibri" pitchFamily="34" charset="0"/>
                <a:ea typeface="Calibri" pitchFamily="34" charset="-122"/>
                <a:cs typeface="Calibri" pitchFamily="34" charset="-120"/>
              </a:rPr>
              <a:t>Four workstreams, four futures markets (ES, NQ, YM, ZN), one set of data, entry rules and costs</a:t>
            </a:r>
            <a:endParaRPr lang="en-US" sz="1800" dirty="0"/>
          </a:p>
        </p:txBody>
      </p:sp>
      <p:sp>
        <p:nvSpPr>
          <p:cNvPr id="5" name="Text 3"/>
          <p:cNvSpPr txBox="1"/>
          <p:nvPr/>
        </p:nvSpPr>
        <p:spPr>
          <a:xfrm>
            <a:off x="731520" y="4023360"/>
            <a:ext cx="10698480" cy="1280160"/>
          </a:xfrm>
          <a:prstGeom prst="rect">
            <a:avLst/>
          </a:prstGeom>
          <a:noFill/>
          <a:ln/>
        </p:spPr>
        <p:txBody>
          <a:bodyPr wrap="square" lIns="0" tIns="0" rIns="0" bIns="0" rtlCol="0" anchor="t"/>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Team: Jack Duncan, Hoshea Zeng, Aaryen Mehta, Reza Zamani (UC Berkeley MFE)</a:t>
            </a:r>
            <a:endParaRPr lang="en-US" sz="1500" dirty="0"/>
          </a:p>
          <a:p>
            <a:pPr indent="0" marL="0">
              <a:spcAft>
                <a:spcPts val="600"/>
              </a:spcAft>
              <a:buNone/>
            </a:pPr>
            <a:r>
              <a:rPr lang="en-US" sz="1500" dirty="0">
                <a:solidFill>
                  <a:srgbClr val="CADCFC"/>
                </a:solidFill>
                <a:latin typeface="Calibri" pitchFamily="34" charset="0"/>
                <a:ea typeface="Calibri" pitchFamily="34" charset="-122"/>
                <a:cs typeface="Calibri" pitchFamily="34" charset="-120"/>
              </a:rPr>
              <a:t>Supervisor: Benjamin Steel, BlackRock</a:t>
            </a:r>
            <a:endParaRPr lang="en-US" sz="1500" dirty="0"/>
          </a:p>
          <a:p>
            <a:pPr indent="0" marL="0">
              <a:spcAft>
                <a:spcPts val="600"/>
              </a:spcAft>
              <a:buNone/>
            </a:pPr>
            <a:r>
              <a:rPr lang="en-US" sz="1500" dirty="0">
                <a:solidFill>
                  <a:srgbClr val="CADCFC"/>
                </a:solidFill>
                <a:latin typeface="Calibri" pitchFamily="34" charset="0"/>
                <a:ea typeface="Calibri" pitchFamily="34" charset="-122"/>
                <a:cs typeface="Calibri" pitchFamily="34" charset="-120"/>
              </a:rPr>
              <a:t>Sources: Reza/notebooks/08 (sections 9–10) · combined/surprise_dtw_book · combined/team_book</a:t>
            </a:r>
            <a:endParaRPr lang="en-US" sz="1500" dirty="0"/>
          </a:p>
        </p:txBody>
      </p:sp>
      <p:sp>
        <p:nvSpPr>
          <p:cNvPr id="6" name="Shape 4"/>
          <p:cNvSpPr/>
          <p:nvPr/>
        </p:nvSpPr>
        <p:spPr>
          <a:xfrm>
            <a:off x="731520" y="5760720"/>
            <a:ext cx="1463040" cy="73152"/>
          </a:xfrm>
          <a:prstGeom prst="rect">
            <a:avLst/>
          </a:prstGeom>
          <a:solidFill>
            <a:srgbClr val="FDB515"/>
          </a:solidFill>
          <a:ln w="12700">
            <a:solidFill>
              <a:srgbClr val="FDB515"/>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What this deck covers</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
        <p:nvSpPr>
          <p:cNvPr id="5" name="Shape 3"/>
          <p:cNvSpPr/>
          <p:nvPr/>
        </p:nvSpPr>
        <p:spPr>
          <a:xfrm>
            <a:off x="548640" y="1325880"/>
            <a:ext cx="11064240" cy="1143000"/>
          </a:xfrm>
          <a:prstGeom prst="roundRect">
            <a:avLst>
              <a:gd name="adj" fmla="val 6400"/>
            </a:avLst>
          </a:prstGeom>
          <a:solidFill>
            <a:srgbClr val="EEF3F8"/>
          </a:solidFill>
          <a:ln w="12700">
            <a:solidFill>
              <a:srgbClr val="EEF3F8"/>
            </a:solidFill>
            <a:prstDash val="solid"/>
          </a:ln>
        </p:spPr>
      </p:sp>
      <p:sp>
        <p:nvSpPr>
          <p:cNvPr id="6" name="Shape 4"/>
          <p:cNvSpPr/>
          <p:nvPr/>
        </p:nvSpPr>
        <p:spPr>
          <a:xfrm>
            <a:off x="777240" y="1664208"/>
            <a:ext cx="457200" cy="457200"/>
          </a:xfrm>
          <a:prstGeom prst="ellipse">
            <a:avLst/>
          </a:prstGeom>
          <a:solidFill>
            <a:srgbClr val="FDB515"/>
          </a:solidFill>
          <a:ln w="12700">
            <a:solidFill>
              <a:srgbClr val="FDB515"/>
            </a:solidFill>
            <a:prstDash val="solid"/>
          </a:ln>
        </p:spPr>
      </p:sp>
      <p:sp>
        <p:nvSpPr>
          <p:cNvPr id="7" name="Text 5"/>
          <p:cNvSpPr txBox="1"/>
          <p:nvPr/>
        </p:nvSpPr>
        <p:spPr>
          <a:xfrm>
            <a:off x="777240" y="1664208"/>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A</a:t>
            </a:r>
            <a:endParaRPr lang="en-US" sz="1400" dirty="0"/>
          </a:p>
        </p:txBody>
      </p:sp>
      <p:sp>
        <p:nvSpPr>
          <p:cNvPr id="8" name="Text 6"/>
          <p:cNvSpPr txBox="1"/>
          <p:nvPr/>
        </p:nvSpPr>
        <p:spPr>
          <a:xfrm>
            <a:off x="1463040" y="1435608"/>
            <a:ext cx="8229600" cy="411480"/>
          </a:xfrm>
          <a:prstGeom prst="rect">
            <a:avLst/>
          </a:prstGeom>
          <a:noFill/>
          <a:ln/>
        </p:spPr>
        <p:txBody>
          <a:bodyPr wrap="square" lIns="0" tIns="0" rIns="0" bIns="0" rtlCol="0" anchor="ctr"/>
          <a:lstStyle/>
          <a:p>
            <a:pPr indent="0" marL="0">
              <a:buNone/>
            </a:pPr>
            <a:r>
              <a:rPr lang="en-US" sz="2000" b="1" dirty="0">
                <a:solidFill>
                  <a:srgbClr val="003262"/>
                </a:solidFill>
                <a:latin typeface="Cambria" pitchFamily="34" charset="0"/>
                <a:ea typeface="Cambria" pitchFamily="34" charset="-122"/>
                <a:cs typeface="Cambria" pitchFamily="34" charset="-120"/>
              </a:rPr>
              <a:t>Team comparison at equal costs</a:t>
            </a:r>
            <a:endParaRPr lang="en-US" sz="2000" dirty="0"/>
          </a:p>
        </p:txBody>
      </p:sp>
      <p:sp>
        <p:nvSpPr>
          <p:cNvPr id="9" name="Text 7"/>
          <p:cNvSpPr txBox="1"/>
          <p:nvPr/>
        </p:nvSpPr>
        <p:spPr>
          <a:xfrm>
            <a:off x="1463040" y="1856232"/>
            <a:ext cx="8412480" cy="54864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Notebook 08, sections 9–10: each person's own book re-priced on one window (2019–2026) and one Sharpe method, at three cost levels</a:t>
            </a:r>
            <a:endParaRPr lang="en-US" sz="1300" dirty="0"/>
          </a:p>
        </p:txBody>
      </p:sp>
      <p:sp>
        <p:nvSpPr>
          <p:cNvPr id="10" name="Text 8"/>
          <p:cNvSpPr txBox="1"/>
          <p:nvPr/>
        </p:nvSpPr>
        <p:spPr>
          <a:xfrm>
            <a:off x="9966960" y="1435608"/>
            <a:ext cx="1463040" cy="411480"/>
          </a:xfrm>
          <a:prstGeom prst="rect">
            <a:avLst/>
          </a:prstGeom>
          <a:noFill/>
          <a:ln/>
        </p:spPr>
        <p:txBody>
          <a:bodyPr wrap="square" lIns="0" tIns="0" rIns="0" bIns="0" rtlCol="0" anchor="ctr"/>
          <a:lstStyle/>
          <a:p>
            <a:pPr algn="r" indent="0" marL="0">
              <a:buNone/>
            </a:pPr>
            <a:r>
              <a:rPr lang="en-US" sz="1200" dirty="0">
                <a:solidFill>
                  <a:srgbClr val="6B7280"/>
                </a:solidFill>
                <a:latin typeface="Calibri" pitchFamily="34" charset="0"/>
                <a:ea typeface="Calibri" pitchFamily="34" charset="-122"/>
                <a:cs typeface="Calibri" pitchFamily="34" charset="-120"/>
              </a:rPr>
              <a:t>slides 4–6</a:t>
            </a:r>
            <a:endParaRPr lang="en-US" sz="1200" dirty="0"/>
          </a:p>
        </p:txBody>
      </p:sp>
      <p:sp>
        <p:nvSpPr>
          <p:cNvPr id="11" name="Shape 9"/>
          <p:cNvSpPr/>
          <p:nvPr/>
        </p:nvSpPr>
        <p:spPr>
          <a:xfrm>
            <a:off x="548640" y="2651760"/>
            <a:ext cx="11064240" cy="1143000"/>
          </a:xfrm>
          <a:prstGeom prst="roundRect">
            <a:avLst>
              <a:gd name="adj" fmla="val 6400"/>
            </a:avLst>
          </a:prstGeom>
          <a:solidFill>
            <a:srgbClr val="EEF3F8"/>
          </a:solidFill>
          <a:ln w="12700">
            <a:solidFill>
              <a:srgbClr val="EEF3F8"/>
            </a:solidFill>
            <a:prstDash val="solid"/>
          </a:ln>
        </p:spPr>
      </p:sp>
      <p:sp>
        <p:nvSpPr>
          <p:cNvPr id="12" name="Shape 10"/>
          <p:cNvSpPr/>
          <p:nvPr/>
        </p:nvSpPr>
        <p:spPr>
          <a:xfrm>
            <a:off x="777240" y="2990088"/>
            <a:ext cx="457200" cy="457200"/>
          </a:xfrm>
          <a:prstGeom prst="ellipse">
            <a:avLst/>
          </a:prstGeom>
          <a:solidFill>
            <a:srgbClr val="FDB515"/>
          </a:solidFill>
          <a:ln w="12700">
            <a:solidFill>
              <a:srgbClr val="FDB515"/>
            </a:solidFill>
            <a:prstDash val="solid"/>
          </a:ln>
        </p:spPr>
      </p:sp>
      <p:sp>
        <p:nvSpPr>
          <p:cNvPr id="13" name="Text 11"/>
          <p:cNvSpPr txBox="1"/>
          <p:nvPr/>
        </p:nvSpPr>
        <p:spPr>
          <a:xfrm>
            <a:off x="777240" y="2990088"/>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B</a:t>
            </a:r>
            <a:endParaRPr lang="en-US" sz="1400" dirty="0"/>
          </a:p>
        </p:txBody>
      </p:sp>
      <p:sp>
        <p:nvSpPr>
          <p:cNvPr id="14" name="Text 12"/>
          <p:cNvSpPr txBox="1"/>
          <p:nvPr/>
        </p:nvSpPr>
        <p:spPr>
          <a:xfrm>
            <a:off x="1463040" y="2761488"/>
            <a:ext cx="8229600" cy="411480"/>
          </a:xfrm>
          <a:prstGeom prst="rect">
            <a:avLst/>
          </a:prstGeom>
          <a:noFill/>
          <a:ln/>
        </p:spPr>
        <p:txBody>
          <a:bodyPr wrap="square" lIns="0" tIns="0" rIns="0" bIns="0" rtlCol="0" anchor="ctr"/>
          <a:lstStyle/>
          <a:p>
            <a:pPr indent="0" marL="0">
              <a:buNone/>
            </a:pPr>
            <a:r>
              <a:rPr lang="en-US" sz="2000" b="1" dirty="0">
                <a:solidFill>
                  <a:srgbClr val="003262"/>
                </a:solidFill>
                <a:latin typeface="Cambria" pitchFamily="34" charset="0"/>
                <a:ea typeface="Cambria" pitchFamily="34" charset="-122"/>
                <a:cs typeface="Cambria" pitchFamily="34" charset="-120"/>
              </a:rPr>
              <a:t>Surprise and surprise + DTW books</a:t>
            </a:r>
            <a:endParaRPr lang="en-US" sz="2000" dirty="0"/>
          </a:p>
        </p:txBody>
      </p:sp>
      <p:sp>
        <p:nvSpPr>
          <p:cNvPr id="15" name="Text 13"/>
          <p:cNvSpPr txBox="1"/>
          <p:nvPr/>
        </p:nvSpPr>
        <p:spPr>
          <a:xfrm>
            <a:off x="1463040" y="3182112"/>
            <a:ext cx="8412480" cy="54864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combined/surprise_dtw_book: the macro-surprise strategies run on the combined DTW book's data, years, costs and metrics</a:t>
            </a:r>
            <a:endParaRPr lang="en-US" sz="1300" dirty="0"/>
          </a:p>
        </p:txBody>
      </p:sp>
      <p:sp>
        <p:nvSpPr>
          <p:cNvPr id="16" name="Text 14"/>
          <p:cNvSpPr txBox="1"/>
          <p:nvPr/>
        </p:nvSpPr>
        <p:spPr>
          <a:xfrm>
            <a:off x="9966960" y="2761488"/>
            <a:ext cx="1463040" cy="411480"/>
          </a:xfrm>
          <a:prstGeom prst="rect">
            <a:avLst/>
          </a:prstGeom>
          <a:noFill/>
          <a:ln/>
        </p:spPr>
        <p:txBody>
          <a:bodyPr wrap="square" lIns="0" tIns="0" rIns="0" bIns="0" rtlCol="0" anchor="ctr"/>
          <a:lstStyle/>
          <a:p>
            <a:pPr algn="r" indent="0" marL="0">
              <a:buNone/>
            </a:pPr>
            <a:r>
              <a:rPr lang="en-US" sz="1200" dirty="0">
                <a:solidFill>
                  <a:srgbClr val="6B7280"/>
                </a:solidFill>
                <a:latin typeface="Calibri" pitchFamily="34" charset="0"/>
                <a:ea typeface="Calibri" pitchFamily="34" charset="-122"/>
                <a:cs typeface="Calibri" pitchFamily="34" charset="-120"/>
              </a:rPr>
              <a:t>slides 7–8</a:t>
            </a:r>
            <a:endParaRPr lang="en-US" sz="1200" dirty="0"/>
          </a:p>
        </p:txBody>
      </p:sp>
      <p:sp>
        <p:nvSpPr>
          <p:cNvPr id="17" name="Shape 15"/>
          <p:cNvSpPr/>
          <p:nvPr/>
        </p:nvSpPr>
        <p:spPr>
          <a:xfrm>
            <a:off x="548640" y="3977640"/>
            <a:ext cx="11064240" cy="1143000"/>
          </a:xfrm>
          <a:prstGeom prst="roundRect">
            <a:avLst>
              <a:gd name="adj" fmla="val 6400"/>
            </a:avLst>
          </a:prstGeom>
          <a:solidFill>
            <a:srgbClr val="EEF3F8"/>
          </a:solidFill>
          <a:ln w="12700">
            <a:solidFill>
              <a:srgbClr val="EEF3F8"/>
            </a:solidFill>
            <a:prstDash val="solid"/>
          </a:ln>
        </p:spPr>
      </p:sp>
      <p:sp>
        <p:nvSpPr>
          <p:cNvPr id="18" name="Shape 16"/>
          <p:cNvSpPr/>
          <p:nvPr/>
        </p:nvSpPr>
        <p:spPr>
          <a:xfrm>
            <a:off x="777240" y="4315968"/>
            <a:ext cx="457200" cy="457200"/>
          </a:xfrm>
          <a:prstGeom prst="ellipse">
            <a:avLst/>
          </a:prstGeom>
          <a:solidFill>
            <a:srgbClr val="FDB515"/>
          </a:solidFill>
          <a:ln w="12700">
            <a:solidFill>
              <a:srgbClr val="FDB515"/>
            </a:solidFill>
            <a:prstDash val="solid"/>
          </a:ln>
        </p:spPr>
      </p:sp>
      <p:sp>
        <p:nvSpPr>
          <p:cNvPr id="19" name="Text 17"/>
          <p:cNvSpPr txBox="1"/>
          <p:nvPr/>
        </p:nvSpPr>
        <p:spPr>
          <a:xfrm>
            <a:off x="777240" y="4315968"/>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C</a:t>
            </a:r>
            <a:endParaRPr lang="en-US" sz="1400" dirty="0"/>
          </a:p>
        </p:txBody>
      </p:sp>
      <p:sp>
        <p:nvSpPr>
          <p:cNvPr id="20" name="Text 18"/>
          <p:cNvSpPr txBox="1"/>
          <p:nvPr/>
        </p:nvSpPr>
        <p:spPr>
          <a:xfrm>
            <a:off x="1463040" y="4087368"/>
            <a:ext cx="8229600" cy="411480"/>
          </a:xfrm>
          <a:prstGeom prst="rect">
            <a:avLst/>
          </a:prstGeom>
          <a:noFill/>
          <a:ln/>
        </p:spPr>
        <p:txBody>
          <a:bodyPr wrap="square" lIns="0" tIns="0" rIns="0" bIns="0" rtlCol="0" anchor="ctr"/>
          <a:lstStyle/>
          <a:p>
            <a:pPr indent="0" marL="0">
              <a:buNone/>
            </a:pPr>
            <a:r>
              <a:rPr lang="en-US" sz="2000" b="1" dirty="0">
                <a:solidFill>
                  <a:srgbClr val="003262"/>
                </a:solidFill>
                <a:latin typeface="Cambria" pitchFamily="34" charset="0"/>
                <a:ea typeface="Cambria" pitchFamily="34" charset="-122"/>
                <a:cs typeface="Cambria" pitchFamily="34" charset="-120"/>
              </a:rPr>
              <a:t>Team book</a:t>
            </a:r>
            <a:endParaRPr lang="en-US" sz="2000" dirty="0"/>
          </a:p>
        </p:txBody>
      </p:sp>
      <p:sp>
        <p:nvSpPr>
          <p:cNvPr id="21" name="Text 19"/>
          <p:cNvSpPr txBox="1"/>
          <p:nvPr/>
        </p:nvSpPr>
        <p:spPr>
          <a:xfrm>
            <a:off x="1463040" y="4507992"/>
            <a:ext cx="8412480" cy="54864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combined/team_book: all four workstreams on the same terms, on every market where they exist, combined into team portfolios</a:t>
            </a:r>
            <a:endParaRPr lang="en-US" sz="1300" dirty="0"/>
          </a:p>
        </p:txBody>
      </p:sp>
      <p:sp>
        <p:nvSpPr>
          <p:cNvPr id="22" name="Text 20"/>
          <p:cNvSpPr txBox="1"/>
          <p:nvPr/>
        </p:nvSpPr>
        <p:spPr>
          <a:xfrm>
            <a:off x="9966960" y="4087368"/>
            <a:ext cx="1463040" cy="411480"/>
          </a:xfrm>
          <a:prstGeom prst="rect">
            <a:avLst/>
          </a:prstGeom>
          <a:noFill/>
          <a:ln/>
        </p:spPr>
        <p:txBody>
          <a:bodyPr wrap="square" lIns="0" tIns="0" rIns="0" bIns="0" rtlCol="0" anchor="ctr"/>
          <a:lstStyle/>
          <a:p>
            <a:pPr algn="r" indent="0" marL="0">
              <a:buNone/>
            </a:pPr>
            <a:r>
              <a:rPr lang="en-US" sz="1200" dirty="0">
                <a:solidFill>
                  <a:srgbClr val="6B7280"/>
                </a:solidFill>
                <a:latin typeface="Calibri" pitchFamily="34" charset="0"/>
                <a:ea typeface="Calibri" pitchFamily="34" charset="-122"/>
                <a:cs typeface="Calibri" pitchFamily="34" charset="-120"/>
              </a:rPr>
              <a:t>slides 9–12</a:t>
            </a:r>
            <a:endParaRPr lang="en-US" sz="1200" dirty="0"/>
          </a:p>
        </p:txBody>
      </p:sp>
      <p:sp>
        <p:nvSpPr>
          <p:cNvPr id="23" name="Text 21"/>
          <p:cNvSpPr txBox="1"/>
          <p:nvPr/>
        </p:nvSpPr>
        <p:spPr>
          <a:xfrm>
            <a:off x="548640" y="5440680"/>
            <a:ext cx="11064240" cy="365760"/>
          </a:xfrm>
          <a:prstGeom prst="rect">
            <a:avLst/>
          </a:prstGeom>
          <a:noFill/>
          <a:ln/>
        </p:spPr>
        <p:txBody>
          <a:bodyPr wrap="square" lIns="0" tIns="0" rIns="0" bIns="0" rtlCol="0" anchor="ctr"/>
          <a:lstStyle/>
          <a:p>
            <a:pPr indent="0" marL="0">
              <a:buNone/>
            </a:pPr>
            <a:r>
              <a:rPr lang="en-US" sz="1400" b="1" dirty="0">
                <a:solidFill>
                  <a:srgbClr val="003262"/>
                </a:solidFill>
                <a:latin typeface="Calibri" pitchFamily="34" charset="0"/>
                <a:ea typeface="Calibri" pitchFamily="34" charset="-122"/>
                <a:cs typeface="Calibri" pitchFamily="34" charset="-120"/>
              </a:rPr>
              <a:t>Slide 13: conclusions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Four workstreams, one set of rules</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6949440" cy="914400"/>
        </p:xfrm>
        <a:graphic>
          <a:graphicData uri="http://schemas.openxmlformats.org/drawingml/2006/table">
            <a:tbl>
              <a:tblPr/>
              <a:tblGrid>
                <a:gridCol w="2011680"/>
                <a:gridCol w="822960"/>
                <a:gridCol w="2286000"/>
                <a:gridCol w="1005840"/>
                <a:gridCol w="822960"/>
              </a:tblGrid>
              <a:tr h="621792">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Strategy</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Built by</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Direction from</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Markets</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Trades / yr (ES)</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r>
              <a:tr h="621792">
                <a:tc>
                  <a:txBody>
                    <a:bodyPr/>
                    <a:lstStyle/>
                    <a:p>
                      <a:pPr indent="0" marL="0">
                        <a:buNone/>
                      </a:pPr>
                      <a:r>
                        <a:rPr lang="en-US" sz="1300" b="1" dirty="0">
                          <a:solidFill>
                            <a:srgbClr val="003262"/>
                          </a:solidFill>
                          <a:latin typeface="Calibri" pitchFamily="34" charset="0"/>
                          <a:ea typeface="Calibri" pitchFamily="34" charset="-122"/>
                          <a:cs typeface="Calibri" pitchFamily="34" charset="-120"/>
                        </a:rPr>
                        <a:t>Macro-surprise book</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Reza</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consensus surprise, top-10 releases + CPI</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ES · NQ · YM · ZN</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~96</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621792">
                <a:tc>
                  <a:txBody>
                    <a:bodyPr/>
                    <a:lstStyle/>
                    <a:p>
                      <a:pPr indent="0" marL="0">
                        <a:buNone/>
                      </a:pPr>
                      <a:r>
                        <a:rPr lang="en-US" sz="1300" b="1" dirty="0">
                          <a:solidFill>
                            <a:srgbClr val="003262"/>
                          </a:solidFill>
                          <a:latin typeface="Calibri" pitchFamily="34" charset="0"/>
                          <a:ea typeface="Calibri" pitchFamily="34" charset="-122"/>
                          <a:cs typeface="Calibri" pitchFamily="34" charset="-120"/>
                        </a:rPr>
                        <a:t>CPI surprise model</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Reza</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predicted CPI move, if above cost</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ES · NQ · YM · ZN</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621792">
                <a:tc>
                  <a:txBody>
                    <a:bodyPr/>
                    <a:lstStyle/>
                    <a:p>
                      <a:pPr indent="0" marL="0">
                        <a:buNone/>
                      </a:pPr>
                      <a:r>
                        <a:rPr lang="en-US" sz="1300" b="1" dirty="0">
                          <a:solidFill>
                            <a:srgbClr val="003262"/>
                          </a:solidFill>
                          <a:latin typeface="Calibri" pitchFamily="34" charset="0"/>
                          <a:ea typeface="Calibri" pitchFamily="34" charset="-122"/>
                          <a:cs typeface="Calibri" pitchFamily="34" charset="-120"/>
                        </a:rPr>
                        <a:t>DTW ladder book</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Jack</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DTW price-path analogues, 5 windows</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ES · NQ · YM · ZN</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~310</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621792">
                <a:tc>
                  <a:txBody>
                    <a:bodyPr/>
                    <a:lstStyle/>
                    <a:p>
                      <a:pPr indent="0" marL="0">
                        <a:buNone/>
                      </a:pPr>
                      <a:r>
                        <a:rPr lang="en-US" sz="1300" b="1" dirty="0">
                          <a:solidFill>
                            <a:srgbClr val="003262"/>
                          </a:solidFill>
                          <a:latin typeface="Calibri" pitchFamily="34" charset="0"/>
                          <a:ea typeface="Calibri" pitchFamily="34" charset="-122"/>
                          <a:cs typeface="Calibri" pitchFamily="34" charset="-120"/>
                        </a:rPr>
                        <a:t>DTW event-game book</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Hoshea</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DTW factor on Claims, JOLTS, PCE</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ES</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~370</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621792">
                <a:tc>
                  <a:txBody>
                    <a:bodyPr/>
                    <a:lstStyle/>
                    <a:p>
                      <a:pPr indent="0" marL="0">
                        <a:buNone/>
                      </a:pPr>
                      <a:r>
                        <a:rPr lang="en-US" sz="1300" b="1" dirty="0">
                          <a:solidFill>
                            <a:srgbClr val="003262"/>
                          </a:solidFill>
                          <a:latin typeface="Calibri" pitchFamily="34" charset="0"/>
                          <a:ea typeface="Calibri" pitchFamily="34" charset="-122"/>
                          <a:cs typeface="Calibri" pitchFamily="34" charset="-120"/>
                        </a:rPr>
                        <a:t>Machine-learning classifier</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Aaryen</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walk-forward classifier, 30 min</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ES</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300" dirty="0">
                          <a:solidFill>
                            <a:srgbClr val="1F2937"/>
                          </a:solidFill>
                          <a:latin typeface="Calibri" pitchFamily="34" charset="0"/>
                          <a:ea typeface="Calibri" pitchFamily="34" charset="-122"/>
                          <a:cs typeface="Calibri" pitchFamily="34" charset="-120"/>
                        </a:rPr>
                        <a:t>~54</a:t>
                      </a:r>
                      <a:endParaRPr lang="en-US" sz="13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sp>
        <p:nvSpPr>
          <p:cNvPr id="6" name="Shape 3"/>
          <p:cNvSpPr/>
          <p:nvPr/>
        </p:nvSpPr>
        <p:spPr>
          <a:xfrm>
            <a:off x="7772400" y="1280160"/>
            <a:ext cx="3840480" cy="4480560"/>
          </a:xfrm>
          <a:prstGeom prst="roundRect">
            <a:avLst>
              <a:gd name="adj" fmla="val 1905"/>
            </a:avLst>
          </a:prstGeom>
          <a:solidFill>
            <a:srgbClr val="EEF3F8"/>
          </a:solidFill>
          <a:ln w="12700">
            <a:solidFill>
              <a:srgbClr val="EEF3F8"/>
            </a:solidFill>
            <a:prstDash val="solid"/>
          </a:ln>
        </p:spPr>
      </p:sp>
      <p:sp>
        <p:nvSpPr>
          <p:cNvPr id="7" name="Text 4"/>
          <p:cNvSpPr txBox="1"/>
          <p:nvPr/>
        </p:nvSpPr>
        <p:spPr>
          <a:xfrm>
            <a:off x="7936992" y="1389888"/>
            <a:ext cx="3511296" cy="426110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The same terms for everyone</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Jack's cleaned 1-minute bars, roll jumps removed</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Entry only after the release is public (T+1)</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Costs: gross, ¼ tick, ½ tick per side, and 2 ticks + $4.50</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Walk-forward; validation 2018–20, test 2021–26</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Metrics: daily bps, Sharpe over 252 days, max drawdown</a:t>
            </a:r>
            <a:endParaRPr lang="en-US" sz="1600" dirty="0"/>
          </a:p>
        </p:txBody>
      </p:sp>
      <p:sp>
        <p:nvSpPr>
          <p:cNvPr id="8" name="Text 5"/>
          <p:cNvSpPr txBox="1"/>
          <p:nvPr/>
        </p:nvSpPr>
        <p:spPr>
          <a:xfrm>
            <a:off x="548640" y="5120640"/>
            <a:ext cx="6949440" cy="32004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Each person's own positions are kept; only returns, costs and scoring are recomputed. Hoshea's and Aaryen's work exists on ES only. YM (E-mini Dow) was added after the ES and NQ results were known.</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A · Four workstreams at three cost levels</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a:t>
            </a:r>
            <a:endParaRPr lang="en-US" sz="900" dirty="0"/>
          </a:p>
        </p:txBody>
      </p:sp>
      <p:sp>
        <p:nvSpPr>
          <p:cNvPr id="5" name="Shape 3"/>
          <p:cNvSpPr/>
          <p:nvPr/>
        </p:nvSpPr>
        <p:spPr>
          <a:xfrm>
            <a:off x="548640" y="164592"/>
            <a:ext cx="109728" cy="201168"/>
          </a:xfrm>
          <a:prstGeom prst="rect">
            <a:avLst/>
          </a:prstGeom>
          <a:solidFill>
            <a:srgbClr val="FDB515"/>
          </a:solidFill>
          <a:ln w="12700">
            <a:solidFill>
              <a:srgbClr val="FDB515"/>
            </a:solidFill>
            <a:prstDash val="solid"/>
          </a:ln>
        </p:spPr>
      </p:sp>
      <p:sp>
        <p:nvSpPr>
          <p:cNvPr id="6" name="Text 4"/>
          <p:cNvSpPr txBox="1"/>
          <p:nvPr/>
        </p:nvSpPr>
        <p:spPr>
          <a:xfrm>
            <a:off x="731520" y="109728"/>
            <a:ext cx="7315200" cy="292608"/>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NOTEBOOK 08 · SECTION 10 · 2019–2026</a:t>
            </a:r>
            <a:endParaRPr lang="en-US" sz="1100" dirty="0"/>
          </a:p>
        </p:txBody>
      </p:sp>
      <p:sp>
        <p:nvSpPr>
          <p:cNvPr id="7" name="Text 5"/>
          <p:cNvSpPr txBox="1"/>
          <p:nvPr/>
        </p:nvSpPr>
        <p:spPr>
          <a:xfrm>
            <a:off x="457200" y="1188720"/>
            <a:ext cx="5486400" cy="256032"/>
          </a:xfrm>
          <a:prstGeom prst="rect">
            <a:avLst/>
          </a:prstGeom>
          <a:noFill/>
          <a:ln/>
        </p:spPr>
        <p:txBody>
          <a:bodyPr wrap="square" lIns="0" tIns="0" rIns="0" bIns="0" rtlCol="0" anchor="ctr"/>
          <a:lstStyle/>
          <a:p>
            <a:pPr indent="0" marL="0">
              <a:buNone/>
            </a:pPr>
            <a:r>
              <a:rPr lang="en-US" sz="1150" b="1" dirty="0">
                <a:solidFill>
                  <a:srgbClr val="003262"/>
                </a:solidFill>
                <a:latin typeface="Calibri" pitchFamily="34" charset="0"/>
                <a:ea typeface="Calibri" pitchFamily="34" charset="-122"/>
                <a:cs typeface="Calibri" pitchFamily="34" charset="-120"/>
              </a:rPr>
              <a:t>Gross (no costs)</a:t>
            </a:r>
            <a:endParaRPr lang="en-US" sz="1150" dirty="0"/>
          </a:p>
        </p:txBody>
      </p:sp>
      <p:pic>
        <p:nvPicPr>
          <p:cNvPr id="8" name="Image 0" descr="/home/claude/pdf/figures/nb08_team_cumulative_Gross__no_costs.png">    </p:cNvPr>
          <p:cNvPicPr>
            <a:picLocks noChangeAspect="1"/>
          </p:cNvPicPr>
          <p:nvPr/>
        </p:nvPicPr>
        <p:blipFill>
          <a:blip r:embed="rId1"/>
          <a:stretch>
            <a:fillRect/>
          </a:stretch>
        </p:blipFill>
        <p:spPr>
          <a:xfrm>
            <a:off x="581025" y="1463040"/>
            <a:ext cx="5238750" cy="2286000"/>
          </a:xfrm>
          <a:prstGeom prst="rect">
            <a:avLst/>
          </a:prstGeom>
        </p:spPr>
      </p:pic>
      <p:sp>
        <p:nvSpPr>
          <p:cNvPr id="9" name="Text 6"/>
          <p:cNvSpPr txBox="1"/>
          <p:nvPr/>
        </p:nvSpPr>
        <p:spPr>
          <a:xfrm>
            <a:off x="6217920" y="1188720"/>
            <a:ext cx="5486400" cy="256032"/>
          </a:xfrm>
          <a:prstGeom prst="rect">
            <a:avLst/>
          </a:prstGeom>
          <a:noFill/>
          <a:ln/>
        </p:spPr>
        <p:txBody>
          <a:bodyPr wrap="square" lIns="0" tIns="0" rIns="0" bIns="0" rtlCol="0" anchor="ctr"/>
          <a:lstStyle/>
          <a:p>
            <a:pPr indent="0" marL="0">
              <a:buNone/>
            </a:pPr>
            <a:r>
              <a:rPr lang="en-US" sz="1150" b="1" dirty="0">
                <a:solidFill>
                  <a:srgbClr val="003262"/>
                </a:solidFill>
                <a:latin typeface="Calibri" pitchFamily="34" charset="0"/>
                <a:ea typeface="Calibri" pitchFamily="34" charset="-122"/>
                <a:cs typeface="Calibri" pitchFamily="34" charset="-120"/>
              </a:rPr>
              <a:t>¼ tick per side (Jack's cost)</a:t>
            </a:r>
            <a:endParaRPr lang="en-US" sz="1150" dirty="0"/>
          </a:p>
        </p:txBody>
      </p:sp>
      <p:pic>
        <p:nvPicPr>
          <p:cNvPr id="10" name="Image 1" descr="/home/claude/pdf/figures/nb08_team_cumulative_Jack_s_cost.png">    </p:cNvPr>
          <p:cNvPicPr>
            <a:picLocks noChangeAspect="1"/>
          </p:cNvPicPr>
          <p:nvPr/>
        </p:nvPicPr>
        <p:blipFill>
          <a:blip r:embed="rId2"/>
          <a:stretch>
            <a:fillRect/>
          </a:stretch>
        </p:blipFill>
        <p:spPr>
          <a:xfrm>
            <a:off x="6341745" y="1463040"/>
            <a:ext cx="5238750" cy="2286000"/>
          </a:xfrm>
          <a:prstGeom prst="rect">
            <a:avLst/>
          </a:prstGeom>
        </p:spPr>
      </p:pic>
      <p:sp>
        <p:nvSpPr>
          <p:cNvPr id="11" name="Text 7"/>
          <p:cNvSpPr txBox="1"/>
          <p:nvPr/>
        </p:nvSpPr>
        <p:spPr>
          <a:xfrm>
            <a:off x="457200" y="3767328"/>
            <a:ext cx="5486400" cy="256032"/>
          </a:xfrm>
          <a:prstGeom prst="rect">
            <a:avLst/>
          </a:prstGeom>
          <a:noFill/>
          <a:ln/>
        </p:spPr>
        <p:txBody>
          <a:bodyPr wrap="square" lIns="0" tIns="0" rIns="0" bIns="0" rtlCol="0" anchor="ctr"/>
          <a:lstStyle/>
          <a:p>
            <a:pPr indent="0" marL="0">
              <a:buNone/>
            </a:pPr>
            <a:r>
              <a:rPr lang="en-US" sz="1150" b="1" dirty="0">
                <a:solidFill>
                  <a:srgbClr val="003262"/>
                </a:solidFill>
                <a:latin typeface="Calibri" pitchFamily="34" charset="0"/>
                <a:ea typeface="Calibri" pitchFamily="34" charset="-122"/>
                <a:cs typeface="Calibri" pitchFamily="34" charset="-120"/>
              </a:rPr>
              <a:t>2 ticks + $4.50 (our cost)</a:t>
            </a:r>
            <a:endParaRPr lang="en-US" sz="1150" dirty="0"/>
          </a:p>
        </p:txBody>
      </p:sp>
      <p:pic>
        <p:nvPicPr>
          <p:cNvPr id="12" name="Image 2" descr="/home/claude/pdf/figures/nb08_team_cumulative_Our_cost.png">    </p:cNvPr>
          <p:cNvPicPr>
            <a:picLocks noChangeAspect="1"/>
          </p:cNvPicPr>
          <p:nvPr/>
        </p:nvPicPr>
        <p:blipFill>
          <a:blip r:embed="rId3"/>
          <a:stretch>
            <a:fillRect/>
          </a:stretch>
        </p:blipFill>
        <p:spPr>
          <a:xfrm>
            <a:off x="581025" y="4041648"/>
            <a:ext cx="5238750" cy="2286000"/>
          </a:xfrm>
          <a:prstGeom prst="rect">
            <a:avLst/>
          </a:prstGeom>
        </p:spPr>
      </p:pic>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217920" y="3794760"/>
          <a:ext cx="5486400" cy="914400"/>
        </p:xfrm>
        <a:graphic>
          <a:graphicData uri="http://schemas.openxmlformats.org/drawingml/2006/table">
            <a:tbl>
              <a:tblPr/>
              <a:tblGrid>
                <a:gridCol w="1554480"/>
                <a:gridCol w="1234440"/>
                <a:gridCol w="1234440"/>
                <a:gridCol w="1463040"/>
              </a:tblGrid>
              <a:tr h="329184">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Sharpe / total</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Gross</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¼ tick</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2 ticks + $4.50</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r>
              <a:tr h="329184">
                <a:tc>
                  <a:txBody>
                    <a:bodyPr/>
                    <a:lstStyle/>
                    <a:p>
                      <a:pPr indent="0" marL="0">
                        <a:buNone/>
                      </a:pPr>
                      <a:r>
                        <a:rPr lang="en-US" sz="1050" b="1" dirty="0">
                          <a:solidFill>
                            <a:srgbClr val="003262"/>
                          </a:solidFill>
                          <a:latin typeface="Calibri" pitchFamily="34" charset="0"/>
                          <a:ea typeface="Calibri" pitchFamily="34" charset="-122"/>
                          <a:cs typeface="Calibri" pitchFamily="34" charset="-120"/>
                        </a:rPr>
                        <a:t>Reza (ES, all releases)</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1.23 / 23.3%</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1.12 / 21.1%</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0.69 / 13.0%</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Jack (rebuild)</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0.27 / 8.8%</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0.07 / 2.4%</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B3261E"/>
                          </a:solidFill>
                          <a:latin typeface="Calibri" pitchFamily="34" charset="0"/>
                          <a:ea typeface="Calibri" pitchFamily="34" charset="-122"/>
                          <a:cs typeface="Calibri" pitchFamily="34" charset="-120"/>
                        </a:rPr>
                        <a:t>−0.66 / −21.5%</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Hoshea</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0.45 / 18.6%</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0.25 / 10.3%</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B3261E"/>
                          </a:solidFill>
                          <a:latin typeface="Calibri" pitchFamily="34" charset="0"/>
                          <a:ea typeface="Calibri" pitchFamily="34" charset="-122"/>
                          <a:cs typeface="Calibri" pitchFamily="34" charset="-120"/>
                        </a:rPr>
                        <a:t>−0.50 / −20.6%</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Aaryen (executable)</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0.92 / 7.3%</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0.88 / 6.9%</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0.72 / 5.6%</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50" dirty="0">
                          <a:solidFill>
                            <a:srgbClr val="6B7280"/>
                          </a:solidFill>
                          <a:latin typeface="Calibri" pitchFamily="34" charset="0"/>
                          <a:ea typeface="Calibri" pitchFamily="34" charset="-122"/>
                          <a:cs typeface="Calibri" pitchFamily="34" charset="-120"/>
                        </a:rPr>
                        <a:t>Aaryen (as reported)</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6B7280"/>
                          </a:solidFill>
                          <a:latin typeface="Calibri" pitchFamily="34" charset="0"/>
                          <a:ea typeface="Calibri" pitchFamily="34" charset="-122"/>
                          <a:cs typeface="Calibri" pitchFamily="34" charset="-120"/>
                        </a:rPr>
                        <a:t>2.14 / 38.6%</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6B7280"/>
                          </a:solidFill>
                          <a:latin typeface="Calibri" pitchFamily="34" charset="0"/>
                          <a:ea typeface="Calibri" pitchFamily="34" charset="-122"/>
                          <a:cs typeface="Calibri" pitchFamily="34" charset="-120"/>
                        </a:rPr>
                        <a:t>2.13 / 38.3%</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6B7280"/>
                          </a:solidFill>
                          <a:latin typeface="Calibri" pitchFamily="34" charset="0"/>
                          <a:ea typeface="Calibri" pitchFamily="34" charset="-122"/>
                          <a:cs typeface="Calibri" pitchFamily="34" charset="-120"/>
                        </a:rPr>
                        <a:t>2.07 / 37.0%</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sp>
        <p:nvSpPr>
          <p:cNvPr id="14" name="Text 8"/>
          <p:cNvSpPr txBox="1"/>
          <p:nvPr/>
        </p:nvSpPr>
        <p:spPr>
          <a:xfrm>
            <a:off x="6217920" y="5852160"/>
            <a:ext cx="5486400" cy="32004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Only the surprise and classifier books keep a positive return at our cost.</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A · Each workstream in the peer slide format (1/2)</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
        <p:nvSpPr>
          <p:cNvPr id="5" name="Shape 3"/>
          <p:cNvSpPr/>
          <p:nvPr/>
        </p:nvSpPr>
        <p:spPr>
          <a:xfrm>
            <a:off x="548640" y="164592"/>
            <a:ext cx="109728" cy="201168"/>
          </a:xfrm>
          <a:prstGeom prst="rect">
            <a:avLst/>
          </a:prstGeom>
          <a:solidFill>
            <a:srgbClr val="FDB515"/>
          </a:solidFill>
          <a:ln w="12700">
            <a:solidFill>
              <a:srgbClr val="FDB515"/>
            </a:solidFill>
            <a:prstDash val="solid"/>
          </a:ln>
        </p:spPr>
      </p:sp>
      <p:sp>
        <p:nvSpPr>
          <p:cNvPr id="6" name="Text 4"/>
          <p:cNvSpPr txBox="1"/>
          <p:nvPr/>
        </p:nvSpPr>
        <p:spPr>
          <a:xfrm>
            <a:off x="731520" y="109728"/>
            <a:ext cx="7315200" cy="292608"/>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NOTEBOOK 08 · SECTION 9 · ¼ TICK PER SIDE · 2019–2026</a:t>
            </a:r>
            <a:endParaRPr lang="en-US" sz="1100" dirty="0"/>
          </a:p>
        </p:txBody>
      </p:sp>
      <p:sp>
        <p:nvSpPr>
          <p:cNvPr id="7" name="Text 5"/>
          <p:cNvSpPr txBox="1"/>
          <p:nvPr/>
        </p:nvSpPr>
        <p:spPr>
          <a:xfrm>
            <a:off x="457200" y="1188720"/>
            <a:ext cx="5486400" cy="256032"/>
          </a:xfrm>
          <a:prstGeom prst="rect">
            <a:avLst/>
          </a:prstGeom>
          <a:noFill/>
          <a:ln/>
        </p:spPr>
        <p:txBody>
          <a:bodyPr wrap="square" lIns="0" tIns="0" rIns="0" bIns="0" rtlCol="0" anchor="ctr"/>
          <a:lstStyle/>
          <a:p>
            <a:pPr indent="0" marL="0">
              <a:buNone/>
            </a:pPr>
            <a:r>
              <a:rPr lang="en-US" sz="1150" b="1" dirty="0">
                <a:solidFill>
                  <a:srgbClr val="003262"/>
                </a:solidFill>
                <a:latin typeface="Calibri" pitchFamily="34" charset="0"/>
                <a:ea typeface="Calibri" pitchFamily="34" charset="-122"/>
                <a:cs typeface="Calibri" pitchFamily="34" charset="-120"/>
              </a:rPr>
              <a:t>Reza · ES · all releases (surprise)</a:t>
            </a:r>
            <a:endParaRPr lang="en-US" sz="1150" dirty="0"/>
          </a:p>
        </p:txBody>
      </p:sp>
      <p:pic>
        <p:nvPicPr>
          <p:cNvPr id="8" name="Image 0" descr="/home/claude/pdf/figures/nb08_slide_Reza___ES___All_releases__surprise_.png">    </p:cNvPr>
          <p:cNvPicPr>
            <a:picLocks noChangeAspect="1"/>
          </p:cNvPicPr>
          <p:nvPr/>
        </p:nvPicPr>
        <p:blipFill>
          <a:blip r:embed="rId1"/>
          <a:stretch>
            <a:fillRect/>
          </a:stretch>
        </p:blipFill>
        <p:spPr>
          <a:xfrm>
            <a:off x="457200" y="1608513"/>
            <a:ext cx="5486400" cy="1995055"/>
          </a:xfrm>
          <a:prstGeom prst="rect">
            <a:avLst/>
          </a:prstGeom>
        </p:spPr>
      </p:pic>
      <p:sp>
        <p:nvSpPr>
          <p:cNvPr id="9" name="Text 6"/>
          <p:cNvSpPr txBox="1"/>
          <p:nvPr/>
        </p:nvSpPr>
        <p:spPr>
          <a:xfrm>
            <a:off x="6217920" y="1188720"/>
            <a:ext cx="5486400" cy="256032"/>
          </a:xfrm>
          <a:prstGeom prst="rect">
            <a:avLst/>
          </a:prstGeom>
          <a:noFill/>
          <a:ln/>
        </p:spPr>
        <p:txBody>
          <a:bodyPr wrap="square" lIns="0" tIns="0" rIns="0" bIns="0" rtlCol="0" anchor="ctr"/>
          <a:lstStyle/>
          <a:p>
            <a:pPr indent="0" marL="0">
              <a:buNone/>
            </a:pPr>
            <a:r>
              <a:rPr lang="en-US" sz="1150" b="1" dirty="0">
                <a:solidFill>
                  <a:srgbClr val="003262"/>
                </a:solidFill>
                <a:latin typeface="Calibri" pitchFamily="34" charset="0"/>
                <a:ea typeface="Calibri" pitchFamily="34" charset="-122"/>
                <a:cs typeface="Calibri" pitchFamily="34" charset="-120"/>
              </a:rPr>
              <a:t>Reza · ES + NQ · all releases (surprise)</a:t>
            </a:r>
            <a:endParaRPr lang="en-US" sz="1150" dirty="0"/>
          </a:p>
        </p:txBody>
      </p:sp>
      <p:pic>
        <p:nvPicPr>
          <p:cNvPr id="10" name="Image 1" descr="/home/claude/pdf/figures/nb08_slide_Reza___ES_NQ___All_releases__surprise_.png">    </p:cNvPr>
          <p:cNvPicPr>
            <a:picLocks noChangeAspect="1"/>
          </p:cNvPicPr>
          <p:nvPr/>
        </p:nvPicPr>
        <p:blipFill>
          <a:blip r:embed="rId2"/>
          <a:stretch>
            <a:fillRect/>
          </a:stretch>
        </p:blipFill>
        <p:spPr>
          <a:xfrm>
            <a:off x="6217920" y="1608513"/>
            <a:ext cx="5486400" cy="1995055"/>
          </a:xfrm>
          <a:prstGeom prst="rect">
            <a:avLst/>
          </a:prstGeom>
        </p:spPr>
      </p:pic>
      <p:sp>
        <p:nvSpPr>
          <p:cNvPr id="11" name="Text 7"/>
          <p:cNvSpPr txBox="1"/>
          <p:nvPr/>
        </p:nvSpPr>
        <p:spPr>
          <a:xfrm>
            <a:off x="457200" y="3767328"/>
            <a:ext cx="5486400" cy="256032"/>
          </a:xfrm>
          <a:prstGeom prst="rect">
            <a:avLst/>
          </a:prstGeom>
          <a:noFill/>
          <a:ln/>
        </p:spPr>
        <p:txBody>
          <a:bodyPr wrap="square" lIns="0" tIns="0" rIns="0" bIns="0" rtlCol="0" anchor="ctr"/>
          <a:lstStyle/>
          <a:p>
            <a:pPr indent="0" marL="0">
              <a:buNone/>
            </a:pPr>
            <a:r>
              <a:rPr lang="en-US" sz="1150" b="1" dirty="0">
                <a:solidFill>
                  <a:srgbClr val="003262"/>
                </a:solidFill>
                <a:latin typeface="Calibri" pitchFamily="34" charset="0"/>
                <a:ea typeface="Calibri" pitchFamily="34" charset="-122"/>
                <a:cs typeface="Calibri" pitchFamily="34" charset="-120"/>
              </a:rPr>
              <a:t>Reza · ES · CPI surprise model</a:t>
            </a:r>
            <a:endParaRPr lang="en-US" sz="1150" dirty="0"/>
          </a:p>
        </p:txBody>
      </p:sp>
      <p:pic>
        <p:nvPicPr>
          <p:cNvPr id="12" name="Image 2" descr="/home/claude/pdf/figures/nb08_slide_Reza___ES___CPI_surprise_model.png">    </p:cNvPr>
          <p:cNvPicPr>
            <a:picLocks noChangeAspect="1"/>
          </p:cNvPicPr>
          <p:nvPr/>
        </p:nvPicPr>
        <p:blipFill>
          <a:blip r:embed="rId3"/>
          <a:stretch>
            <a:fillRect/>
          </a:stretch>
        </p:blipFill>
        <p:spPr>
          <a:xfrm>
            <a:off x="457200" y="4187121"/>
            <a:ext cx="5486400" cy="1995055"/>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217920" y="3794760"/>
          <a:ext cx="5486400" cy="914400"/>
        </p:xfrm>
        <a:graphic>
          <a:graphicData uri="http://schemas.openxmlformats.org/drawingml/2006/table">
            <a:tbl>
              <a:tblPr/>
              <a:tblGrid>
                <a:gridCol w="2194560"/>
                <a:gridCol w="1097280"/>
                <a:gridCol w="1097280"/>
                <a:gridCol w="1097280"/>
              </a:tblGrid>
              <a:tr h="329184">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¼ tick per side</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ES all</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ES + NQ</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ES CPI</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r>
              <a:tr h="329184">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Total %</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21.1</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35.9</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6.2</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Sharpe</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1.12</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1.06</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0.84</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Max drawdown</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−7.0%</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−1.9%</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Trades / yr</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98</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Always long, same windows</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B3261E"/>
                          </a:solidFill>
                          <a:latin typeface="Calibri" pitchFamily="34" charset="0"/>
                          <a:ea typeface="Calibri" pitchFamily="34" charset="-122"/>
                          <a:cs typeface="Calibri" pitchFamily="34" charset="-120"/>
                        </a:rPr>
                        <a:t>−1.8%</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B3261E"/>
                          </a:solidFill>
                          <a:latin typeface="Calibri" pitchFamily="34" charset="0"/>
                          <a:ea typeface="Calibri" pitchFamily="34" charset="-122"/>
                          <a:cs typeface="Calibri" pitchFamily="34" charset="-120"/>
                        </a:rPr>
                        <a:t>−4.3%</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100" dirty="0">
                          <a:solidFill>
                            <a:srgbClr val="B3261E"/>
                          </a:solidFill>
                          <a:latin typeface="Calibri" pitchFamily="34" charset="0"/>
                          <a:ea typeface="Calibri" pitchFamily="34" charset="-122"/>
                          <a:cs typeface="Calibri" pitchFamily="34" charset="-120"/>
                        </a:rPr>
                        <a:t>−3.1%</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sp>
        <p:nvSpPr>
          <p:cNvPr id="14" name="Text 8"/>
          <p:cNvSpPr txBox="1"/>
          <p:nvPr/>
        </p:nvSpPr>
        <p:spPr>
          <a:xfrm>
            <a:off x="6217920" y="5852160"/>
            <a:ext cx="5486400" cy="32004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Solid: net; dashed: gross; orange: always long in the same windows.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A · Each workstream in the peer slide format (2/2)</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sp>
        <p:nvSpPr>
          <p:cNvPr id="5" name="Shape 3"/>
          <p:cNvSpPr/>
          <p:nvPr/>
        </p:nvSpPr>
        <p:spPr>
          <a:xfrm>
            <a:off x="548640" y="164592"/>
            <a:ext cx="109728" cy="201168"/>
          </a:xfrm>
          <a:prstGeom prst="rect">
            <a:avLst/>
          </a:prstGeom>
          <a:solidFill>
            <a:srgbClr val="FDB515"/>
          </a:solidFill>
          <a:ln w="12700">
            <a:solidFill>
              <a:srgbClr val="FDB515"/>
            </a:solidFill>
            <a:prstDash val="solid"/>
          </a:ln>
        </p:spPr>
      </p:sp>
      <p:sp>
        <p:nvSpPr>
          <p:cNvPr id="6" name="Text 4"/>
          <p:cNvSpPr txBox="1"/>
          <p:nvPr/>
        </p:nvSpPr>
        <p:spPr>
          <a:xfrm>
            <a:off x="731520" y="109728"/>
            <a:ext cx="7315200" cy="292608"/>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NOTEBOOK 08 · SECTION 9 · ¼ TICK PER SIDE · 2019–2026</a:t>
            </a:r>
            <a:endParaRPr lang="en-US" sz="1100" dirty="0"/>
          </a:p>
        </p:txBody>
      </p:sp>
      <p:sp>
        <p:nvSpPr>
          <p:cNvPr id="7" name="Text 5"/>
          <p:cNvSpPr txBox="1"/>
          <p:nvPr/>
        </p:nvSpPr>
        <p:spPr>
          <a:xfrm>
            <a:off x="457200" y="1188720"/>
            <a:ext cx="5486400" cy="256032"/>
          </a:xfrm>
          <a:prstGeom prst="rect">
            <a:avLst/>
          </a:prstGeom>
          <a:noFill/>
          <a:ln/>
        </p:spPr>
        <p:txBody>
          <a:bodyPr wrap="square" lIns="0" tIns="0" rIns="0" bIns="0" rtlCol="0" anchor="ctr"/>
          <a:lstStyle/>
          <a:p>
            <a:pPr indent="0" marL="0">
              <a:buNone/>
            </a:pPr>
            <a:r>
              <a:rPr lang="en-US" sz="1100" b="1" dirty="0">
                <a:solidFill>
                  <a:srgbClr val="003262"/>
                </a:solidFill>
                <a:latin typeface="Calibri" pitchFamily="34" charset="0"/>
                <a:ea typeface="Calibri" pitchFamily="34" charset="-122"/>
                <a:cs typeface="Calibri" pitchFamily="34" charset="-120"/>
              </a:rPr>
              <a:t>Jack · DTW ladder (rebuild): +2.4%, Sharpe 0.07, 315 trades/yr</a:t>
            </a:r>
            <a:endParaRPr lang="en-US" sz="1100" dirty="0"/>
          </a:p>
        </p:txBody>
      </p:sp>
      <p:pic>
        <p:nvPicPr>
          <p:cNvPr id="8" name="Image 0" descr="/home/claude/pdf/figures/nb08_slide_Jack___ES___DTW_5_window_ladder__replication_.png">    </p:cNvPr>
          <p:cNvPicPr>
            <a:picLocks noChangeAspect="1"/>
          </p:cNvPicPr>
          <p:nvPr/>
        </p:nvPicPr>
        <p:blipFill>
          <a:blip r:embed="rId1"/>
          <a:stretch>
            <a:fillRect/>
          </a:stretch>
        </p:blipFill>
        <p:spPr>
          <a:xfrm>
            <a:off x="457200" y="1608513"/>
            <a:ext cx="5486400" cy="1995055"/>
          </a:xfrm>
          <a:prstGeom prst="rect">
            <a:avLst/>
          </a:prstGeom>
        </p:spPr>
      </p:pic>
      <p:sp>
        <p:nvSpPr>
          <p:cNvPr id="9" name="Text 6"/>
          <p:cNvSpPr txBox="1"/>
          <p:nvPr/>
        </p:nvSpPr>
        <p:spPr>
          <a:xfrm>
            <a:off x="6217920" y="1188720"/>
            <a:ext cx="5486400" cy="256032"/>
          </a:xfrm>
          <a:prstGeom prst="rect">
            <a:avLst/>
          </a:prstGeom>
          <a:noFill/>
          <a:ln/>
        </p:spPr>
        <p:txBody>
          <a:bodyPr wrap="square" lIns="0" tIns="0" rIns="0" bIns="0" rtlCol="0" anchor="ctr"/>
          <a:lstStyle/>
          <a:p>
            <a:pPr indent="0" marL="0">
              <a:buNone/>
            </a:pPr>
            <a:r>
              <a:rPr lang="en-US" sz="1100" b="1" dirty="0">
                <a:solidFill>
                  <a:srgbClr val="003262"/>
                </a:solidFill>
                <a:latin typeface="Calibri" pitchFamily="34" charset="0"/>
                <a:ea typeface="Calibri" pitchFamily="34" charset="-122"/>
                <a:cs typeface="Calibri" pitchFamily="34" charset="-120"/>
              </a:rPr>
              <a:t>Hoshea · DTW event games: +10.3%, Sharpe 0.25, 372 trades/yr</a:t>
            </a:r>
            <a:endParaRPr lang="en-US" sz="1100" dirty="0"/>
          </a:p>
        </p:txBody>
      </p:sp>
      <p:pic>
        <p:nvPicPr>
          <p:cNvPr id="10" name="Image 1" descr="/home/claude/pdf/figures/nb08_slide_Hoshea___ES___DTW_event_games__FOMC_JOLTS_PCE_Claims_.png">    </p:cNvPr>
          <p:cNvPicPr>
            <a:picLocks noChangeAspect="1"/>
          </p:cNvPicPr>
          <p:nvPr/>
        </p:nvPicPr>
        <p:blipFill>
          <a:blip r:embed="rId2"/>
          <a:stretch>
            <a:fillRect/>
          </a:stretch>
        </p:blipFill>
        <p:spPr>
          <a:xfrm>
            <a:off x="6217920" y="1608513"/>
            <a:ext cx="5486400" cy="1995055"/>
          </a:xfrm>
          <a:prstGeom prst="rect">
            <a:avLst/>
          </a:prstGeom>
        </p:spPr>
      </p:pic>
      <p:sp>
        <p:nvSpPr>
          <p:cNvPr id="11" name="Text 7"/>
          <p:cNvSpPr txBox="1"/>
          <p:nvPr/>
        </p:nvSpPr>
        <p:spPr>
          <a:xfrm>
            <a:off x="457200" y="3767328"/>
            <a:ext cx="54864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Aaryen · classifier, as reported: +38.3%, Sharpe 2.13 (not tradeable)</a:t>
            </a:r>
            <a:endParaRPr lang="en-US" sz="1100" dirty="0"/>
          </a:p>
        </p:txBody>
      </p:sp>
      <p:pic>
        <p:nvPicPr>
          <p:cNvPr id="12" name="Image 2" descr="/home/claude/pdf/figures/nb08_slide_Aaryen___ES___classifier__30m__lag_0__as_reported_.png">    </p:cNvPr>
          <p:cNvPicPr>
            <a:picLocks noChangeAspect="1"/>
          </p:cNvPicPr>
          <p:nvPr/>
        </p:nvPicPr>
        <p:blipFill>
          <a:blip r:embed="rId3"/>
          <a:stretch>
            <a:fillRect/>
          </a:stretch>
        </p:blipFill>
        <p:spPr>
          <a:xfrm>
            <a:off x="457200" y="4187121"/>
            <a:ext cx="5486400" cy="1995055"/>
          </a:xfrm>
          <a:prstGeom prst="rect">
            <a:avLst/>
          </a:prstGeom>
        </p:spPr>
      </p:pic>
      <p:sp>
        <p:nvSpPr>
          <p:cNvPr id="13" name="Text 8"/>
          <p:cNvSpPr txBox="1"/>
          <p:nvPr/>
        </p:nvSpPr>
        <p:spPr>
          <a:xfrm>
            <a:off x="6217920" y="3767328"/>
            <a:ext cx="5486400" cy="256032"/>
          </a:xfrm>
          <a:prstGeom prst="rect">
            <a:avLst/>
          </a:prstGeom>
          <a:noFill/>
          <a:ln/>
        </p:spPr>
        <p:txBody>
          <a:bodyPr wrap="square" lIns="0" tIns="0" rIns="0" bIns="0" rtlCol="0" anchor="ctr"/>
          <a:lstStyle/>
          <a:p>
            <a:pPr indent="0" marL="0">
              <a:buNone/>
            </a:pPr>
            <a:r>
              <a:rPr lang="en-US" sz="1100" b="1" dirty="0">
                <a:solidFill>
                  <a:srgbClr val="003262"/>
                </a:solidFill>
                <a:latin typeface="Calibri" pitchFamily="34" charset="0"/>
                <a:ea typeface="Calibri" pitchFamily="34" charset="-122"/>
                <a:cs typeface="Calibri" pitchFamily="34" charset="-120"/>
              </a:rPr>
              <a:t>Aaryen · classifier, executable: +6.9%, Sharpe 0.88, 55 trades/yr</a:t>
            </a:r>
            <a:endParaRPr lang="en-US" sz="1100" dirty="0"/>
          </a:p>
        </p:txBody>
      </p:sp>
      <p:pic>
        <p:nvPicPr>
          <p:cNvPr id="14" name="Image 3" descr="/home/claude/pdf/figures/nb08_slide_Aaryen___ES___classifier__30m__lag_1__executable_.png">    </p:cNvPr>
          <p:cNvPicPr>
            <a:picLocks noChangeAspect="1"/>
          </p:cNvPicPr>
          <p:nvPr/>
        </p:nvPicPr>
        <p:blipFill>
          <a:blip r:embed="rId4"/>
          <a:stretch>
            <a:fillRect/>
          </a:stretch>
        </p:blipFill>
        <p:spPr>
          <a:xfrm>
            <a:off x="6217920" y="4187121"/>
            <a:ext cx="5486400" cy="199505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B · Surprise books on the combined book's terms</a:t>
            </a:r>
            <a:endParaRPr lang="en-US" sz="3000" dirty="0"/>
          </a:p>
        </p:txBody>
      </p:sp>
      <p:sp>
        <p:nvSpPr>
          <p:cNvPr id="3" name="Text 1"/>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i="1" dirty="0">
                <a:solidFill>
                  <a:srgbClr val="6B7280"/>
                </a:solidFill>
                <a:latin typeface="Calibri" pitchFamily="34" charset="0"/>
                <a:ea typeface="Calibri" pitchFamily="34" charset="-122"/>
                <a:cs typeface="Calibri" pitchFamily="34" charset="-120"/>
              </a:rPr>
              <a:t>combined/surprise_dtw_book · Sharpe at ¼ tick per side · test years 2021–2026</a:t>
            </a:r>
            <a:endParaRPr lang="en-US" sz="1500" dirty="0"/>
          </a:p>
        </p:txBody>
      </p:sp>
      <p:sp>
        <p:nvSpPr>
          <p:cNvPr id="4" name="Text 2"/>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5" name="Text 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a:t>
            </a:r>
            <a:endParaRPr lang="en-US" sz="900" dirty="0"/>
          </a:p>
        </p:txBody>
      </p:sp>
      <p:sp>
        <p:nvSpPr>
          <p:cNvPr id="6" name="Shape 4"/>
          <p:cNvSpPr/>
          <p:nvPr/>
        </p:nvSpPr>
        <p:spPr>
          <a:xfrm>
            <a:off x="548640" y="1600200"/>
            <a:ext cx="3749040" cy="3383280"/>
          </a:xfrm>
          <a:prstGeom prst="roundRect">
            <a:avLst>
              <a:gd name="adj" fmla="val 2162"/>
            </a:avLst>
          </a:prstGeom>
          <a:solidFill>
            <a:srgbClr val="EEF3F8"/>
          </a:solidFill>
          <a:ln w="12700">
            <a:solidFill>
              <a:srgbClr val="EEF3F8"/>
            </a:solidFill>
            <a:prstDash val="solid"/>
          </a:ln>
        </p:spPr>
      </p:sp>
      <p:sp>
        <p:nvSpPr>
          <p:cNvPr id="7" name="Text 5"/>
          <p:cNvSpPr txBox="1"/>
          <p:nvPr/>
        </p:nvSpPr>
        <p:spPr>
          <a:xfrm>
            <a:off x="713232" y="1709928"/>
            <a:ext cx="3419856" cy="316382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Same terms as the DTW book</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Jack's cleaned bars, costs, session grid, metrics and equal-risk combined book</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Walk-forward from 2013; validation 2018–20, test 2021–26</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One 30-min window at T+1 (the DTW book uses five)</a:t>
            </a:r>
            <a:endParaRPr lang="en-US" sz="16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Five books: two surprise-only, one DTW-only, two surprise + DTW</a:t>
            </a:r>
            <a:endParaRPr lang="en-US" sz="1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26280" y="1600200"/>
          <a:ext cx="7086600" cy="914400"/>
        </p:xfrm>
        <a:graphic>
          <a:graphicData uri="http://schemas.openxmlformats.org/drawingml/2006/table">
            <a:tbl>
              <a:tblPr/>
              <a:tblGrid>
                <a:gridCol w="1842515"/>
                <a:gridCol w="749154"/>
                <a:gridCol w="749154"/>
                <a:gridCol w="749154"/>
                <a:gridCol w="749154"/>
                <a:gridCol w="749154"/>
                <a:gridCol w="749154"/>
                <a:gridCol w="749154"/>
              </a:tblGrid>
              <a:tr h="411480">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Book</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ES</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NQ</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ZN</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ES+NQ+ZN</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ES+NQ</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YM</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ES+NQ+YM</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r>
              <a:tr h="411480">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DTW ladder book (Jack, current)</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0.64</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B3261E"/>
                          </a:solidFill>
                          <a:latin typeface="Calibri" pitchFamily="34" charset="0"/>
                          <a:ea typeface="Calibri" pitchFamily="34" charset="-122"/>
                          <a:cs typeface="Calibri" pitchFamily="34" charset="-120"/>
                        </a:rPr>
                        <a:t>−0.97</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0.54</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B3261E"/>
                          </a:solidFill>
                          <a:latin typeface="Calibri" pitchFamily="34" charset="0"/>
                          <a:ea typeface="Calibri" pitchFamily="34" charset="-122"/>
                          <a:cs typeface="Calibri" pitchFamily="34" charset="-120"/>
                        </a:rPr>
                        <a:t>−0.39</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1480">
                <a:tc>
                  <a:txBody>
                    <a:bodyPr/>
                    <a:lstStyle/>
                    <a:p>
                      <a:pPr indent="0" marL="0">
                        <a:buNone/>
                      </a:pPr>
                      <a:r>
                        <a:rPr lang="en-US" sz="1050" b="1" dirty="0">
                          <a:solidFill>
                            <a:srgbClr val="003262"/>
                          </a:solidFill>
                          <a:latin typeface="Calibri" pitchFamily="34" charset="0"/>
                          <a:ea typeface="Calibri" pitchFamily="34" charset="-122"/>
                          <a:cs typeface="Calibri" pitchFamily="34" charset="-120"/>
                        </a:rPr>
                        <a:t>Surprise, top-10 releases</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b="1" dirty="0">
                          <a:solidFill>
                            <a:srgbClr val="003262"/>
                          </a:solidFill>
                          <a:latin typeface="Calibri" pitchFamily="34" charset="0"/>
                          <a:ea typeface="Calibri" pitchFamily="34" charset="-122"/>
                          <a:cs typeface="Calibri" pitchFamily="34" charset="-120"/>
                        </a:rPr>
                        <a:t>1.09</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b="1" dirty="0">
                          <a:solidFill>
                            <a:srgbClr val="003262"/>
                          </a:solidFill>
                          <a:latin typeface="Calibri" pitchFamily="34" charset="0"/>
                          <a:ea typeface="Calibri" pitchFamily="34" charset="-122"/>
                          <a:cs typeface="Calibri" pitchFamily="34" charset="-120"/>
                        </a:rPr>
                        <a:t>0.75</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B3261E"/>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b="1" dirty="0">
                          <a:solidFill>
                            <a:srgbClr val="003262"/>
                          </a:solidFill>
                          <a:latin typeface="Calibri" pitchFamily="34" charset="0"/>
                          <a:ea typeface="Calibri" pitchFamily="34" charset="-122"/>
                          <a:cs typeface="Calibri" pitchFamily="34" charset="-120"/>
                        </a:rPr>
                        <a:t>0.84</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b="1" dirty="0">
                          <a:solidFill>
                            <a:srgbClr val="003262"/>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b="1" dirty="0">
                          <a:solidFill>
                            <a:srgbClr val="003262"/>
                          </a:solidFill>
                          <a:latin typeface="Calibri" pitchFamily="34" charset="0"/>
                          <a:ea typeface="Calibri" pitchFamily="34" charset="-122"/>
                          <a:cs typeface="Calibri" pitchFamily="34" charset="-120"/>
                        </a:rPr>
                        <a:t>1.06</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b="1" dirty="0">
                          <a:solidFill>
                            <a:srgbClr val="003262"/>
                          </a:solidFill>
                          <a:latin typeface="Calibri" pitchFamily="34" charset="0"/>
                          <a:ea typeface="Calibri" pitchFamily="34" charset="-122"/>
                          <a:cs typeface="Calibri" pitchFamily="34" charset="-120"/>
                        </a:rPr>
                        <a:t>1.08</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1480">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CPI surprise model</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0.51</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0.17</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0.49</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0.39</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1480">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Surprise + DTW agree</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0.37</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0.48</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0.48</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1.04</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0.74</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1480">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CPI + DTW agree</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0.74</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0.58</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0.48</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0.72</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0.68</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0.41</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0.63</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1480">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DTW only (one window)</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B3261E"/>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B3261E"/>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B3261E"/>
                          </a:solidFill>
                          <a:latin typeface="Calibri" pitchFamily="34" charset="0"/>
                          <a:ea typeface="Calibri" pitchFamily="34" charset="-122"/>
                          <a:cs typeface="Calibri" pitchFamily="34" charset="-120"/>
                        </a:rPr>
                        <a:t>−0.23</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B3261E"/>
                          </a:solidFill>
                          <a:latin typeface="Calibri" pitchFamily="34" charset="0"/>
                          <a:ea typeface="Calibri" pitchFamily="34" charset="-122"/>
                          <a:cs typeface="Calibri" pitchFamily="34" charset="-120"/>
                        </a:rPr>
                        <a:t>−0.32</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0.44</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B3261E"/>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sp>
        <p:nvSpPr>
          <p:cNvPr id="9" name="Shape 6"/>
          <p:cNvSpPr/>
          <p:nvPr/>
        </p:nvSpPr>
        <p:spPr>
          <a:xfrm>
            <a:off x="548640" y="5166360"/>
            <a:ext cx="11064240" cy="1051560"/>
          </a:xfrm>
          <a:prstGeom prst="roundRect">
            <a:avLst>
              <a:gd name="adj" fmla="val 6957"/>
            </a:avLst>
          </a:prstGeom>
          <a:solidFill>
            <a:srgbClr val="EEF3F8"/>
          </a:solidFill>
          <a:ln w="12700">
            <a:solidFill>
              <a:srgbClr val="EEF3F8"/>
            </a:solidFill>
            <a:prstDash val="solid"/>
          </a:ln>
        </p:spPr>
      </p:sp>
      <p:sp>
        <p:nvSpPr>
          <p:cNvPr id="10" name="Text 7"/>
          <p:cNvSpPr txBox="1"/>
          <p:nvPr/>
        </p:nvSpPr>
        <p:spPr>
          <a:xfrm>
            <a:off x="713232" y="5276088"/>
            <a:ext cx="10735056" cy="832104"/>
          </a:xfrm>
          <a:prstGeom prst="rect">
            <a:avLst/>
          </a:prstGeom>
          <a:noFill/>
          <a:ln/>
        </p:spPr>
        <p:txBody>
          <a:bodyPr wrap="square" lIns="0" tIns="0" rIns="0" bIns="0" rtlCol="0" anchor="t"/>
          <a:lstStyle/>
          <a:p>
            <a:pPr marL="177800" indent="-177800">
              <a:spcAft>
                <a:spcPts val="400"/>
              </a:spcAft>
              <a:buSzPct val="100000"/>
              <a:buChar char="•"/>
            </a:pPr>
            <a:r>
              <a:rPr lang="en-US" sz="1350" dirty="0">
                <a:solidFill>
                  <a:srgbClr val="1F2937"/>
                </a:solidFill>
                <a:latin typeface="Calibri" pitchFamily="34" charset="0"/>
                <a:ea typeface="Calibri" pitchFamily="34" charset="-122"/>
                <a:cs typeface="Calibri" pitchFamily="34" charset="-120"/>
              </a:rPr>
              <a:t>The surprise direction beats the DTW book on all three equity indices with about a third of the trades; ZN fails at any real cost</a:t>
            </a:r>
            <a:endParaRPr lang="en-US" sz="1350" dirty="0"/>
          </a:p>
          <a:p>
            <a:pPr marL="177800" indent="-177800">
              <a:spcAft>
                <a:spcPts val="400"/>
              </a:spcAft>
              <a:buSzPct val="100000"/>
              <a:buChar char="•"/>
            </a:pPr>
            <a:r>
              <a:rPr lang="en-US" sz="1350" dirty="0">
                <a:solidFill>
                  <a:srgbClr val="1F2937"/>
                </a:solidFill>
                <a:latin typeface="Calibri" pitchFamily="34" charset="0"/>
                <a:ea typeface="Calibri" pitchFamily="34" charset="-122"/>
                <a:cs typeface="Calibri" pitchFamily="34" charset="-120"/>
              </a:rPr>
              <a:t>DTW row: Jack's current book (commit ac384c3); YM run through the same code (DTW_EXTRA=YM), where it loses (−0.39)</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B · Adding DTW and its effect on the results</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a:t>
            </a:r>
            <a:endParaRPr lang="en-US" sz="900" dirty="0"/>
          </a:p>
        </p:txBody>
      </p:sp>
      <p:sp>
        <p:nvSpPr>
          <p:cNvPr id="5" name="Shape 3"/>
          <p:cNvSpPr/>
          <p:nvPr/>
        </p:nvSpPr>
        <p:spPr>
          <a:xfrm>
            <a:off x="548640" y="164592"/>
            <a:ext cx="109728" cy="201168"/>
          </a:xfrm>
          <a:prstGeom prst="rect">
            <a:avLst/>
          </a:prstGeom>
          <a:solidFill>
            <a:srgbClr val="FDB515"/>
          </a:solidFill>
          <a:ln w="12700">
            <a:solidFill>
              <a:srgbClr val="FDB515"/>
            </a:solidFill>
            <a:prstDash val="solid"/>
          </a:ln>
        </p:spPr>
      </p:sp>
      <p:sp>
        <p:nvSpPr>
          <p:cNvPr id="6" name="Text 4"/>
          <p:cNvSpPr txBox="1"/>
          <p:nvPr/>
        </p:nvSpPr>
        <p:spPr>
          <a:xfrm>
            <a:off x="731520" y="109728"/>
            <a:ext cx="7315200" cy="292608"/>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COMBINED/SURPRISE_DTW_BOOK · CUMULATIVE P&amp;L · ¼ TICK · 2021–2026</a:t>
            </a:r>
            <a:endParaRPr lang="en-US" sz="1100" dirty="0"/>
          </a:p>
        </p:txBody>
      </p:sp>
      <p:pic>
        <p:nvPicPr>
          <p:cNvPr id="7" name="Image 0" descr="/home/claude/pdf/figures/surprise_dtw_book_cumulative.png">    </p:cNvPr>
          <p:cNvPicPr>
            <a:picLocks noChangeAspect="1"/>
          </p:cNvPicPr>
          <p:nvPr/>
        </p:nvPicPr>
        <p:blipFill>
          <a:blip r:embed="rId1"/>
          <a:stretch>
            <a:fillRect/>
          </a:stretch>
        </p:blipFill>
        <p:spPr>
          <a:xfrm>
            <a:off x="457200" y="1104900"/>
            <a:ext cx="11247120" cy="1666240"/>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3840480"/>
          <a:ext cx="5669280" cy="914400"/>
        </p:xfrm>
        <a:graphic>
          <a:graphicData uri="http://schemas.openxmlformats.org/drawingml/2006/table">
            <a:tbl>
              <a:tblPr/>
              <a:tblGrid>
                <a:gridCol w="1360627"/>
                <a:gridCol w="718108"/>
                <a:gridCol w="718108"/>
                <a:gridCol w="718108"/>
                <a:gridCol w="718108"/>
                <a:gridCol w="718108"/>
                <a:gridCol w="718108"/>
              </a:tblGrid>
              <a:tr h="384048">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Sharpe, ¼ tick</a:t>
                      </a:r>
                      <a:endParaRPr lang="en-US" sz="9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ES 2018–20</a:t>
                      </a:r>
                      <a:endParaRPr lang="en-US" sz="9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ES 2021–26</a:t>
                      </a:r>
                      <a:endParaRPr lang="en-US" sz="9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NQ 2018–20</a:t>
                      </a:r>
                      <a:endParaRPr lang="en-US" sz="9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NQ 2021–26</a:t>
                      </a:r>
                      <a:endParaRPr lang="en-US" sz="9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YM 2018–20</a:t>
                      </a:r>
                      <a:endParaRPr lang="en-US" sz="9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YM 2021–26</a:t>
                      </a:r>
                      <a:endParaRPr lang="en-US" sz="9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r>
              <a:tr h="384048">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Surprise, top-10 releases</a:t>
                      </a:r>
                      <a:endParaRPr lang="en-US" sz="9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1.04</a:t>
                      </a:r>
                      <a:endParaRPr lang="en-US" sz="9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1.09</a:t>
                      </a:r>
                      <a:endParaRPr lang="en-US" sz="9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0.86</a:t>
                      </a:r>
                      <a:endParaRPr lang="en-US" sz="9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0.75</a:t>
                      </a:r>
                      <a:endParaRPr lang="en-US" sz="9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1.27</a:t>
                      </a:r>
                      <a:endParaRPr lang="en-US" sz="9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1.06</a:t>
                      </a:r>
                      <a:endParaRPr lang="en-US" sz="9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84048">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DTW only</a:t>
                      </a:r>
                      <a:endParaRPr lang="en-US" sz="9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0.57</a:t>
                      </a:r>
                      <a:endParaRPr lang="en-US" sz="9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950" dirty="0">
                          <a:solidFill>
                            <a:srgbClr val="B3261E"/>
                          </a:solidFill>
                          <a:latin typeface="Calibri" pitchFamily="34" charset="0"/>
                          <a:ea typeface="Calibri" pitchFamily="34" charset="-122"/>
                          <a:cs typeface="Calibri" pitchFamily="34" charset="-120"/>
                        </a:rPr>
                        <a:t>−0.26</a:t>
                      </a:r>
                      <a:endParaRPr lang="en-US" sz="9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0.78</a:t>
                      </a:r>
                      <a:endParaRPr lang="en-US" sz="9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950" dirty="0">
                          <a:solidFill>
                            <a:srgbClr val="B3261E"/>
                          </a:solidFill>
                          <a:latin typeface="Calibri" pitchFamily="34" charset="0"/>
                          <a:ea typeface="Calibri" pitchFamily="34" charset="-122"/>
                          <a:cs typeface="Calibri" pitchFamily="34" charset="-120"/>
                        </a:rPr>
                        <a:t>−0.28</a:t>
                      </a:r>
                      <a:endParaRPr lang="en-US" sz="9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0.40</a:t>
                      </a:r>
                      <a:endParaRPr lang="en-US" sz="9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0.44</a:t>
                      </a:r>
                      <a:endParaRPr lang="en-US" sz="9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84048">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Surprise + DTW agree</a:t>
                      </a:r>
                      <a:endParaRPr lang="en-US" sz="9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1.46</a:t>
                      </a:r>
                      <a:endParaRPr lang="en-US" sz="9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0.37</a:t>
                      </a:r>
                      <a:endParaRPr lang="en-US" sz="9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1.21</a:t>
                      </a:r>
                      <a:endParaRPr lang="en-US" sz="9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0.48</a:t>
                      </a:r>
                      <a:endParaRPr lang="en-US" sz="9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0.63</a:t>
                      </a:r>
                      <a:endParaRPr lang="en-US" sz="9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1.04</a:t>
                      </a:r>
                      <a:endParaRPr lang="en-US" sz="9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sp>
        <p:nvSpPr>
          <p:cNvPr id="9" name="Shape 5"/>
          <p:cNvSpPr/>
          <p:nvPr/>
        </p:nvSpPr>
        <p:spPr>
          <a:xfrm>
            <a:off x="6492240" y="3840480"/>
            <a:ext cx="5120640" cy="2377440"/>
          </a:xfrm>
          <a:prstGeom prst="roundRect">
            <a:avLst>
              <a:gd name="adj" fmla="val 3077"/>
            </a:avLst>
          </a:prstGeom>
          <a:solidFill>
            <a:srgbClr val="EEF3F8"/>
          </a:solidFill>
          <a:ln w="12700">
            <a:solidFill>
              <a:srgbClr val="EEF3F8"/>
            </a:solidFill>
            <a:prstDash val="solid"/>
          </a:ln>
        </p:spPr>
      </p:sp>
      <p:sp>
        <p:nvSpPr>
          <p:cNvPr id="10" name="Text 6"/>
          <p:cNvSpPr txBox="1"/>
          <p:nvPr/>
        </p:nvSpPr>
        <p:spPr>
          <a:xfrm>
            <a:off x="6656832" y="3950208"/>
            <a:ext cx="4791456" cy="215798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What this means</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The surprise book is positive in both periods</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In ES and NQ, DTW's direction worked in 2018–20 and reversed after 2021, the same flip Jack found in dtw_dir</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So the DTW filter looked best in validation and worst in test; on YM it neither helps nor hurts in test (1.04 vs 1.06)</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Most of the surprise book's gain came in 2022</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C · Team book: coverage and overlap</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9</a:t>
            </a:r>
            <a:endParaRPr lang="en-US" sz="900" dirty="0"/>
          </a:p>
        </p:txBody>
      </p:sp>
      <p:sp>
        <p:nvSpPr>
          <p:cNvPr id="5" name="Shape 3"/>
          <p:cNvSpPr/>
          <p:nvPr/>
        </p:nvSpPr>
        <p:spPr>
          <a:xfrm>
            <a:off x="548640" y="164592"/>
            <a:ext cx="109728" cy="201168"/>
          </a:xfrm>
          <a:prstGeom prst="rect">
            <a:avLst/>
          </a:prstGeom>
          <a:solidFill>
            <a:srgbClr val="FDB515"/>
          </a:solidFill>
          <a:ln w="12700">
            <a:solidFill>
              <a:srgbClr val="FDB515"/>
            </a:solidFill>
            <a:prstDash val="solid"/>
          </a:ln>
        </p:spPr>
      </p:sp>
      <p:sp>
        <p:nvSpPr>
          <p:cNvPr id="6" name="Text 4"/>
          <p:cNvSpPr txBox="1"/>
          <p:nvPr/>
        </p:nvSpPr>
        <p:spPr>
          <a:xfrm>
            <a:off x="731520" y="109728"/>
            <a:ext cx="7315200" cy="292608"/>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COMBINED/TEAM_BOOK</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5120640" cy="914400"/>
        </p:xfrm>
        <a:graphic>
          <a:graphicData uri="http://schemas.openxmlformats.org/drawingml/2006/table">
            <a:tbl>
              <a:tblPr/>
              <a:tblGrid>
                <a:gridCol w="2150668"/>
                <a:gridCol w="742492"/>
                <a:gridCol w="742492"/>
                <a:gridCol w="742492"/>
                <a:gridCol w="742492"/>
              </a:tblGrid>
              <a:tr h="38000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Strategy</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ES</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NQ</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YM</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ZN</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r>
              <a:tr h="380000">
                <a:tc>
                  <a:txBody>
                    <a:bodyPr/>
                    <a:lstStyle/>
                    <a:p>
                      <a:pPr indent="0" marL="0">
                        <a:buNone/>
                      </a:pPr>
                      <a:r>
                        <a:rPr lang="en-US" sz="1100" b="1" dirty="0">
                          <a:solidFill>
                            <a:srgbClr val="003262"/>
                          </a:solidFill>
                          <a:latin typeface="Calibri" pitchFamily="34" charset="0"/>
                          <a:ea typeface="Calibri" pitchFamily="34" charset="-122"/>
                          <a:cs typeface="Calibri" pitchFamily="34" charset="-120"/>
                        </a:rPr>
                        <a:t>Macro-surprise book</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b="1" dirty="0">
                          <a:solidFill>
                            <a:srgbClr val="2E7D32"/>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b="1" dirty="0">
                          <a:solidFill>
                            <a:srgbClr val="2E7D32"/>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b="1" dirty="0">
                          <a:solidFill>
                            <a:srgbClr val="2E7D32"/>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b="1" dirty="0">
                          <a:solidFill>
                            <a:srgbClr val="2E7D32"/>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80000">
                <a:tc>
                  <a:txBody>
                    <a:bodyPr/>
                    <a:lstStyle/>
                    <a:p>
                      <a:pPr indent="0" marL="0">
                        <a:buNone/>
                      </a:pPr>
                      <a:r>
                        <a:rPr lang="en-US" sz="1100" b="1" dirty="0">
                          <a:solidFill>
                            <a:srgbClr val="003262"/>
                          </a:solidFill>
                          <a:latin typeface="Calibri" pitchFamily="34" charset="0"/>
                          <a:ea typeface="Calibri" pitchFamily="34" charset="-122"/>
                          <a:cs typeface="Calibri" pitchFamily="34" charset="-120"/>
                        </a:rPr>
                        <a:t>CPI surprise model</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b="1" dirty="0">
                          <a:solidFill>
                            <a:srgbClr val="2E7D32"/>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b="1" dirty="0">
                          <a:solidFill>
                            <a:srgbClr val="2E7D32"/>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b="1" dirty="0">
                          <a:solidFill>
                            <a:srgbClr val="2E7D32"/>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b="1" dirty="0">
                          <a:solidFill>
                            <a:srgbClr val="2E7D32"/>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80000">
                <a:tc>
                  <a:txBody>
                    <a:bodyPr/>
                    <a:lstStyle/>
                    <a:p>
                      <a:pPr indent="0" marL="0">
                        <a:buNone/>
                      </a:pPr>
                      <a:r>
                        <a:rPr lang="en-US" sz="1100" b="1" dirty="0">
                          <a:solidFill>
                            <a:srgbClr val="003262"/>
                          </a:solidFill>
                          <a:latin typeface="Calibri" pitchFamily="34" charset="0"/>
                          <a:ea typeface="Calibri" pitchFamily="34" charset="-122"/>
                          <a:cs typeface="Calibri" pitchFamily="34" charset="-120"/>
                        </a:rPr>
                        <a:t>DTW ladder book</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b="1" dirty="0">
                          <a:solidFill>
                            <a:srgbClr val="2E7D32"/>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b="1" dirty="0">
                          <a:solidFill>
                            <a:srgbClr val="2E7D32"/>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b="1" dirty="0">
                          <a:solidFill>
                            <a:srgbClr val="2E7D32"/>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b="1" dirty="0">
                          <a:solidFill>
                            <a:srgbClr val="2E7D32"/>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80000">
                <a:tc>
                  <a:txBody>
                    <a:bodyPr/>
                    <a:lstStyle/>
                    <a:p>
                      <a:pPr indent="0" marL="0">
                        <a:buNone/>
                      </a:pPr>
                      <a:r>
                        <a:rPr lang="en-US" sz="1100" b="1" dirty="0">
                          <a:solidFill>
                            <a:srgbClr val="003262"/>
                          </a:solidFill>
                          <a:latin typeface="Calibri" pitchFamily="34" charset="0"/>
                          <a:ea typeface="Calibri" pitchFamily="34" charset="-122"/>
                          <a:cs typeface="Calibri" pitchFamily="34" charset="-120"/>
                        </a:rPr>
                        <a:t>DTW event-game book</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b="1" dirty="0">
                          <a:solidFill>
                            <a:srgbClr val="2E7D32"/>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6B72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6B72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6B72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80000">
                <a:tc>
                  <a:txBody>
                    <a:bodyPr/>
                    <a:lstStyle/>
                    <a:p>
                      <a:pPr indent="0" marL="0">
                        <a:buNone/>
                      </a:pPr>
                      <a:r>
                        <a:rPr lang="en-US" sz="1100" b="1" dirty="0">
                          <a:solidFill>
                            <a:srgbClr val="003262"/>
                          </a:solidFill>
                          <a:latin typeface="Calibri" pitchFamily="34" charset="0"/>
                          <a:ea typeface="Calibri" pitchFamily="34" charset="-122"/>
                          <a:cs typeface="Calibri" pitchFamily="34" charset="-120"/>
                        </a:rPr>
                        <a:t>Machine-learning classifier</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b="1" dirty="0">
                          <a:solidFill>
                            <a:srgbClr val="2E7D32"/>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6B72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6B72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6B72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sp>
        <p:nvSpPr>
          <p:cNvPr id="8" name="Text 5"/>
          <p:cNvSpPr txBox="1"/>
          <p:nvPr/>
        </p:nvSpPr>
        <p:spPr>
          <a:xfrm>
            <a:off x="548640" y="4892040"/>
            <a:ext cx="5120640" cy="32004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Hoshea's and Aaryen's work exists on ES only; the team portfolios use every book on every market where it exists.</a:t>
            </a:r>
            <a:endParaRPr lang="en-US" sz="100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035040" y="1325880"/>
          <a:ext cx="5577840" cy="914400"/>
        </p:xfrm>
        <a:graphic>
          <a:graphicData uri="http://schemas.openxmlformats.org/drawingml/2006/table">
            <a:tbl>
              <a:tblPr/>
              <a:tblGrid>
                <a:gridCol w="4023360"/>
                <a:gridCol w="1554480"/>
              </a:tblGrid>
              <a:tr h="330000">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Correlation of daily P&amp;L, 2021–26</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value</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r>
              <a:tr h="330000">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Surprise ES vs surprise NQ (same releases)</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0.68</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30000">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Surprise ES vs surprise YM (same releases)</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0.85</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30000">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DTW ladder ES vs DTW ladder NQ</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0.15</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30000">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Classifier vs surprise ES</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30000">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Classifier vs surprise ZN</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0.31</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30000">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DTW event games vs every other book</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−0.04 to 0.05</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30000">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Surprise vs DTW ladder (any market)</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−0.07 to 0.16</a:t>
                      </a:r>
                      <a:endParaRPr lang="en-US" sz="105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sp>
        <p:nvSpPr>
          <p:cNvPr id="10" name="Shape 6"/>
          <p:cNvSpPr/>
          <p:nvPr/>
        </p:nvSpPr>
        <p:spPr>
          <a:xfrm>
            <a:off x="6035040" y="4754880"/>
            <a:ext cx="5577840" cy="1417320"/>
          </a:xfrm>
          <a:prstGeom prst="roundRect">
            <a:avLst>
              <a:gd name="adj" fmla="val 5161"/>
            </a:avLst>
          </a:prstGeom>
          <a:solidFill>
            <a:srgbClr val="EEF3F8"/>
          </a:solidFill>
          <a:ln w="12700">
            <a:solidFill>
              <a:srgbClr val="EEF3F8"/>
            </a:solidFill>
            <a:prstDash val="solid"/>
          </a:ln>
        </p:spPr>
      </p:sp>
      <p:sp>
        <p:nvSpPr>
          <p:cNvPr id="11" name="Text 7"/>
          <p:cNvSpPr txBox="1"/>
          <p:nvPr/>
        </p:nvSpPr>
        <p:spPr>
          <a:xfrm>
            <a:off x="6199632" y="4864608"/>
            <a:ext cx="5248656" cy="1197864"/>
          </a:xfrm>
          <a:prstGeom prst="rect">
            <a:avLst/>
          </a:prstGeom>
          <a:noFill/>
          <a:ln/>
        </p:spPr>
        <p:txBody>
          <a:bodyPr wrap="square" lIns="0" tIns="0" rIns="0" bIns="0" rtlCol="0" anchor="t"/>
          <a:lstStyle/>
          <a:p>
            <a:pPr indent="0" marL="0">
              <a:spcAft>
                <a:spcPts val="400"/>
              </a:spcAft>
              <a:buNone/>
            </a:pPr>
            <a:r>
              <a:rPr lang="en-US" sz="1400" dirty="0">
                <a:solidFill>
                  <a:srgbClr val="1F2937"/>
                </a:solidFill>
                <a:latin typeface="Calibri" pitchFamily="34" charset="0"/>
                <a:ea typeface="Calibri" pitchFamily="34" charset="-122"/>
                <a:cs typeface="Calibri" pitchFamily="34" charset="-120"/>
              </a:rPr>
              <a:t>Across people the books barely move together: they trade different releases and windows, which is what makes a team portfolio worth building.</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C · Each strategy on each market</a:t>
            </a:r>
            <a:endParaRPr lang="en-US" sz="3000" dirty="0"/>
          </a:p>
        </p:txBody>
      </p:sp>
      <p:sp>
        <p:nvSpPr>
          <p:cNvPr id="3" name="Text 1"/>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i="1" dirty="0">
                <a:solidFill>
                  <a:srgbClr val="6B7280"/>
                </a:solidFill>
                <a:latin typeface="Calibri" pitchFamily="34" charset="0"/>
                <a:ea typeface="Calibri" pitchFamily="34" charset="-122"/>
                <a:cs typeface="Calibri" pitchFamily="34" charset="-120"/>
              </a:rPr>
              <a:t>Sharpe, test years 2021–2026 · “–” = strategy not available on that market</a:t>
            </a:r>
            <a:endParaRPr lang="en-US" sz="1500" dirty="0"/>
          </a:p>
        </p:txBody>
      </p:sp>
      <p:sp>
        <p:nvSpPr>
          <p:cNvPr id="4" name="Text 2"/>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5" name="Text 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10</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212848"/>
                <a:gridCol w="983488"/>
                <a:gridCol w="983488"/>
                <a:gridCol w="983488"/>
                <a:gridCol w="983488"/>
                <a:gridCol w="983488"/>
                <a:gridCol w="983488"/>
                <a:gridCol w="983488"/>
                <a:gridCol w="983488"/>
                <a:gridCol w="983488"/>
              </a:tblGrid>
              <a:tr h="457200">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Strategy</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ES ¼ tick</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NQ ¼ tick</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ZN ¼ tick</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YM ¼ tick</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ES 2t+$4.5</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NQ 2t+$4.5</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ZN 2t+$4.5</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YM 2t+$4.5</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ES 2018–20</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r>
              <a:tr h="457200">
                <a:tc>
                  <a:txBody>
                    <a:bodyPr/>
                    <a:lstStyle/>
                    <a:p>
                      <a:pPr algn="ctr" indent="0" marL="0">
                        <a:buNone/>
                      </a:pPr>
                      <a:r>
                        <a:rPr lang="en-US" sz="1000" b="1" dirty="0">
                          <a:solidFill>
                            <a:srgbClr val="003262"/>
                          </a:solidFill>
                          <a:latin typeface="Calibri" pitchFamily="34" charset="0"/>
                          <a:ea typeface="Calibri" pitchFamily="34" charset="-122"/>
                          <a:cs typeface="Calibri" pitchFamily="34" charset="-120"/>
                        </a:rPr>
                        <a:t>Macro-surprise book</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b="1" dirty="0">
                          <a:solidFill>
                            <a:srgbClr val="003262"/>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b="1" dirty="0">
                          <a:solidFill>
                            <a:srgbClr val="003262"/>
                          </a:solidFill>
                          <a:latin typeface="Calibri" pitchFamily="34" charset="0"/>
                          <a:ea typeface="Calibri" pitchFamily="34" charset="-122"/>
                          <a:cs typeface="Calibri" pitchFamily="34" charset="-120"/>
                        </a:rPr>
                        <a:t>0.75</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B3261E"/>
                          </a:solidFill>
                          <a:latin typeface="Calibri" pitchFamily="34" charset="0"/>
                          <a:ea typeface="Calibri" pitchFamily="34" charset="-122"/>
                          <a:cs typeface="Calibri" pitchFamily="34" charset="-120"/>
                        </a:rPr>
                        <a:t>−0.16</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1.06</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0.74</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0.64</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B3261E"/>
                          </a:solidFill>
                          <a:latin typeface="Calibri" pitchFamily="34" charset="0"/>
                          <a:ea typeface="Calibri" pitchFamily="34" charset="-122"/>
                          <a:cs typeface="Calibri" pitchFamily="34" charset="-120"/>
                        </a:rPr>
                        <a:t>−1.51</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0.82</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57200">
                <a:tc>
                  <a:txBody>
                    <a:bodyPr/>
                    <a:lstStyle/>
                    <a:p>
                      <a:pPr algn="ctr" indent="0" marL="0">
                        <a:buNone/>
                      </a:pPr>
                      <a:r>
                        <a:rPr lang="en-US" sz="1000" b="1" dirty="0">
                          <a:solidFill>
                            <a:srgbClr val="003262"/>
                          </a:solidFill>
                          <a:latin typeface="Calibri" pitchFamily="34" charset="0"/>
                          <a:ea typeface="Calibri" pitchFamily="34" charset="-122"/>
                          <a:cs typeface="Calibri" pitchFamily="34" charset="-120"/>
                        </a:rPr>
                        <a:t>CPI surprise model</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0.51</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0.46</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0.17</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0.39</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0.61</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0.45</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B3261E"/>
                          </a:solidFill>
                          <a:latin typeface="Calibri" pitchFamily="34" charset="0"/>
                          <a:ea typeface="Calibri" pitchFamily="34" charset="-122"/>
                          <a:cs typeface="Calibri" pitchFamily="34" charset="-120"/>
                        </a:rPr>
                        <a:t>−0.43</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0.29</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1.27</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57200">
                <a:tc>
                  <a:txBody>
                    <a:bodyPr/>
                    <a:lstStyle/>
                    <a:p>
                      <a:pPr algn="ctr" indent="0" marL="0">
                        <a:buNone/>
                      </a:pPr>
                      <a:r>
                        <a:rPr lang="en-US" sz="1000" b="1" dirty="0">
                          <a:solidFill>
                            <a:srgbClr val="003262"/>
                          </a:solidFill>
                          <a:latin typeface="Calibri" pitchFamily="34" charset="0"/>
                          <a:ea typeface="Calibri" pitchFamily="34" charset="-122"/>
                          <a:cs typeface="Calibri" pitchFamily="34" charset="-120"/>
                        </a:rPr>
                        <a:t>DTW ladder book (Jack)</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0.64</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B3261E"/>
                          </a:solidFill>
                          <a:latin typeface="Calibri" pitchFamily="34" charset="0"/>
                          <a:ea typeface="Calibri" pitchFamily="34" charset="-122"/>
                          <a:cs typeface="Calibri" pitchFamily="34" charset="-120"/>
                        </a:rPr>
                        <a:t>−0.97</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B3261E"/>
                          </a:solidFill>
                          <a:latin typeface="Calibri" pitchFamily="34" charset="0"/>
                          <a:ea typeface="Calibri" pitchFamily="34" charset="-122"/>
                          <a:cs typeface="Calibri" pitchFamily="34" charset="-120"/>
                        </a:rPr>
                        <a:t>−0.39</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0.10</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B3261E"/>
                          </a:solidFill>
                          <a:latin typeface="Calibri" pitchFamily="34" charset="0"/>
                          <a:ea typeface="Calibri" pitchFamily="34" charset="-122"/>
                          <a:cs typeface="Calibri" pitchFamily="34" charset="-120"/>
                        </a:rPr>
                        <a:t>−0.04</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B3261E"/>
                          </a:solidFill>
                          <a:latin typeface="Calibri" pitchFamily="34" charset="0"/>
                          <a:ea typeface="Calibri" pitchFamily="34" charset="-122"/>
                          <a:cs typeface="Calibri" pitchFamily="34" charset="-120"/>
                        </a:rPr>
                        <a:t>−5.03</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B3261E"/>
                          </a:solidFill>
                          <a:latin typeface="Calibri" pitchFamily="34" charset="0"/>
                          <a:ea typeface="Calibri" pitchFamily="34" charset="-122"/>
                          <a:cs typeface="Calibri" pitchFamily="34" charset="-120"/>
                        </a:rPr>
                        <a:t>−0.74</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0.59</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57200">
                <a:tc>
                  <a:txBody>
                    <a:bodyPr/>
                    <a:lstStyle/>
                    <a:p>
                      <a:pPr algn="ctr" indent="0" marL="0">
                        <a:buNone/>
                      </a:pPr>
                      <a:r>
                        <a:rPr lang="en-US" sz="1000" b="1" dirty="0">
                          <a:solidFill>
                            <a:srgbClr val="003262"/>
                          </a:solidFill>
                          <a:latin typeface="Calibri" pitchFamily="34" charset="0"/>
                          <a:ea typeface="Calibri" pitchFamily="34" charset="-122"/>
                          <a:cs typeface="Calibri" pitchFamily="34" charset="-120"/>
                        </a:rPr>
                        <a:t>DTW event-game book</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0.42</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B3261E"/>
                          </a:solidFill>
                          <a:latin typeface="Calibri" pitchFamily="34" charset="0"/>
                          <a:ea typeface="Calibri" pitchFamily="34" charset="-122"/>
                          <a:cs typeface="Calibri" pitchFamily="34" charset="-120"/>
                        </a:rPr>
                        <a:t>−0.29</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0.26</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57200">
                <a:tc>
                  <a:txBody>
                    <a:bodyPr/>
                    <a:lstStyle/>
                    <a:p>
                      <a:pPr algn="ctr" indent="0" marL="0">
                        <a:buNone/>
                      </a:pPr>
                      <a:r>
                        <a:rPr lang="en-US" sz="1000" b="1" dirty="0">
                          <a:solidFill>
                            <a:srgbClr val="003262"/>
                          </a:solidFill>
                          <a:latin typeface="Calibri" pitchFamily="34" charset="0"/>
                          <a:ea typeface="Calibri" pitchFamily="34" charset="-122"/>
                          <a:cs typeface="Calibri" pitchFamily="34" charset="-120"/>
                        </a:rPr>
                        <a:t>Machine-learning classifier</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0.95</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b="1" dirty="0">
                          <a:solidFill>
                            <a:srgbClr val="003262"/>
                          </a:solidFill>
                          <a:latin typeface="Calibri" pitchFamily="34" charset="0"/>
                          <a:ea typeface="Calibri" pitchFamily="34" charset="-122"/>
                          <a:cs typeface="Calibri" pitchFamily="34" charset="-120"/>
                        </a:rPr>
                        <a:t>0.81</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0.38</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57200">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Buy and hold (no costs)</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0.69</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0.58</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−0.69</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0.67</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0.80</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sp>
        <p:nvSpPr>
          <p:cNvPr id="7" name="Shape 4"/>
          <p:cNvSpPr/>
          <p:nvPr/>
        </p:nvSpPr>
        <p:spPr>
          <a:xfrm>
            <a:off x="548640" y="5029200"/>
            <a:ext cx="11064240" cy="1188720"/>
          </a:xfrm>
          <a:prstGeom prst="roundRect">
            <a:avLst>
              <a:gd name="adj" fmla="val 6154"/>
            </a:avLst>
          </a:prstGeom>
          <a:solidFill>
            <a:srgbClr val="EEF3F8"/>
          </a:solidFill>
          <a:ln w="12700">
            <a:solidFill>
              <a:srgbClr val="EEF3F8"/>
            </a:solidFill>
            <a:prstDash val="solid"/>
          </a:ln>
        </p:spPr>
      </p:sp>
      <p:sp>
        <p:nvSpPr>
          <p:cNvPr id="8" name="Text 5"/>
          <p:cNvSpPr txBox="1"/>
          <p:nvPr/>
        </p:nvSpPr>
        <p:spPr>
          <a:xfrm>
            <a:off x="713232" y="5138928"/>
            <a:ext cx="10735056" cy="969264"/>
          </a:xfrm>
          <a:prstGeom prst="rect">
            <a:avLst/>
          </a:prstGeom>
          <a:noFill/>
          <a:ln/>
        </p:spPr>
        <p:txBody>
          <a:bodyPr wrap="square" lIns="0" tIns="0" rIns="0" bIns="0" rtlCol="0" anchor="t"/>
          <a:lstStyle/>
          <a:p>
            <a:pPr marL="177800" indent="-177800">
              <a:spcAft>
                <a:spcPts val="400"/>
              </a:spcAft>
              <a:buSzPct val="100000"/>
              <a:buChar char="•"/>
            </a:pPr>
            <a:r>
              <a:rPr lang="en-US" sz="1350" dirty="0">
                <a:solidFill>
                  <a:srgbClr val="1F2937"/>
                </a:solidFill>
                <a:latin typeface="Calibri" pitchFamily="34" charset="0"/>
                <a:ea typeface="Calibri" pitchFamily="34" charset="-122"/>
                <a:cs typeface="Calibri" pitchFamily="34" charset="-120"/>
              </a:rPr>
              <a:t>At ¼ tick the macro-surprise book leads on ES, NQ and YM; at a realistic cost the surprise book and the classifier hold up, the high-turnover DTW books do not</a:t>
            </a:r>
            <a:endParaRPr lang="en-US" sz="1350" dirty="0"/>
          </a:p>
          <a:p>
            <a:pPr marL="177800" indent="-177800">
              <a:spcAft>
                <a:spcPts val="400"/>
              </a:spcAft>
              <a:buSzPct val="100000"/>
              <a:buChar char="•"/>
            </a:pPr>
            <a:r>
              <a:rPr lang="en-US" sz="1350" dirty="0">
                <a:solidFill>
                  <a:srgbClr val="1F2937"/>
                </a:solidFill>
                <a:latin typeface="Calibri" pitchFamily="34" charset="0"/>
                <a:ea typeface="Calibri" pitchFamily="34" charset="-122"/>
                <a:cs typeface="Calibri" pitchFamily="34" charset="-120"/>
              </a:rPr>
              <a:t>ZN loses after costs in every strategy; the DTW ladder loses on YM even before costs (run with Jack's exact code)</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C · The strategies and the team portfolios over time</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11</a:t>
            </a:r>
            <a:endParaRPr lang="en-US" sz="900" dirty="0"/>
          </a:p>
        </p:txBody>
      </p:sp>
      <p:sp>
        <p:nvSpPr>
          <p:cNvPr id="5" name="Shape 3"/>
          <p:cNvSpPr/>
          <p:nvPr/>
        </p:nvSpPr>
        <p:spPr>
          <a:xfrm>
            <a:off x="548640" y="164592"/>
            <a:ext cx="109728" cy="201168"/>
          </a:xfrm>
          <a:prstGeom prst="rect">
            <a:avLst/>
          </a:prstGeom>
          <a:solidFill>
            <a:srgbClr val="FDB515"/>
          </a:solidFill>
          <a:ln w="12700">
            <a:solidFill>
              <a:srgbClr val="FDB515"/>
            </a:solidFill>
            <a:prstDash val="solid"/>
          </a:ln>
        </p:spPr>
      </p:sp>
      <p:sp>
        <p:nvSpPr>
          <p:cNvPr id="6" name="Text 4"/>
          <p:cNvSpPr txBox="1"/>
          <p:nvPr/>
        </p:nvSpPr>
        <p:spPr>
          <a:xfrm>
            <a:off x="731520" y="109728"/>
            <a:ext cx="7315200" cy="292608"/>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COMBINED/TEAM_BOOK · SECTION 8 · CUMULATIVE P&amp;L · ¼ TICK · 2021–2026</a:t>
            </a:r>
            <a:endParaRPr lang="en-US" sz="1100" dirty="0"/>
          </a:p>
        </p:txBody>
      </p:sp>
      <p:pic>
        <p:nvPicPr>
          <p:cNvPr id="7" name="Image 0" descr="/home/claude/pdf/figures/team_report_figure.png">    </p:cNvPr>
          <p:cNvPicPr>
            <a:picLocks noChangeAspect="1"/>
          </p:cNvPicPr>
          <p:nvPr/>
        </p:nvPicPr>
        <p:blipFill>
          <a:blip r:embed="rId1"/>
          <a:stretch>
            <a:fillRect/>
          </a:stretch>
        </p:blipFill>
        <p:spPr>
          <a:xfrm>
            <a:off x="365760" y="1080708"/>
            <a:ext cx="11430000" cy="3096385"/>
          </a:xfrm>
          <a:prstGeom prst="rect">
            <a:avLst/>
          </a:prstGeom>
        </p:spPr>
      </p:pic>
      <p:sp>
        <p:nvSpPr>
          <p:cNvPr id="8" name="Shape 5"/>
          <p:cNvSpPr/>
          <p:nvPr/>
        </p:nvSpPr>
        <p:spPr>
          <a:xfrm>
            <a:off x="548640" y="4434840"/>
            <a:ext cx="3566160" cy="1783080"/>
          </a:xfrm>
          <a:prstGeom prst="roundRect">
            <a:avLst>
              <a:gd name="adj" fmla="val 4103"/>
            </a:avLst>
          </a:prstGeom>
          <a:solidFill>
            <a:srgbClr val="EEF3F8"/>
          </a:solidFill>
          <a:ln w="12700">
            <a:solidFill>
              <a:srgbClr val="EEF3F8"/>
            </a:solidFill>
            <a:prstDash val="solid"/>
          </a:ln>
        </p:spPr>
      </p:sp>
      <p:sp>
        <p:nvSpPr>
          <p:cNvPr id="9" name="Text 6"/>
          <p:cNvSpPr txBox="1"/>
          <p:nvPr/>
        </p:nvSpPr>
        <p:spPr>
          <a:xfrm>
            <a:off x="713232" y="4544568"/>
            <a:ext cx="3236976" cy="156362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ES</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Surprise book climbs most, largely in 2022</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Classifier: small but steady</a:t>
            </a:r>
            <a:endParaRPr lang="en-US" sz="1600" dirty="0"/>
          </a:p>
        </p:txBody>
      </p:sp>
      <p:sp>
        <p:nvSpPr>
          <p:cNvPr id="10" name="Shape 7"/>
          <p:cNvSpPr/>
          <p:nvPr/>
        </p:nvSpPr>
        <p:spPr>
          <a:xfrm>
            <a:off x="4297680" y="4434840"/>
            <a:ext cx="3566160" cy="1783080"/>
          </a:xfrm>
          <a:prstGeom prst="roundRect">
            <a:avLst>
              <a:gd name="adj" fmla="val 4103"/>
            </a:avLst>
          </a:prstGeom>
          <a:solidFill>
            <a:srgbClr val="EEF3F8"/>
          </a:solidFill>
          <a:ln w="12700">
            <a:solidFill>
              <a:srgbClr val="EEF3F8"/>
            </a:solidFill>
            <a:prstDash val="solid"/>
          </a:ln>
        </p:spPr>
      </p:sp>
      <p:sp>
        <p:nvSpPr>
          <p:cNvPr id="11" name="Text 8"/>
          <p:cNvSpPr txBox="1"/>
          <p:nvPr/>
        </p:nvSpPr>
        <p:spPr>
          <a:xfrm>
            <a:off x="4462272" y="4544568"/>
            <a:ext cx="3236976" cy="156362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NQ, ZN and YM</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Surprise NQ and YM climb with ES</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ZN books drift down: the cost on every trade</a:t>
            </a:r>
            <a:endParaRPr lang="en-US" sz="1600" dirty="0"/>
          </a:p>
        </p:txBody>
      </p:sp>
      <p:sp>
        <p:nvSpPr>
          <p:cNvPr id="12" name="Shape 9"/>
          <p:cNvSpPr/>
          <p:nvPr/>
        </p:nvSpPr>
        <p:spPr>
          <a:xfrm>
            <a:off x="8046720" y="4434840"/>
            <a:ext cx="3566160" cy="1783080"/>
          </a:xfrm>
          <a:prstGeom prst="roundRect">
            <a:avLst>
              <a:gd name="adj" fmla="val 4103"/>
            </a:avLst>
          </a:prstGeom>
          <a:solidFill>
            <a:srgbClr val="EEF3F8"/>
          </a:solidFill>
          <a:ln w="12700">
            <a:solidFill>
              <a:srgbClr val="EEF3F8"/>
            </a:solidFill>
            <a:prstDash val="solid"/>
          </a:ln>
        </p:spPr>
      </p:sp>
      <p:sp>
        <p:nvSpPr>
          <p:cNvPr id="13" name="Text 10"/>
          <p:cNvSpPr txBox="1"/>
          <p:nvPr/>
        </p:nvSpPr>
        <p:spPr>
          <a:xfrm>
            <a:off x="8211312" y="4544568"/>
            <a:ext cx="3236976" cy="156362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Team portfolios</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ES, ES + NQ and ES + NQ + YM: steady, small drawdowns</a:t>
            </a:r>
            <a:endParaRPr lang="en-US" sz="1600" dirty="0"/>
          </a:p>
          <a:p>
            <a:pPr marL="177800" indent="-177800">
              <a:spcAft>
                <a:spcPts val="400"/>
              </a:spcAft>
              <a:buSzPct val="100000"/>
              <a:buChar char="•"/>
            </a:pPr>
            <a:r>
              <a:rPr lang="en-US" sz="1250" dirty="0">
                <a:solidFill>
                  <a:srgbClr val="1F2937"/>
                </a:solidFill>
                <a:latin typeface="Calibri" pitchFamily="34" charset="0"/>
                <a:ea typeface="Calibri" pitchFamily="34" charset="-122"/>
                <a:cs typeface="Calibri" pitchFamily="34" charset="-120"/>
              </a:rPr>
              <a:t>Adding ZN (blue) lowers the whole book</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C · Team portfolios</a:t>
            </a:r>
            <a:endParaRPr lang="en-US" sz="3000" dirty="0"/>
          </a:p>
        </p:txBody>
      </p:sp>
      <p:sp>
        <p:nvSpPr>
          <p:cNvPr id="3" name="Text 1"/>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i="1" dirty="0">
                <a:solidFill>
                  <a:srgbClr val="6B7280"/>
                </a:solidFill>
                <a:latin typeface="Calibri" pitchFamily="34" charset="0"/>
                <a:ea typeface="Calibri" pitchFamily="34" charset="-122"/>
                <a:cs typeface="Calibri" pitchFamily="34" charset="-120"/>
              </a:rPr>
              <a:t>Equal risk, weights from 2018–2020 only · test years 2021–2026 · return, vol and drawdown at ¼ tick</a:t>
            </a:r>
            <a:endParaRPr lang="en-US" sz="1500" dirty="0"/>
          </a:p>
        </p:txBody>
      </p:sp>
      <p:sp>
        <p:nvSpPr>
          <p:cNvPr id="4" name="Text 2"/>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5" name="Text 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987344"/>
                <a:gridCol w="1009611"/>
                <a:gridCol w="1009611"/>
                <a:gridCol w="1009611"/>
                <a:gridCol w="1009611"/>
                <a:gridCol w="1009611"/>
                <a:gridCol w="1009611"/>
                <a:gridCol w="1009611"/>
                <a:gridCol w="1009611"/>
              </a:tblGrid>
              <a:tr h="300000">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Portfolio</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Gross</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¼ tick</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½ tick</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2t + $4.50</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Return</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Vol</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Max DD</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Trades/yr</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3262"/>
                    </a:solidFill>
                  </a:tcPr>
                </a:tc>
              </a:tr>
              <a:tr h="300000">
                <a:tc>
                  <a:txBody>
                    <a:bodyPr/>
                    <a:lstStyle/>
                    <a:p>
                      <a:pPr algn="ctr" indent="0" marL="0">
                        <a:buNone/>
                      </a:pPr>
                      <a:r>
                        <a:rPr lang="en-US" sz="1000" b="1" dirty="0">
                          <a:solidFill>
                            <a:srgbClr val="003262"/>
                          </a:solidFill>
                          <a:latin typeface="Calibri" pitchFamily="34" charset="0"/>
                          <a:ea typeface="Calibri" pitchFamily="34" charset="-122"/>
                          <a:cs typeface="Calibri" pitchFamily="34" charset="-120"/>
                        </a:rPr>
                        <a:t>Team, equities (ES + NQ + YM)</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1.48</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b="1" dirty="0">
                          <a:solidFill>
                            <a:srgbClr val="003262"/>
                          </a:solidFill>
                          <a:latin typeface="Calibri" pitchFamily="34" charset="0"/>
                          <a:ea typeface="Calibri" pitchFamily="34" charset="-122"/>
                          <a:cs typeface="Calibri" pitchFamily="34" charset="-120"/>
                        </a:rPr>
                        <a:t>1.35</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1.22</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0.85</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+9.6%</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1,131</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00000">
                <a:tc>
                  <a:txBody>
                    <a:bodyPr/>
                    <a:lstStyle/>
                    <a:p>
                      <a:pPr algn="ctr" indent="0" marL="0">
                        <a:buNone/>
                      </a:pPr>
                      <a:r>
                        <a:rPr lang="en-US" sz="1000" b="1" dirty="0">
                          <a:solidFill>
                            <a:srgbClr val="003262"/>
                          </a:solidFill>
                          <a:latin typeface="Calibri" pitchFamily="34" charset="0"/>
                          <a:ea typeface="Calibri" pitchFamily="34" charset="-122"/>
                          <a:cs typeface="Calibri" pitchFamily="34" charset="-120"/>
                        </a:rPr>
                        <a:t>Team, ES + NQ</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1.45</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b="1" dirty="0">
                          <a:solidFill>
                            <a:srgbClr val="003262"/>
                          </a:solidFill>
                          <a:latin typeface="Calibri" pitchFamily="34" charset="0"/>
                          <a:ea typeface="Calibri" pitchFamily="34" charset="-122"/>
                          <a:cs typeface="Calibri" pitchFamily="34" charset="-120"/>
                        </a:rPr>
                        <a:t>1.31</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0.78</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+9.0%</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1,043</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00000">
                <a:tc>
                  <a:txBody>
                    <a:bodyPr/>
                    <a:lstStyle/>
                    <a:p>
                      <a:pPr algn="ctr" indent="0" marL="0">
                        <a:buNone/>
                      </a:pPr>
                      <a:r>
                        <a:rPr lang="en-US" sz="1000" b="1" dirty="0">
                          <a:solidFill>
                            <a:srgbClr val="003262"/>
                          </a:solidFill>
                          <a:latin typeface="Calibri" pitchFamily="34" charset="0"/>
                          <a:ea typeface="Calibri" pitchFamily="34" charset="-122"/>
                          <a:cs typeface="Calibri" pitchFamily="34" charset="-120"/>
                        </a:rPr>
                        <a:t>Team, ES (four strategies)</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1.55</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b="1" dirty="0">
                          <a:solidFill>
                            <a:srgbClr val="003262"/>
                          </a:solidFill>
                          <a:latin typeface="Calibri" pitchFamily="34" charset="0"/>
                          <a:ea typeface="Calibri" pitchFamily="34" charset="-122"/>
                          <a:cs typeface="Calibri" pitchFamily="34" charset="-120"/>
                        </a:rPr>
                        <a:t>1.39</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1.22</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0.76</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739</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00000">
                <a:tc>
                  <a:txBody>
                    <a:bodyPr/>
                    <a:lstStyle/>
                    <a:p>
                      <a:pPr algn="ctr" indent="0" marL="0">
                        <a:buNone/>
                      </a:pPr>
                      <a:r>
                        <a:rPr lang="en-US" sz="1000" b="1" dirty="0">
                          <a:solidFill>
                            <a:srgbClr val="003262"/>
                          </a:solidFill>
                          <a:latin typeface="Calibri" pitchFamily="34" charset="0"/>
                          <a:ea typeface="Calibri" pitchFamily="34" charset="-122"/>
                          <a:cs typeface="Calibri" pitchFamily="34" charset="-120"/>
                        </a:rPr>
                        <a:t>Team, all markets</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1.35</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0.83</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B3261E"/>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+4.3%</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1,562</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00000">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Surprise + DTW event games (ES)</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1.32</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b="1" dirty="0">
                          <a:solidFill>
                            <a:srgbClr val="003262"/>
                          </a:solidFill>
                          <a:latin typeface="Calibri" pitchFamily="34" charset="0"/>
                          <a:ea typeface="Calibri" pitchFamily="34" charset="-122"/>
                          <a:cs typeface="Calibri" pitchFamily="34" charset="-120"/>
                        </a:rPr>
                        <a:t>1.14</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0.96</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0.46</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+14.8%</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−2.2%</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465</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00000">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Surprise + DTW ladder (ES)</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1.31</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1.16</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1.01</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0.59</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2.2%</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1F2937"/>
                          </a:solidFill>
                          <a:latin typeface="Calibri" pitchFamily="34" charset="0"/>
                          <a:ea typeface="Calibri" pitchFamily="34" charset="-122"/>
                          <a:cs typeface="Calibri" pitchFamily="34" charset="-120"/>
                        </a:rPr>
                        <a:t>315</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00000">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Macro-surprise book alone (ES)</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1.18</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0.99</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0.74</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−2.6%</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96</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00000">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Macro-surprise book (ES + NQ + YM)</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1.13</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1.07</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1.01</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0.82</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+14.6%</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2.6%</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280</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00000">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ES buy and hold</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0.69</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+62.4%</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16.9%</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−31.1%</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000" dirty="0">
                          <a:solidFill>
                            <a:srgbClr val="6B7280"/>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sp>
        <p:nvSpPr>
          <p:cNvPr id="7" name="Shape 4"/>
          <p:cNvSpPr/>
          <p:nvPr/>
        </p:nvSpPr>
        <p:spPr>
          <a:xfrm>
            <a:off x="548640" y="5074920"/>
            <a:ext cx="5440680" cy="1143000"/>
          </a:xfrm>
          <a:prstGeom prst="roundRect">
            <a:avLst>
              <a:gd name="adj" fmla="val 6400"/>
            </a:avLst>
          </a:prstGeom>
          <a:solidFill>
            <a:srgbClr val="EEF3F8"/>
          </a:solidFill>
          <a:ln w="12700">
            <a:solidFill>
              <a:srgbClr val="EEF3F8"/>
            </a:solidFill>
            <a:prstDash val="solid"/>
          </a:ln>
        </p:spPr>
      </p:sp>
      <p:sp>
        <p:nvSpPr>
          <p:cNvPr id="8" name="Text 5"/>
          <p:cNvSpPr txBox="1"/>
          <p:nvPr/>
        </p:nvSpPr>
        <p:spPr>
          <a:xfrm>
            <a:off x="713232" y="5184648"/>
            <a:ext cx="5111496" cy="923544"/>
          </a:xfrm>
          <a:prstGeom prst="rect">
            <a:avLst/>
          </a:prstGeom>
          <a:noFill/>
          <a:ln/>
        </p:spPr>
        <p:txBody>
          <a:bodyPr wrap="square" lIns="0" tIns="0" rIns="0" bIns="0" rtlCol="0" anchor="t"/>
          <a:lstStyle/>
          <a:p>
            <a:pPr indent="0" marL="0">
              <a:spcAft>
                <a:spcPts val="600"/>
              </a:spcAft>
              <a:buNone/>
            </a:pPr>
            <a:r>
              <a:rPr lang="en-US" sz="1600" b="1" dirty="0">
                <a:solidFill>
                  <a:srgbClr val="003262"/>
                </a:solidFill>
                <a:latin typeface="Calibri" pitchFamily="34" charset="0"/>
                <a:ea typeface="Calibri" pitchFamily="34" charset="-122"/>
                <a:cs typeface="Calibri" pitchFamily="34" charset="-120"/>
              </a:rPr>
              <a:t>At ¼ tick, combining helps</a:t>
            </a:r>
            <a:endParaRPr lang="en-US" sz="1600" dirty="0"/>
          </a:p>
          <a:p>
            <a:pPr indent="0" marL="0">
              <a:spcAft>
                <a:spcPts val="400"/>
              </a:spcAft>
              <a:buNone/>
            </a:pPr>
            <a:r>
              <a:rPr lang="en-US" sz="1250" dirty="0">
                <a:solidFill>
                  <a:srgbClr val="1F2937"/>
                </a:solidFill>
                <a:latin typeface="Calibri" pitchFamily="34" charset="0"/>
                <a:ea typeface="Calibri" pitchFamily="34" charset="-122"/>
                <a:cs typeface="Calibri" pitchFamily="34" charset="-120"/>
              </a:rPr>
              <a:t>The ES team book reaches 1.39 and the equity book (ES + NQ + YM) 1.35, above the best single book (1.09) with half its volatility and drawdowns near −1%.</a:t>
            </a:r>
            <a:endParaRPr lang="en-US" sz="1600" dirty="0"/>
          </a:p>
        </p:txBody>
      </p:sp>
      <p:sp>
        <p:nvSpPr>
          <p:cNvPr id="9" name="Shape 6"/>
          <p:cNvSpPr/>
          <p:nvPr/>
        </p:nvSpPr>
        <p:spPr>
          <a:xfrm>
            <a:off x="6172200" y="5074920"/>
            <a:ext cx="5440680" cy="1143000"/>
          </a:xfrm>
          <a:prstGeom prst="roundRect">
            <a:avLst>
              <a:gd name="adj" fmla="val 6400"/>
            </a:avLst>
          </a:prstGeom>
          <a:solidFill>
            <a:srgbClr val="EEF3F8"/>
          </a:solidFill>
          <a:ln w="12700">
            <a:solidFill>
              <a:srgbClr val="EEF3F8"/>
            </a:solidFill>
            <a:prstDash val="solid"/>
          </a:ln>
        </p:spPr>
      </p:sp>
      <p:sp>
        <p:nvSpPr>
          <p:cNvPr id="10" name="Text 7"/>
          <p:cNvSpPr txBox="1"/>
          <p:nvPr/>
        </p:nvSpPr>
        <p:spPr>
          <a:xfrm>
            <a:off x="6336792" y="5184648"/>
            <a:ext cx="5111496" cy="923544"/>
          </a:xfrm>
          <a:prstGeom prst="rect">
            <a:avLst/>
          </a:prstGeom>
          <a:noFill/>
          <a:ln/>
        </p:spPr>
        <p:txBody>
          <a:bodyPr wrap="square" lIns="0" tIns="0" rIns="0" bIns="0" rtlCol="0" anchor="t"/>
          <a:lstStyle/>
          <a:p>
            <a:pPr indent="0" marL="0">
              <a:spcAft>
                <a:spcPts val="600"/>
              </a:spcAft>
              <a:buNone/>
            </a:pPr>
            <a:r>
              <a:rPr lang="en-US" sz="1600" b="1" dirty="0">
                <a:solidFill>
                  <a:srgbClr val="B3261E"/>
                </a:solidFill>
                <a:latin typeface="Calibri" pitchFamily="34" charset="0"/>
                <a:ea typeface="Calibri" pitchFamily="34" charset="-122"/>
                <a:cs typeface="Calibri" pitchFamily="34" charset="-120"/>
              </a:rPr>
              <a:t>At a realistic cost, the equity book holds up best</a:t>
            </a:r>
            <a:endParaRPr lang="en-US" sz="1600" dirty="0"/>
          </a:p>
          <a:p>
            <a:pPr indent="0" marL="0">
              <a:spcAft>
                <a:spcPts val="400"/>
              </a:spcAft>
              <a:buNone/>
            </a:pPr>
            <a:r>
              <a:rPr lang="en-US" sz="1250" dirty="0">
                <a:solidFill>
                  <a:srgbClr val="1F2937"/>
                </a:solidFill>
                <a:latin typeface="Calibri" pitchFamily="34" charset="0"/>
                <a:ea typeface="Calibri" pitchFamily="34" charset="-122"/>
                <a:cs typeface="Calibri" pitchFamily="34" charset="-120"/>
              </a:rPr>
              <a:t>At 2 ticks + $4.50 the ES + NQ + YM team book keeps 0.85, ahead of the surprise book alone (0.74 on ES); the DTW books trade 300+ times a year, and adding ZN turns the book negative.</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03262"/>
                </a:solidFill>
                <a:latin typeface="Cambria" pitchFamily="34" charset="0"/>
                <a:ea typeface="Cambria" pitchFamily="34" charset="-122"/>
                <a:cs typeface="Cambria" pitchFamily="34" charset="-120"/>
              </a:rPr>
              <a:t>Conclusions</a:t>
            </a:r>
            <a:endParaRPr lang="en-US" sz="3000" dirty="0"/>
          </a:p>
        </p:txBody>
      </p:sp>
      <p:sp>
        <p:nvSpPr>
          <p:cNvPr id="3" name="Text 1"/>
          <p:cNvSpPr txBox="1"/>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UC Berkeley Haas  ·  MFE  ·  BlackRock industry project</a:t>
            </a:r>
            <a:endParaRPr lang="en-US" sz="900" dirty="0"/>
          </a:p>
        </p:txBody>
      </p:sp>
      <p:sp>
        <p:nvSpPr>
          <p:cNvPr id="4" name="Text 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13</a:t>
            </a:r>
            <a:endParaRPr lang="en-US" sz="900" dirty="0"/>
          </a:p>
        </p:txBody>
      </p:sp>
      <p:sp>
        <p:nvSpPr>
          <p:cNvPr id="5" name="Shape 3"/>
          <p:cNvSpPr/>
          <p:nvPr/>
        </p:nvSpPr>
        <p:spPr>
          <a:xfrm>
            <a:off x="640080" y="1463040"/>
            <a:ext cx="457200" cy="457200"/>
          </a:xfrm>
          <a:prstGeom prst="ellipse">
            <a:avLst/>
          </a:prstGeom>
          <a:solidFill>
            <a:srgbClr val="FDB515"/>
          </a:solidFill>
          <a:ln w="12700">
            <a:solidFill>
              <a:srgbClr val="FDB515"/>
            </a:solidFill>
            <a:prstDash val="solid"/>
          </a:ln>
        </p:spPr>
      </p:sp>
      <p:sp>
        <p:nvSpPr>
          <p:cNvPr id="6" name="Text 4"/>
          <p:cNvSpPr txBox="1"/>
          <p:nvPr/>
        </p:nvSpPr>
        <p:spPr>
          <a:xfrm>
            <a:off x="640080" y="1463040"/>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325880" y="1280160"/>
            <a:ext cx="10241280" cy="411480"/>
          </a:xfrm>
          <a:prstGeom prst="rect">
            <a:avLst/>
          </a:prstGeom>
          <a:noFill/>
          <a:ln/>
        </p:spPr>
        <p:txBody>
          <a:bodyPr wrap="square" lIns="0" tIns="0" rIns="0" bIns="0" rtlCol="0" anchor="ctr"/>
          <a:lstStyle/>
          <a:p>
            <a:pPr indent="0" marL="0">
              <a:buNone/>
            </a:pPr>
            <a:r>
              <a:rPr lang="en-US" sz="1800" b="1" dirty="0">
                <a:solidFill>
                  <a:srgbClr val="003262"/>
                </a:solidFill>
                <a:latin typeface="Cambria" pitchFamily="34" charset="0"/>
                <a:ea typeface="Cambria" pitchFamily="34" charset="-122"/>
                <a:cs typeface="Cambria" pitchFamily="34" charset="-120"/>
              </a:rPr>
              <a:t>The macro-surprise direction is the strongest single signal in equities</a:t>
            </a:r>
            <a:endParaRPr lang="en-US" sz="1800" dirty="0"/>
          </a:p>
        </p:txBody>
      </p:sp>
      <p:sp>
        <p:nvSpPr>
          <p:cNvPr id="8" name="Text 6"/>
          <p:cNvSpPr txBox="1"/>
          <p:nvPr/>
        </p:nvSpPr>
        <p:spPr>
          <a:xfrm>
            <a:off x="1325880" y="1691640"/>
            <a:ext cx="10241280" cy="41148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ES 1.09, NQ 0.75 and YM 1.06 at ¼ tick; positive in both validation and test years</a:t>
            </a:r>
            <a:endParaRPr lang="en-US" sz="1400" dirty="0"/>
          </a:p>
        </p:txBody>
      </p:sp>
      <p:sp>
        <p:nvSpPr>
          <p:cNvPr id="9" name="Shape 7"/>
          <p:cNvSpPr/>
          <p:nvPr/>
        </p:nvSpPr>
        <p:spPr>
          <a:xfrm>
            <a:off x="640080" y="2542032"/>
            <a:ext cx="457200" cy="457200"/>
          </a:xfrm>
          <a:prstGeom prst="ellipse">
            <a:avLst/>
          </a:prstGeom>
          <a:solidFill>
            <a:srgbClr val="FDB515"/>
          </a:solidFill>
          <a:ln w="12700">
            <a:solidFill>
              <a:srgbClr val="FDB515"/>
            </a:solidFill>
            <a:prstDash val="solid"/>
          </a:ln>
        </p:spPr>
      </p:sp>
      <p:sp>
        <p:nvSpPr>
          <p:cNvPr id="10" name="Text 8"/>
          <p:cNvSpPr txBox="1"/>
          <p:nvPr/>
        </p:nvSpPr>
        <p:spPr>
          <a:xfrm>
            <a:off x="640080" y="2542032"/>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325880" y="2359152"/>
            <a:ext cx="10241280" cy="411480"/>
          </a:xfrm>
          <a:prstGeom prst="rect">
            <a:avLst/>
          </a:prstGeom>
          <a:noFill/>
          <a:ln/>
        </p:spPr>
        <p:txBody>
          <a:bodyPr wrap="square" lIns="0" tIns="0" rIns="0" bIns="0" rtlCol="0" anchor="ctr"/>
          <a:lstStyle/>
          <a:p>
            <a:pPr indent="0" marL="0">
              <a:buNone/>
            </a:pPr>
            <a:r>
              <a:rPr lang="en-US" sz="1800" b="1" dirty="0">
                <a:solidFill>
                  <a:srgbClr val="003262"/>
                </a:solidFill>
                <a:latin typeface="Cambria" pitchFamily="34" charset="0"/>
                <a:ea typeface="Cambria" pitchFamily="34" charset="-122"/>
                <a:cs typeface="Cambria" pitchFamily="34" charset="-120"/>
              </a:rPr>
              <a:t>DTW works for sizing, not direction</a:t>
            </a:r>
            <a:endParaRPr lang="en-US" sz="1800" dirty="0"/>
          </a:p>
        </p:txBody>
      </p:sp>
      <p:sp>
        <p:nvSpPr>
          <p:cNvPr id="12" name="Text 10"/>
          <p:cNvSpPr txBox="1"/>
          <p:nvPr/>
        </p:nvSpPr>
        <p:spPr>
          <a:xfrm>
            <a:off x="1325880" y="2770632"/>
            <a:ext cx="10241280" cy="41148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Its direction flips between 2018–20 and 2021–26 in ES and NQ, and on YM the DTW book loses (−0.39)</a:t>
            </a:r>
            <a:endParaRPr lang="en-US" sz="1400" dirty="0"/>
          </a:p>
        </p:txBody>
      </p:sp>
      <p:sp>
        <p:nvSpPr>
          <p:cNvPr id="13" name="Shape 11"/>
          <p:cNvSpPr/>
          <p:nvPr/>
        </p:nvSpPr>
        <p:spPr>
          <a:xfrm>
            <a:off x="640080" y="3621024"/>
            <a:ext cx="457200" cy="457200"/>
          </a:xfrm>
          <a:prstGeom prst="ellipse">
            <a:avLst/>
          </a:prstGeom>
          <a:solidFill>
            <a:srgbClr val="FDB515"/>
          </a:solidFill>
          <a:ln w="12700">
            <a:solidFill>
              <a:srgbClr val="FDB515"/>
            </a:solidFill>
            <a:prstDash val="solid"/>
          </a:ln>
        </p:spPr>
      </p:sp>
      <p:sp>
        <p:nvSpPr>
          <p:cNvPr id="14" name="Text 12"/>
          <p:cNvSpPr txBox="1"/>
          <p:nvPr/>
        </p:nvSpPr>
        <p:spPr>
          <a:xfrm>
            <a:off x="640080" y="3621024"/>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3</a:t>
            </a:r>
            <a:endParaRPr lang="en-US" sz="1400" dirty="0"/>
          </a:p>
        </p:txBody>
      </p:sp>
      <p:sp>
        <p:nvSpPr>
          <p:cNvPr id="15" name="Text 13"/>
          <p:cNvSpPr txBox="1"/>
          <p:nvPr/>
        </p:nvSpPr>
        <p:spPr>
          <a:xfrm>
            <a:off x="1325880" y="3438144"/>
            <a:ext cx="10241280" cy="411480"/>
          </a:xfrm>
          <a:prstGeom prst="rect">
            <a:avLst/>
          </a:prstGeom>
          <a:noFill/>
          <a:ln/>
        </p:spPr>
        <p:txBody>
          <a:bodyPr wrap="square" lIns="0" tIns="0" rIns="0" bIns="0" rtlCol="0" anchor="ctr"/>
          <a:lstStyle/>
          <a:p>
            <a:pPr indent="0" marL="0">
              <a:buNone/>
            </a:pPr>
            <a:r>
              <a:rPr lang="en-US" sz="1800" b="1" dirty="0">
                <a:solidFill>
                  <a:srgbClr val="003262"/>
                </a:solidFill>
                <a:latin typeface="Cambria" pitchFamily="34" charset="0"/>
                <a:ea typeface="Cambria" pitchFamily="34" charset="-122"/>
                <a:cs typeface="Cambria" pitchFamily="34" charset="-120"/>
              </a:rPr>
              <a:t>The four workstreams are almost uncorrelated</a:t>
            </a:r>
            <a:endParaRPr lang="en-US" sz="1800" dirty="0"/>
          </a:p>
        </p:txBody>
      </p:sp>
      <p:sp>
        <p:nvSpPr>
          <p:cNvPr id="16" name="Text 14"/>
          <p:cNvSpPr txBox="1"/>
          <p:nvPr/>
        </p:nvSpPr>
        <p:spPr>
          <a:xfrm>
            <a:off x="1325880" y="3849624"/>
            <a:ext cx="10241280" cy="41148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Team portfolios reach 1.39 (ES) and 1.35 (ES + NQ + YM) at ¼ tick with half the risk</a:t>
            </a:r>
            <a:endParaRPr lang="en-US" sz="1400" dirty="0"/>
          </a:p>
        </p:txBody>
      </p:sp>
      <p:sp>
        <p:nvSpPr>
          <p:cNvPr id="17" name="Shape 15"/>
          <p:cNvSpPr/>
          <p:nvPr/>
        </p:nvSpPr>
        <p:spPr>
          <a:xfrm>
            <a:off x="640080" y="4700016"/>
            <a:ext cx="457200" cy="457200"/>
          </a:xfrm>
          <a:prstGeom prst="ellipse">
            <a:avLst/>
          </a:prstGeom>
          <a:solidFill>
            <a:srgbClr val="FDB515"/>
          </a:solidFill>
          <a:ln w="12700">
            <a:solidFill>
              <a:srgbClr val="FDB515"/>
            </a:solidFill>
            <a:prstDash val="solid"/>
          </a:ln>
        </p:spPr>
      </p:sp>
      <p:sp>
        <p:nvSpPr>
          <p:cNvPr id="18" name="Text 16"/>
          <p:cNvSpPr txBox="1"/>
          <p:nvPr/>
        </p:nvSpPr>
        <p:spPr>
          <a:xfrm>
            <a:off x="640080" y="4700016"/>
            <a:ext cx="457200" cy="457200"/>
          </a:xfrm>
          <a:prstGeom prst="rect">
            <a:avLst/>
          </a:prstGeom>
          <a:noFill/>
          <a:ln/>
        </p:spPr>
        <p:txBody>
          <a:bodyPr wrap="square" lIns="0" tIns="0" rIns="0" bIns="0" rtlCol="0" anchor="ctr"/>
          <a:lstStyle/>
          <a:p>
            <a:pPr algn="ctr" indent="0" marL="0">
              <a:buNone/>
            </a:pPr>
            <a:r>
              <a:rPr lang="en-US" sz="1400" b="1" dirty="0">
                <a:solidFill>
                  <a:srgbClr val="003262"/>
                </a:solidFill>
                <a:latin typeface="Calibri" pitchFamily="34" charset="0"/>
                <a:ea typeface="Calibri" pitchFamily="34" charset="-122"/>
                <a:cs typeface="Calibri" pitchFamily="34" charset="-120"/>
              </a:rPr>
              <a:t>4</a:t>
            </a:r>
            <a:endParaRPr lang="en-US" sz="1400" dirty="0"/>
          </a:p>
        </p:txBody>
      </p:sp>
      <p:sp>
        <p:nvSpPr>
          <p:cNvPr id="19" name="Text 17"/>
          <p:cNvSpPr txBox="1"/>
          <p:nvPr/>
        </p:nvSpPr>
        <p:spPr>
          <a:xfrm>
            <a:off x="1325880" y="4517136"/>
            <a:ext cx="10241280" cy="411480"/>
          </a:xfrm>
          <a:prstGeom prst="rect">
            <a:avLst/>
          </a:prstGeom>
          <a:noFill/>
          <a:ln/>
        </p:spPr>
        <p:txBody>
          <a:bodyPr wrap="square" lIns="0" tIns="0" rIns="0" bIns="0" rtlCol="0" anchor="ctr"/>
          <a:lstStyle/>
          <a:p>
            <a:pPr indent="0" marL="0">
              <a:buNone/>
            </a:pPr>
            <a:r>
              <a:rPr lang="en-US" sz="1800" b="1" dirty="0">
                <a:solidFill>
                  <a:srgbClr val="003262"/>
                </a:solidFill>
                <a:latin typeface="Cambria" pitchFamily="34" charset="0"/>
                <a:ea typeface="Cambria" pitchFamily="34" charset="-122"/>
                <a:cs typeface="Cambria" pitchFamily="34" charset="-120"/>
              </a:rPr>
              <a:t>Execution cost decides the result</a:t>
            </a:r>
            <a:endParaRPr lang="en-US" sz="1800" dirty="0"/>
          </a:p>
        </p:txBody>
      </p:sp>
      <p:sp>
        <p:nvSpPr>
          <p:cNvPr id="20" name="Text 18"/>
          <p:cNvSpPr txBox="1"/>
          <p:nvPr/>
        </p:nvSpPr>
        <p:spPr>
          <a:xfrm>
            <a:off x="1325880" y="4928616"/>
            <a:ext cx="10241280" cy="41148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At 2 ticks + $4.50 the surprise book, the classifier and the equity team book (0.85) stay positive; ZN fails everywhere</a:t>
            </a:r>
            <a:endParaRPr lang="en-US" sz="1400" dirty="0"/>
          </a:p>
        </p:txBody>
      </p:sp>
      <p:sp>
        <p:nvSpPr>
          <p:cNvPr id="21" name="Text 19"/>
          <p:cNvSpPr txBox="1"/>
          <p:nvPr/>
        </p:nvSpPr>
        <p:spPr>
          <a:xfrm>
            <a:off x="548640" y="5669280"/>
            <a:ext cx="11064240" cy="32004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Caveats: Hoshea's setting was chosen on the full sample; the test years have been examined several times; much of the gain comes from 2022; YM was added after the ES and NQ results were known.</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3262"/>
        </a:solidFill>
      </p:bgPr>
    </p:bg>
    <p:spTree>
      <p:nvGrpSpPr>
        <p:cNvPr id="1" name=""/>
        <p:cNvGrpSpPr/>
        <p:nvPr/>
      </p:nvGrpSpPr>
      <p:grpSpPr>
        <a:xfrm>
          <a:off x="0" y="0"/>
          <a:ext cx="0" cy="0"/>
          <a:chOff x="0" y="0"/>
          <a:chExt cx="0" cy="0"/>
        </a:xfrm>
      </p:grpSpPr>
      <p:sp>
        <p:nvSpPr>
          <p:cNvPr id="2" name="Text 0"/>
          <p:cNvSpPr txBox="1"/>
          <p:nvPr/>
        </p:nvSpPr>
        <p:spPr>
          <a:xfrm>
            <a:off x="731520" y="2103120"/>
            <a:ext cx="1069848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Thank you</a:t>
            </a:r>
            <a:endParaRPr lang="en-US" sz="4400" dirty="0"/>
          </a:p>
        </p:txBody>
      </p:sp>
      <p:sp>
        <p:nvSpPr>
          <p:cNvPr id="3" name="Text 1"/>
          <p:cNvSpPr txBox="1"/>
          <p:nvPr/>
        </p:nvSpPr>
        <p:spPr>
          <a:xfrm>
            <a:off x="731520" y="3017520"/>
            <a:ext cx="10698480" cy="54864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Questions and discussion</a:t>
            </a:r>
            <a:endParaRPr lang="en-US" sz="2000" dirty="0"/>
          </a:p>
        </p:txBody>
      </p:sp>
      <p:sp>
        <p:nvSpPr>
          <p:cNvPr id="4" name="Text 2"/>
          <p:cNvSpPr txBox="1"/>
          <p:nvPr/>
        </p:nvSpPr>
        <p:spPr>
          <a:xfrm>
            <a:off x="731520" y="5120640"/>
            <a:ext cx="10698480" cy="365760"/>
          </a:xfrm>
          <a:prstGeom prst="rect">
            <a:avLst/>
          </a:prstGeom>
          <a:noFill/>
          <a:ln/>
        </p:spPr>
        <p:txBody>
          <a:bodyPr wrap="square" lIns="0" tIns="0" rIns="0" bIns="0" rtlCol="0" anchor="ctr"/>
          <a:lstStyle/>
          <a:p>
            <a:pPr indent="0" marL="0">
              <a:buNone/>
            </a:pPr>
            <a:r>
              <a:rPr lang="en-US" sz="1300" dirty="0">
                <a:solidFill>
                  <a:srgbClr val="FDB515"/>
                </a:solidFill>
                <a:latin typeface="Calibri" pitchFamily="34" charset="0"/>
                <a:ea typeface="Calibri" pitchFamily="34" charset="-122"/>
                <a:cs typeface="Calibri" pitchFamily="34" charset="-120"/>
              </a:rPr>
              <a:t>Code and results: github.com/jack-duncan/blackrock-intraday  ·  combined/ and Reza/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Team Results: Macro Surprises and DTW on Equal Terms</dc:title>
  <dc:subject>PptxGenJS Presentation</dc:subject>
  <dc:creator>Reza Zamani</dc:creator>
  <cp:lastModifiedBy>Reza Zamani</cp:lastModifiedBy>
  <cp:revision>1</cp:revision>
  <dcterms:created xsi:type="dcterms:W3CDTF">2026-09-29T18:21:08Z</dcterms:created>
  <dcterms:modified xsi:type="dcterms:W3CDTF">2026-09-29T18:21:08Z</dcterms:modified>
</cp:coreProperties>
</file>